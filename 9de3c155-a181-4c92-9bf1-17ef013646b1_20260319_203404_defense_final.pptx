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2" r:id="rId2"/>
    <p:sldId id="325" r:id="rId3"/>
    <p:sldId id="341" r:id="rId8"/>
    <p:sldId id="308" r:id="rId11"/>
    <p:sldId id="323" r:id="rId15"/>
    <p:sldId id="333" r:id="rId19"/>
    <p:sldId id="334" r:id="rId20"/>
    <p:sldId id="345" r:id="rId25"/>
    <p:sldId id="338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10600030101010101" charset="-122"/>
      <p:regular r:id="rId36"/>
    </p:embeddedFont>
    <p:embeddedFont>
      <p:font typeface="Segoe UI Semilight" panose="020B0402040204020203" pitchFamily="34" charset="0"/>
      <p:regular r:id="rId37"/>
      <p:italic r:id="rId38"/>
    </p:embeddedFont>
    <p:embeddedFont>
      <p:font typeface="方正正纤黑简体" panose="02010600030101010101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36" d="100"/>
          <a:sy n="136" d="100"/>
        </p:scale>
        <p:origin x="12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8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76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119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ns0:notes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3313" name="幻灯片图像占位符 1"/>
          <ns0:cNvSpPr>
            <ns1:spLocks noGrp="1" noRot="1" noChangeAspect="1" noTextEdit="1"/>
          </ns0:cNvSpPr>
          <ns0:nvPr>
            <ns0:ph type="sldImg"/>
          </ns0:nvPr>
        </ns0:nvSpPr>
        <ns0:spPr>
          <ns1:xfrm>
            <ns1:off x="381000" y="685800"/>
            <ns1:ext cx="6096000" cy="3429000"/>
          </ns1:xfrm>
          <ns1:ln>
            <ns1:solidFill>
              <ns1:srgbClr val="000000"/>
            </ns1:solidFill>
            <ns1:miter/>
          </ns1:ln>
        </ns0:spPr>
      </ns0:sp>
      <ns0:sp>
        <ns0:nvSpPr>
          <ns0:cNvPr id="13314" name="备注占位符 2"/>
          <ns0:cNvSpPr>
            <ns1:spLocks noGrp="1"/>
          </ns0:cNvSpPr>
          <ns0:nvPr>
            <ns0:ph type="body"/>
          </ns0:nvPr>
        </ns0:nvSpPr>
        <ns0:spPr>
          <ns1:noFill/>
          <ns1:ln>
            <ns1:noFill/>
          </ns1:ln>
        </ns0:spPr>
        <ns0:txBody>
          <ns1:bodyPr wrap="square" lIns="91440" tIns="45720" rIns="91440" bIns="45720" anchor="t"/>
          <ns1:lstStyle/>
          <ns1:p>
            <ns1:pPr lvl="0" eaLnBrk="1" hangingPunct="1">
              <ns1:spcBef>
                <ns1:spcPct val="0"/>
              </ns1:spcBef>
            </ns1:pPr>
            <ns1:r>
              <ns1:rPr lang="zh-CN" altLang="en-US" dirty="0" smtClean="0"/>
              <ns1:t/>
            </ns1:r>
            <ns1:r>
              <ns1:rPr lang="en-US" altLang="zh-CN" dirty="0" smtClean="0"/>
              <ns1:t/>
            </ns1:r>
            <ns1:endParaRPr lang="en-US" altLang="zh-CN" dirty="0"/>
          </ns1:p>
        </ns0:txBody>
      </ns0:sp>
      <ns0:sp>
        <ns0:nvSpPr>
          <ns0:cNvPr id="13315" name="灯片编号占位符 3"/>
          <ns0:cNvSpPr txBox="1">
            <ns1:spLocks noGrp="1"/>
          </ns0:cNvSpPr>
          <ns0:nvPr>
            <ns0:ph type="sldNum" sz="quarter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lIns="91440" tIns="45720" rIns="91440" bIns="45720" anchor="b"/>
          <ns1:lstStyle/>
          <ns1:p>
            <ns1:pPr lvl="0" indent="0" algn="r"/>
            <ns1:fld id="{9A0DB2DC-4C9A-4742-B13C-FB6460FD3503}" type="slidenum">
              <ns1:rPr lang="zh-CN" altLang="en-US" sz="1200" dirty="0">
                <ns1:latin typeface="Calibri" panose="020F0502020204030204" pitchFamily="34" charset="0"/>
                <ns1:ea typeface="宋体" panose="02010600030101010101" pitchFamily="2" charset="-122"/>
              </ns1:rPr>
              <ns1:t>1</ns1:t>
            </ns1:fld>
            <ns1:endParaRPr lang="zh-CN" altLang="en-US" sz="1200" dirty="0">
              <ns1:latin typeface="Calibri" panose="020F0502020204030204" pitchFamily="34" charset="0"/>
              <ns1:ea typeface="宋体" panose="02010600030101010101" pitchFamily="2" charset="-122"/>
            </ns1:endParaRPr>
          </ns1:p>
        </ns0:txBody>
      </ns0:sp>
    </ns0:spTree>
    <ns0:extLst>
      <ns0:ext uri="{BB962C8B-B14F-4D97-AF65-F5344CB8AC3E}">
        <ns2:creationId val="2291608373"/>
      </ns0:ext>
    </ns0:extLst>
  </ns0:cSld>
  <ns0:clrMapOvr>
    <ns1:masterClrMapping/>
  </ns0:clrMapOvr>
</ns0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900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演讲时需重点强调RAG系统的检索器组件是现有攻击未覆盖的关键空白，明确传统攻击在RAG场景的适配缺陷，为后续提出PoisonedRAG知识投毒攻击做逻辑铺垫</a:t>
            </a:r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11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对比现有攻击局限性：提示注入未考虑RAG检索环节导致性能差，越狱攻击目标与本攻击正交，传统数据投毒需污染模型训练集难度大；2. 优化问题核心：生成恶意文本使目标问题检索时命中，且LLM以此为上下文输出指定答案；3. 实验验证：黑/白盒场景下攻击成功率超90%，F1分数近满值，常见防御机制（释义、去重、困惑度检测）难以有效抵御</a:t>
            </a: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323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优化目标：对任意目标问题Q，生成恶意文本I，使LLM以I为上下文输出预设答案R，通过最多50轮尝试确保生成有效性 - 黑盒策略核心：利用目标问题与自身相似度最高的特性，确保恶意文本被检索进入Top-k上下文，无需访问检索器参数 - 白盒策略核心：借助检索器内部知识，通过HotFlip优化恶意文本嵌入向量，最大化与Q的相似度，提升攻击成功率</a:t>
            </a: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289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攻击成功率采用子串匹配评估，F1分数反映恶意文本与目标问题的检索相关性；2. 白盒场景可利用检索器知识优化恶意文本，提升检索命中率；3. 部分场景黑盒ASR略高，因HotFlip方法可能影响恶意文本语义，且目标问题助力满足生成条件；4. 基线攻击中仅提示注入获有限成功率，其余因无法同时满足检索与生成条件效果不佳。</a:t>
            </a:r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9593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参数维度：当k≤N（N=5）时，PoisonedRAG攻击成功率（ASR）维持高位；k&gt;N时，ASR随k增大下降，但召回率趋近100%；V值对攻击性能无显著影响，方法鲁棒性强。2. 组件维度：不同检索器（Contriever等）、相似度指标、对抗文本生成方法（HotFlip/TextFooler）及LLM（含弱性能模型+上下文学习）下，均能实现高ASR与F1值。3. 真实场景：在含2100万条文本的维基百科知识库聊天机器人中，PoisonedRAG仍保持有效攻击效果。</a:t>
            </a:r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626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本页针对4类主流防御机制开展抵御效果评估：1) 释义防御通过改写目标问题干扰检索匹配，但PoisonedRAG构造的恶意文本与原问题/释义问题均保持高相关性；2) 重复文本过滤依赖恶意文本的重复性，而PoisonedRAG生成的每条恶意文本核心子段I由大语言模型独立生成，天然具备多样性；3) 困惑度检测基于文本质量区分恶意/干净文本，但PoisonedRAG的恶意文本由大语言模型生成，质量与正常文本接近，导致高误检率；4) 知识扩展通过增大k引入更多干净文本，当k远大于注入的恶意文本数N时，攻击成功率仅有限下降，但上下文长度激增会显著提升LLM生成成本。</a:t>
            </a: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50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核心差异：PoisonedRAG通过污染知识库而非干扰输入/模型训练实现攻击，规避了提示注入等攻击在RAG检索环节的局限性；2. 实验验证：攻击在黑盒/白盒场景下均实现超90%的成功率与近满值F1分数，对检索器、参数设置等具有强鲁棒性；3. 防御现状：现有主流防御机制（释义、去重、困惑度检测）难以有效抵御PoisonedRAG</a:t>
            </a:r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573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emf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4" name="文本框 213"/>
          <ns0:cNvSpPr txBox="1"/>
          <ns0:nvPr/>
        </ns0:nvSpPr>
        <ns0:spPr>
          <ns1:xfrm>
            <ns1:off x="1757363" y="1968500"/>
            <ns1:ext cx="5529262" cy="768350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normAutofit/>
          </ns1:bodyPr>
          <ns1:lstStyle/>
          <ns1:p>
            <ns1:pPr algn="ctr"/>
            <ns1:r>
              <ns1:t>???????????????????</ns1:t>
            </ns1:r>
          </ns1:p>
        </ns0:txBody>
      </ns0:sp>
      <ns0:sp>
        <ns0:nvSpPr>
          <ns0:cNvPr id="215" name="文本框 214"/>
          <ns0:cNvSpPr txBox="1"/>
          <ns0:nvPr/>
        </ns0:nvSpPr>
        <ns0:spPr>
          <ns1:xfrm>
            <ns1:off x="2873375" y="2944813"/>
            <ns1:ext cx="3413125" cy="369888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800" kern="1200" cap="none" spc="0" normalizeH="0" baseline="0" noProof="0" dirty="0">
                <ns1:solidFill>
                  <ns1:schemeClr val="bg1"/>
                </ns1:solidFill>
                <ns1:latin typeface="+mn-ea"/>
                <ns1:ea typeface="+mn-ea"/>
                <ns1:cs typeface="+mn-cs"/>
              </ns1:rPr>
              <ns1:t>硕士学位论文答辩</ns1:t>
            </ns1:r>
          </ns1:p>
        </ns0:txBody>
      </ns0:sp>
      <ns0:sp>
        <ns0:nvSpPr>
          <ns0:cNvPr id="216" name="文本框 215"/>
          <ns0:cNvSpPr txBox="1"/>
          <ns0:nvPr/>
        </ns0:nvSpPr>
        <ns0:spPr>
          <ns1:xfrm>
            <ns1:off x="2147888" y="3765550"/>
            <ns1:ext cx="2370138" cy="29908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答辩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学生</ns1:t>
            </ns1:r>
            <ns1:r>
              <ns1:rPr lang="zh-CN" altLang="en-US" sz="135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：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青课</ns1:t>
            </ns1:r>
            <ns1:endParaRPr kumimoji="0" lang="zh-CN" altLang="en-US" sz="1350" kern="1200" cap="none" spc="0" normalizeH="0" baseline="0" noProof="0" dirty="0">
              <ns1:solidFill>
                <ns1:schemeClr val="bg1"/>
              </ns1:solidFill>
              <ns1:latin typeface="宋体" panose="02010600030101010101" pitchFamily="2" charset="-122"/>
              <ns1:ea typeface="宋体" panose="02010600030101010101" pitchFamily="2" charset="-122"/>
              <ns1:cs typeface="+mn-cs"/>
            </ns1:endParaRPr>
          </ns1:p>
        </ns0:txBody>
      </ns0:sp>
      <ns0:sp>
        <ns0:nvSpPr>
          <ns0:cNvPr id="217" name="文本框 216"/>
          <ns0:cNvSpPr txBox="1"/>
          <ns0:nvPr/>
        </ns0:nvSpPr>
        <ns0:spPr>
          <ns1:xfrm>
            <ns1:off x="4656138" y="3765550"/>
            <ns1:ext cx="2371725" cy="29908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指导老师</ns1:t>
            </ns1:r>
            <ns1:r>
              <ns1:rPr kumimoji="0" lang="zh-CN" altLang="en-US" sz="1350" kern="1200" cap="none" spc="0" normalizeH="0" baseline="0" noProof="0" dirty="0" smtClean="0">
                <ns1:solidFill>
                  <ns1:schemeClr val="bg1"/>
                </ns1:solidFill>
                <ns1:latin typeface="宋体" panose="02010600030101010101" pitchFamily="2" charset="-122"/>
                <ns1:ea typeface="宋体" panose="02010600030101010101" pitchFamily="2" charset="-122"/>
                <ns1:cs typeface="+mn-cs"/>
              </ns1:rPr>
              <ns1:t>：青课</ns1:t>
            </ns1:r>
            <ns1:endParaRPr kumimoji="0" lang="zh-CN" altLang="en-US" sz="1350" kern="1200" cap="none" spc="0" normalizeH="0" baseline="0" noProof="0" dirty="0">
              <ns1:solidFill>
                <ns1:schemeClr val="bg1"/>
              </ns1:solidFill>
              <ns1:latin typeface="宋体" panose="02010600030101010101" pitchFamily="2" charset="-122"/>
              <ns1:ea typeface="宋体" panose="02010600030101010101" pitchFamily="2" charset="-122"/>
              <ns1:cs typeface="+mn-cs"/>
            </ns1:endParaRPr>
          </ns1:p>
        </ns0:txBody>
      </ns0:sp>
      <ns0:sp>
        <ns0:nvSpPr>
          <ns0:cNvPr id="218" name="矩形 217"/>
          <ns0:cNvSpPr/>
          <ns0:nvPr/>
        </ns0:nvSpPr>
        <ns0:spPr>
          <ns1:xfrm>
            <ns1:off x="2727325" y="2787650"/>
            <ns1:ext cx="896938" cy="82550"/>
          </ns1:xfrm>
          <ns1:prstGeom prst="rect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19" name="矩形 218"/>
          <ns0:cNvSpPr/>
          <ns0:nvPr/>
        </ns0:nvSpPr>
        <ns0:spPr>
          <ns1:xfrm>
            <ns1:off x="3624263" y="2787650"/>
            <ns1:ext cx="896938" cy="82550"/>
          </ns1:xfrm>
          <ns1:prstGeom prst="rect">
            <ns1:avLst/>
          </ns1:prstGeom>
          <ns1:solidFill>
            <ns1:schemeClr val="bg1">
              <ns1:alpha val="4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20" name="矩形 219"/>
          <ns0:cNvSpPr/>
          <ns0:nvPr/>
        </ns0:nvSpPr>
        <ns0:spPr>
          <ns1:xfrm>
            <ns1:off x="4521200" y="2792413"/>
            <ns1:ext cx="896938" cy="82550"/>
          </ns1:xfrm>
          <ns1:prstGeom prst="rect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221" name="矩形 220"/>
          <ns0:cNvSpPr/>
          <ns0:nvPr/>
        </ns0:nvSpPr>
        <ns0:spPr>
          <ns1:xfrm>
            <ns1:off x="5418138" y="2794000"/>
            <ns1:ext cx="896938" cy="84138"/>
          </ns1:xfrm>
          <ns1:prstGeom prst="rect">
            <ns1:avLst/>
          </ns1:prstGeom>
          <ns1:solidFill>
            <ns1:schemeClr val="bg1">
              <ns1:lumMod val="95000"/>
              <ns1:alpha val="40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400" b="0" i="0" u="none" strike="noStrike" kern="1200" cap="none" spc="0" normalizeH="0" baseline="0" noProof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grpSp>
        <ns0:nvGrpSpPr>
          <ns0:cNvPr id="222" name="组合 221"/>
          <ns0:cNvGrpSpPr/>
          <ns0:nvPr/>
        </ns0:nvGrpSpPr>
        <ns0:grpSpPr>
          <ns1:xfrm>
            <ns1:off x="3954463" y="708025"/>
            <ns1:ext cx="1128712" cy="1130300"/>
            <ns1:chOff x="1928879" y="1944350"/>
            <ns1:chExt cx="1129689" cy="1129689"/>
          </ns1:xfrm>
        </ns0:grpSpPr>
        <ns0:sp>
          <ns0:nvSpPr>
            <ns0:cNvPr id="223" name="椭圆 222"/>
            <ns0:cNvSpPr/>
            <ns0:nvPr/>
          </ns0:nvSpPr>
          <ns0:spPr>
            <ns1:xfrm>
              <ns1:off x="1928879" y="1944350"/>
              <ns1:ext cx="1129689" cy="1129689"/>
            </ns1:xfrm>
            <ns1:prstGeom prst="ellipse">
              <ns1:avLst/>
            </ns1:prstGeom>
            <ns1:solidFill>
              <ns1:schemeClr val="bg1">
                <ns1:alpha val="20000"/>
              </ns1:schemeClr>
            </ns1:solidFill>
            <ns1:ln>
              <ns1:noFill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+mn-lt"/>
                <ns1:ea typeface="+mn-ea"/>
                <ns1:cs typeface="+mn-cs"/>
              </ns1:endParaRPr>
            </ns1:p>
          </ns0:txBody>
        </ns0:sp>
        <ns0:sp>
          <ns0:nvSpPr>
            <ns0:cNvPr id="224" name="Freeform 7"/>
            <ns0:cNvSpPr>
              <ns1:spLocks noEditPoints="1"/>
            </ns0:cNvSpPr>
            <ns0:nvPr/>
          </ns0:nvSpPr>
          <ns0:spPr bwMode="auto">
            <ns1:xfrm>
              <ns1:off x="2108421" y="2226772"/>
              <ns1:ext cx="751538" cy="615617"/>
            </ns1:xfrm>
            <ns1:custGeom>
              <ns1:avLst/>
              <ns1:gdLst>
                <ns1:gd name="T0" fmla="*/ 310 w 563"/>
                <ns1:gd name="T1" fmla="*/ 372 h 461"/>
                <ns1:gd name="T2" fmla="*/ 321 w 563"/>
                <ns1:gd name="T3" fmla="*/ 370 h 461"/>
                <ns1:gd name="T4" fmla="*/ 552 w 563"/>
                <ns1:gd name="T5" fmla="*/ 248 h 461"/>
                <ns1:gd name="T6" fmla="*/ 559 w 563"/>
                <ns1:gd name="T7" fmla="*/ 226 h 461"/>
                <ns1:gd name="T8" fmla="*/ 537 w 563"/>
                <ns1:gd name="T9" fmla="*/ 220 h 461"/>
                <ns1:gd name="T10" fmla="*/ 311 w 563"/>
                <ns1:gd name="T11" fmla="*/ 339 h 461"/>
                <ns1:gd name="T12" fmla="*/ 59 w 563"/>
                <ns1:gd name="T13" fmla="*/ 285 h 461"/>
                <ns1:gd name="T14" fmla="*/ 38 w 563"/>
                <ns1:gd name="T15" fmla="*/ 253 h 461"/>
                <ns1:gd name="T16" fmla="*/ 71 w 563"/>
                <ns1:gd name="T17" fmla="*/ 232 h 461"/>
                <ns1:gd name="T18" fmla="*/ 313 w 563"/>
                <ns1:gd name="T19" fmla="*/ 283 h 461"/>
                <ns1:gd name="T20" fmla="*/ 321 w 563"/>
                <ns1:gd name="T21" fmla="*/ 281 h 461"/>
                <ns1:gd name="T22" fmla="*/ 552 w 563"/>
                <ns1:gd name="T23" fmla="*/ 159 h 461"/>
                <ns1:gd name="T24" fmla="*/ 559 w 563"/>
                <ns1:gd name="T25" fmla="*/ 138 h 461"/>
                <ns1:gd name="T26" fmla="*/ 537 w 563"/>
                <ns1:gd name="T27" fmla="*/ 131 h 461"/>
                <ns1:gd name="T28" fmla="*/ 310 w 563"/>
                <ns1:gd name="T29" fmla="*/ 251 h 461"/>
                <ns1:gd name="T30" fmla="*/ 59 w 563"/>
                <ns1:gd name="T31" fmla="*/ 197 h 461"/>
                <ns1:gd name="T32" fmla="*/ 38 w 563"/>
                <ns1:gd name="T33" fmla="*/ 164 h 461"/>
                <ns1:gd name="T34" fmla="*/ 71 w 563"/>
                <ns1:gd name="T35" fmla="*/ 143 h 461"/>
                <ns1:gd name="T36" fmla="*/ 298 w 563"/>
                <ns1:gd name="T37" fmla="*/ 191 h 461"/>
                <ns1:gd name="T38" fmla="*/ 306 w 563"/>
                <ns1:gd name="T39" fmla="*/ 189 h 461"/>
                <ns1:gd name="T40" fmla="*/ 538 w 563"/>
                <ns1:gd name="T41" fmla="*/ 69 h 461"/>
                <ns1:gd name="T42" fmla="*/ 535 w 563"/>
                <ns1:gd name="T43" fmla="*/ 48 h 461"/>
                <ns1:gd name="T44" fmla="*/ 310 w 563"/>
                <ns1:gd name="T45" fmla="*/ 4 h 461"/>
                <ns1:gd name="T46" fmla="*/ 249 w 563"/>
                <ns1:gd name="T47" fmla="*/ 12 h 461"/>
                <ns1:gd name="T48" fmla="*/ 41 w 563"/>
                <ns1:gd name="T49" fmla="*/ 114 h 461"/>
                <ns1:gd name="T50" fmla="*/ 33 w 563"/>
                <ns1:gd name="T51" fmla="*/ 119 h 461"/>
                <ns1:gd name="T52" fmla="*/ 7 w 563"/>
                <ns1:gd name="T53" fmla="*/ 157 h 461"/>
                <ns1:gd name="T54" fmla="*/ 25 w 563"/>
                <ns1:gd name="T55" fmla="*/ 214 h 461"/>
                <ns1:gd name="T56" fmla="*/ 7 w 563"/>
                <ns1:gd name="T57" fmla="*/ 246 h 461"/>
                <ns1:gd name="T58" fmla="*/ 25 w 563"/>
                <ns1:gd name="T59" fmla="*/ 303 h 461"/>
                <ns1:gd name="T60" fmla="*/ 7 w 563"/>
                <ns1:gd name="T61" fmla="*/ 335 h 461"/>
                <ns1:gd name="T62" fmla="*/ 52 w 563"/>
                <ns1:gd name="T63" fmla="*/ 405 h 461"/>
                <ns1:gd name="T64" fmla="*/ 311 w 563"/>
                <ns1:gd name="T65" fmla="*/ 460 h 461"/>
                <ns1:gd name="T66" fmla="*/ 321 w 563"/>
                <ns1:gd name="T67" fmla="*/ 459 h 461"/>
                <ns1:gd name="T68" fmla="*/ 552 w 563"/>
                <ns1:gd name="T69" fmla="*/ 337 h 461"/>
                <ns1:gd name="T70" fmla="*/ 559 w 563"/>
                <ns1:gd name="T71" fmla="*/ 315 h 461"/>
                <ns1:gd name="T72" fmla="*/ 537 w 563"/>
                <ns1:gd name="T73" fmla="*/ 308 h 461"/>
                <ns1:gd name="T74" fmla="*/ 310 w 563"/>
                <ns1:gd name="T75" fmla="*/ 428 h 461"/>
                <ns1:gd name="T76" fmla="*/ 59 w 563"/>
                <ns1:gd name="T77" fmla="*/ 374 h 461"/>
                <ns1:gd name="T78" fmla="*/ 38 w 563"/>
                <ns1:gd name="T79" fmla="*/ 341 h 461"/>
                <ns1:gd name="T80" fmla="*/ 71 w 563"/>
                <ns1:gd name="T81" fmla="*/ 320 h 461"/>
                <ns1:gd name="T82" fmla="*/ 310 w 563"/>
                <ns1:gd name="T83" fmla="*/ 372 h 461"/>
                <ns1:gd name="T84" fmla="*/ 296 w 563"/>
                <ns1:gd name="T85" fmla="*/ 57 h 461"/>
                <ns1:gd name="T86" fmla="*/ 404 w 563"/>
                <ns1:gd name="T87" fmla="*/ 78 h 461"/>
                <ns1:gd name="T88" fmla="*/ 357 w 563"/>
                <ns1:gd name="T89" fmla="*/ 101 h 461"/>
                <ns1:gd name="T90" fmla="*/ 249 w 563"/>
                <ns1:gd name="T91" fmla="*/ 79 h 461"/>
                <ns1:gd name="T92" fmla="*/ 296 w 563"/>
                <ns1:gd name="T93" fmla="*/ 57 h 461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  <ns1:cxn ang="0">
                  <ns1:pos x="T78" y="T79"/>
                </ns1:cxn>
                <ns1:cxn ang="0">
                  <ns1:pos x="T80" y="T81"/>
                </ns1:cxn>
                <ns1:cxn ang="0">
                  <ns1:pos x="T82" y="T83"/>
                </ns1:cxn>
                <ns1:cxn ang="0">
                  <ns1:pos x="T84" y="T85"/>
                </ns1:cxn>
                <ns1:cxn ang="0">
                  <ns1:pos x="T86" y="T87"/>
                </ns1:cxn>
                <ns1:cxn ang="0">
                  <ns1:pos x="T88" y="T89"/>
                </ns1:cxn>
                <ns1:cxn ang="0">
                  <ns1:pos x="T90" y="T91"/>
                </ns1:cxn>
                <ns1:cxn ang="0">
                  <ns1:pos x="T92" y="T93"/>
                </ns1:cxn>
              </ns1:cxnLst>
              <ns1:rect l="0" t="0" r="r" b="b"/>
              <ns1:pathLst>
                <ns1:path w="563" h="461">
                  <ns1:moveTo>
                    <ns1:pt x="310" y="372"/>
                  </ns1:moveTo>
                  <ns1:cubicBezTo>
                    <ns1:pt x="314" y="372"/>
                    <ns1:pt x="318" y="371"/>
                    <ns1:pt x="321" y="370"/>
                  </ns1:cubicBezTo>
                  <ns1:cubicBezTo>
                    <ns1:pt x="552" y="248"/>
                    <ns1:pt x="552" y="248"/>
                    <ns1:pt x="552" y="248"/>
                  </ns1:cubicBezTo>
                  <ns1:cubicBezTo>
                    <ns1:pt x="560" y="244"/>
                    <ns1:pt x="563" y="234"/>
                    <ns1:pt x="559" y="226"/>
                  </ns1:cubicBezTo>
                  <ns1:cubicBezTo>
                    <ns1:pt x="555" y="218"/>
                    <ns1:pt x="545" y="215"/>
                    <ns1:pt x="537" y="220"/>
                  </ns1:cubicBezTo>
                  <ns1:cubicBezTo>
                    <ns1:pt x="311" y="339"/>
                    <ns1:pt x="311" y="339"/>
                    <ns1:pt x="311" y="339"/>
                  </ns1:cubicBezTo>
                  <ns1:cubicBezTo>
                    <ns1:pt x="59" y="285"/>
                    <ns1:pt x="59" y="285"/>
                    <ns1:pt x="59" y="285"/>
                  </ns1:cubicBezTo>
                  <ns1:cubicBezTo>
                    <ns1:pt x="44" y="282"/>
                    <ns1:pt x="35" y="268"/>
                    <ns1:pt x="38" y="253"/>
                  </ns1:cubicBezTo>
                  <ns1:cubicBezTo>
                    <ns1:pt x="41" y="238"/>
                    <ns1:pt x="56" y="228"/>
                    <ns1:pt x="71" y="232"/>
                  </ns1:cubicBezTo>
                  <ns1:cubicBezTo>
                    <ns1:pt x="71" y="232"/>
                    <ns1:pt x="313" y="283"/>
                    <ns1:pt x="313" y="283"/>
                  </ns1:cubicBezTo>
                  <ns1:cubicBezTo>
                    <ns1:pt x="316" y="283"/>
                    <ns1:pt x="318" y="283"/>
                    <ns1:pt x="321" y="281"/>
                  </ns1:cubicBezTo>
                  <ns1:cubicBezTo>
                    <ns1:pt x="552" y="159"/>
                    <ns1:pt x="552" y="159"/>
                    <ns1:pt x="552" y="159"/>
                  </ns1:cubicBezTo>
                  <ns1:cubicBezTo>
                    <ns1:pt x="560" y="155"/>
                    <ns1:pt x="563" y="146"/>
                    <ns1:pt x="559" y="138"/>
                  </ns1:cubicBezTo>
                  <ns1:cubicBezTo>
                    <ns1:pt x="555" y="130"/>
                    <ns1:pt x="545" y="127"/>
                    <ns1:pt x="537" y="131"/>
                  </ns1:cubicBezTo>
                  <ns1:cubicBezTo>
                    <ns1:pt x="310" y="251"/>
                    <ns1:pt x="310" y="251"/>
                    <ns1:pt x="310" y="251"/>
                  </ns1:cubicBezTo>
                  <ns1:cubicBezTo>
                    <ns1:pt x="59" y="197"/>
                    <ns1:pt x="59" y="197"/>
                    <ns1:pt x="59" y="197"/>
                  </ns1:cubicBezTo>
                  <ns1:cubicBezTo>
                    <ns1:pt x="44" y="194"/>
                    <ns1:pt x="35" y="179"/>
                    <ns1:pt x="38" y="164"/>
                  </ns1:cubicBezTo>
                  <ns1:cubicBezTo>
                    <ns1:pt x="41" y="149"/>
                    <ns1:pt x="56" y="140"/>
                    <ns1:pt x="71" y="143"/>
                  </ns1:cubicBezTo>
                  <ns1:cubicBezTo>
                    <ns1:pt x="71" y="143"/>
                    <ns1:pt x="297" y="191"/>
                    <ns1:pt x="298" y="191"/>
                  </ns1:cubicBezTo>
                  <ns1:cubicBezTo>
                    <ns1:pt x="301" y="191"/>
                    <ns1:pt x="303" y="191"/>
                    <ns1:pt x="306" y="189"/>
                  </ns1:cubicBezTo>
                  <ns1:cubicBezTo>
                    <ns1:pt x="306" y="189"/>
                    <ns1:pt x="538" y="69"/>
                    <ns1:pt x="538" y="69"/>
                  </ns1:cubicBezTo>
                  <ns1:cubicBezTo>
                    <ns1:pt x="554" y="61"/>
                    <ns1:pt x="553" y="51"/>
                    <ns1:pt x="535" y="48"/>
                  </ns1:cubicBezTo>
                  <ns1:cubicBezTo>
                    <ns1:pt x="310" y="4"/>
                    <ns1:pt x="310" y="4"/>
                    <ns1:pt x="310" y="4"/>
                  </ns1:cubicBezTo>
                  <ns1:cubicBezTo>
                    <ns1:pt x="292" y="0"/>
                    <ns1:pt x="265" y="4"/>
                    <ns1:pt x="249" y="12"/>
                  </ns1:cubicBezTo>
                  <ns1:cubicBezTo>
                    <ns1:pt x="41" y="114"/>
                    <ns1:pt x="41" y="114"/>
                    <ns1:pt x="41" y="114"/>
                  </ns1:cubicBezTo>
                  <ns1:cubicBezTo>
                    <ns1:pt x="38" y="116"/>
                    <ns1:pt x="35" y="118"/>
                    <ns1:pt x="33" y="119"/>
                  </ns1:cubicBezTo>
                  <ns1:cubicBezTo>
                    <ns1:pt x="20" y="128"/>
                    <ns1:pt x="10" y="141"/>
                    <ns1:pt x="7" y="157"/>
                  </ns1:cubicBezTo>
                  <ns1:cubicBezTo>
                    <ns1:pt x="2" y="179"/>
                    <ns1:pt x="10" y="200"/>
                    <ns1:pt x="25" y="214"/>
                  </ns1:cubicBezTo>
                  <ns1:cubicBezTo>
                    <ns1:pt x="16" y="222"/>
                    <ns1:pt x="9" y="233"/>
                    <ns1:pt x="7" y="246"/>
                  </ns1:cubicBezTo>
                  <ns1:cubicBezTo>
                    <ns1:pt x="2" y="268"/>
                    <ns1:pt x="10" y="289"/>
                    <ns1:pt x="25" y="303"/>
                  </ns1:cubicBezTo>
                  <ns1:cubicBezTo>
                    <ns1:pt x="16" y="311"/>
                    <ns1:pt x="9" y="322"/>
                    <ns1:pt x="7" y="335"/>
                  </ns1:cubicBezTo>
                  <ns1:cubicBezTo>
                    <ns1:pt x="0" y="367"/>
                    <ns1:pt x="20" y="399"/>
                    <ns1:pt x="52" y="405"/>
                  </ns1:cubicBezTo>
                  <ns1:cubicBezTo>
                    <ns1:pt x="52" y="405"/>
                    <ns1:pt x="310" y="461"/>
                    <ns1:pt x="311" y="460"/>
                  </ns1:cubicBezTo>
                  <ns1:cubicBezTo>
                    <ns1:pt x="314" y="460"/>
                    <ns1:pt x="318" y="460"/>
                    <ns1:pt x="321" y="459"/>
                  </ns1:cubicBezTo>
                  <ns1:cubicBezTo>
                    <ns1:pt x="552" y="337"/>
                    <ns1:pt x="552" y="337"/>
                    <ns1:pt x="552" y="337"/>
                  </ns1:cubicBezTo>
                  <ns1:cubicBezTo>
                    <ns1:pt x="560" y="332"/>
                    <ns1:pt x="563" y="323"/>
                    <ns1:pt x="559" y="315"/>
                  </ns1:cubicBezTo>
                  <ns1:cubicBezTo>
                    <ns1:pt x="555" y="307"/>
                    <ns1:pt x="545" y="304"/>
                    <ns1:pt x="537" y="308"/>
                  </ns1:cubicBezTo>
                  <ns1:cubicBezTo>
                    <ns1:pt x="310" y="428"/>
                    <ns1:pt x="310" y="428"/>
                    <ns1:pt x="310" y="428"/>
                  </ns1:cubicBezTo>
                  <ns1:cubicBezTo>
                    <ns1:pt x="59" y="374"/>
                    <ns1:pt x="59" y="374"/>
                    <ns1:pt x="59" y="374"/>
                  </ns1:cubicBezTo>
                  <ns1:cubicBezTo>
                    <ns1:pt x="44" y="371"/>
                    <ns1:pt x="35" y="356"/>
                    <ns1:pt x="38" y="341"/>
                  </ns1:cubicBezTo>
                  <ns1:cubicBezTo>
                    <ns1:pt x="41" y="327"/>
                    <ns1:pt x="56" y="317"/>
                    <ns1:pt x="71" y="320"/>
                  </ns1:cubicBezTo>
                  <ns1:cubicBezTo>
                    <ns1:pt x="71" y="320"/>
                    <ns1:pt x="309" y="372"/>
                    <ns1:pt x="310" y="372"/>
                  </ns1:cubicBezTo>
                  <ns1:close/>
                  <ns1:moveTo>
                    <ns1:pt x="296" y="57"/>
                  </ns1:moveTo>
                  <ns1:cubicBezTo>
                    <ns1:pt x="404" y="78"/>
                    <ns1:pt x="404" y="78"/>
                    <ns1:pt x="404" y="78"/>
                  </ns1:cubicBezTo>
                  <ns1:cubicBezTo>
                    <ns1:pt x="357" y="101"/>
                    <ns1:pt x="357" y="101"/>
                    <ns1:pt x="357" y="101"/>
                  </ns1:cubicBezTo>
                  <ns1:cubicBezTo>
                    <ns1:pt x="249" y="79"/>
                    <ns1:pt x="249" y="79"/>
                    <ns1:pt x="249" y="79"/>
                  </ns1:cubicBezTo>
                  <ns1:lnTo>
                    <ns1:pt x="296" y="57"/>
                  </ns1:lnTo>
                  <ns1:close/>
                </ns1:path>
              </ns1:pathLst>
            </ns1:custGeom>
            <ns1:solidFill>
              <ns1:schemeClr val="bg1"/>
            </ns1:solidFill>
            <ns1:ln>
              <ns1:noFill/>
            </ns1:ln>
          </ns0:spPr>
          <ns0:txBody>
            <ns1:bodyPr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+mn-lt"/>
                <ns1:ea typeface="+mn-ea"/>
                <ns1:cs typeface="+mn-cs"/>
              </ns1:endParaRPr>
            </ns1:p>
          </ns0:txBody>
        </ns0:sp>
      </ns0:grpSp>
    </ns0:spTree>
  </ns0:cSld>
  <ns0:clrMapOvr>
    <ns1:masterClrMapping/>
  </ns0:clrMapOvr>
  <ns0:transition spd="med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53" presetClass="entr" presetSubtype="16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7" dur="250" fill="hold"/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8" dur="250" fill="hold"/>
                                        <ns0:tgtEl>
                                          <ns0:spTgt spid="222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9" dur="250"/>
                                        <ns0:tgtEl>
                                          <ns0:spTgt spid="2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0" presetID="6" presetClass="emph" presetSubtype="0" decel="100000" fill="hold" nodeType="withEffect">
                                  <ns0:stCondLst>
                                    <ns0:cond delay="200"/>
                                  </ns0:stCondLst>
                                  <ns0:childTnLst>
                                    <ns0:animScale>
                                      <ns0:cBhvr>
                                        <ns0:cTn id="11" dur="250" fill="hold"/>
                                        <ns0:tgtEl>
                                          <ns0:spTgt spid="222"/>
                                        </ns0:tgtEl>
                                      </ns0:cBhvr>
                                      <ns0:by x="110000" y="110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12" presetID="6" presetClass="emph" presetSubtype="0" decel="100000" fill="hold" nodeType="withEffect">
                                  <ns0:stCondLst>
                                    <ns0:cond delay="400"/>
                                  </ns0:stCondLst>
                                  <ns0:childTnLst>
                                    <ns0:animScale>
                                      <ns0:cBhvr>
                                        <ns0:cTn id="13" dur="250" fill="hold"/>
                                        <ns0:tgtEl>
                                          <ns0:spTgt spid="222"/>
                                        </ns0:tgtEl>
                                      </ns0:cBhvr>
                                      <ns0:by x="91000" y="91000"/>
                                    </ns0:animScale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5" presetID="17" presetClass="entr" presetSubtype="1" fill="hold" grpId="0" nodeType="afterEffect">
                                  <ns0:stCondLst>
                                    <ns0:cond delay="0"/>
                                  </ns0:stCondLst>
                                  <ns0:iterate type="lt">
                                    <ns0:tmPct val="40000"/>
                                  </ns0:iterate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7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8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-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9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0" dur="250" fill="hold"/>
                                        <ns0:tgtEl>
                                          <ns0:spTgt spid="214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1" presetID="2" presetClass="entr" presetSubtype="2" decel="66700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3" dur="400" fill="hold"/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4" dur="400" fill="hold"/>
                                        <ns0:tgtEl>
                                          <ns0:spTgt spid="21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5" presetID="2" presetClass="entr" presetSubtype="8" decel="66700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7" dur="400" fill="hold"/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8" dur="400" fill="hold"/>
                                        <ns0:tgtEl>
                                          <ns0:spTgt spid="22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9" presetID="2" presetClass="entr" presetSubtype="8" decel="66700" fill="hold" grpId="0" nodeType="withEffect">
                                  <ns0:stCondLst>
                                    <ns0:cond delay="90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1" dur="400" fill="hold"/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2" dur="400" fill="hold"/>
                                        <ns0:tgtEl>
                                          <ns0:spTgt spid="22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3" presetID="2" presetClass="entr" presetSubtype="2" decel="66700" fill="hold" grpId="0" nodeType="withEffect">
                                  <ns0:stCondLst>
                                    <ns0:cond delay="90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5" dur="400" fill="hold"/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6" dur="400" fill="hold"/>
                                        <ns0:tgtEl>
                                          <ns0:spTgt spid="21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7" fill="hold">
                            <ns0:stCondLst>
                              <ns0:cond delay="1949"/>
                            </ns0:stCondLst>
                            <ns0:childTnLst>
                              <ns0:par>
                                <ns0:cTn id="38" presetID="22" presetClass="entr" presetSubtype="8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40" dur="500"/>
                                        <ns0:tgtEl>
                                          <ns0:spTgt spid="2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1" fill="hold">
                            <ns0:stCondLst>
                              <ns0:cond delay="2449"/>
                            </ns0:stCondLst>
                            <ns0:childTnLst>
                              <ns0:par>
                                <ns0:cTn id="42" presetID="2" presetClass="entr" presetSubtype="4" decel="10000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4" dur="500" fill="hold"/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45" dur="500" fill="hold"/>
                                        <ns0:tgtEl>
                                          <ns0:spTgt spid="21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46" fill="hold">
                            <ns0:stCondLst>
                              <ns0:cond delay="2949"/>
                            </ns0:stCondLst>
                            <ns0:childTnLst>
                              <ns0:par>
                                <ns0:cTn id="47" presetID="2" presetClass="entr" presetSubtype="4" decel="100000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9" dur="500" fill="hold"/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50" dur="500" fill="hold"/>
                                        <ns0:tgtEl>
                                          <ns0:spTgt spid="217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214" grpId="0"/>
      <ns0:bldP spid="215" grpId="0"/>
      <ns0:bldP spid="216" grpId="0"/>
      <ns0:bldP spid="217" grpId="0"/>
      <ns0:bldP spid="218" grpId="0" animBg="1"/>
      <ns0:bldP spid="219" grpId="0" animBg="1"/>
      <ns0:bldP spid="220" grpId="0" animBg="1"/>
      <ns0:bldP spid="221" grpId="0" animBg="1"/>
    </ns0:bldLst>
  </ns0:timing>
</ns0:sld>
</file>

<file path=ppt/slides/slide2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68" name="组合 67"/>
          <ns0:cNvGrpSpPr/>
          <ns0:nvPr/>
        </ns0:nvGrpSpPr>
        <ns0:grpSpPr>
          <ns1:xfrm>
            <ns1:off x="282575" y="1746250"/>
            <ns1:ext cx="2765425" cy="963613"/>
            <ns1:chOff x="219753" y="1976522"/>
            <ns1:chExt cx="2765362" cy="964005"/>
          </ns1:xfrm>
        </ns0:grpSpPr>
        <ns0:sp>
          <ns0:nvSpPr>
            <ns0:cNvPr id="14338" name="文本框 38"/>
            <ns0:cNvSpPr txBox="1"/>
            <ns0:nvPr/>
          </ns0:nvSpPr>
          <ns0:spPr>
            <ns1:xfrm>
              <ns1:off x="219753" y="2417307"/>
              <ns1:ext cx="2741158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 algn="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CONTENTS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14339" name="文本框 11"/>
            <ns0:cNvSpPr txBox="1"/>
            <ns0:nvPr/>
          </ns0:nvSpPr>
          <ns0:spPr>
            <ns1:xfrm>
              <ns1:off x="1979712" y="1976522"/>
              <ns1:ext cx="1005403" cy="584775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3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目录</ns1:t>
              </ns1:r>
            </ns1:p>
          </ns0:txBody>
        </ns0:sp>
      </ns0:grpSp>
      <ns0:sp>
        <ns0:nvSpPr>
          <ns0:cNvPr id="71" name="文本框 18"/>
          <ns0:cNvSpPr txBox="1"/>
          <ns0:nvPr/>
        </ns0:nvSpPr>
        <ns0:spPr>
          <ns1:xfrm>
            <ns1:off x="4052888" y="1890713"/>
            <ns1:ext cx="1108075" cy="3698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anchor="t">
            <ns1:normAutofit/>
          </ns1:bodyPr>
          <ns1:lstStyle/>
          <ns1:p>
            <ns1:r>
              <ns1:t>3. PoisonedRAG攻击框架——知识投毒攻击的核心设计与优势分析</ns1:t>
            </ns1:r>
          </ns1:p>
          <ns1:p>
            <ns1:pPr/>
            <ns1:r>
              <ns1:t>4. 攻击实现细节——带约束的优化问题建模与黑盒/白盒场景构造策略</ns1:t>
            </ns1:r>
          </ns1:p>
        </ns0:txBody>
      </ns0:sp>
      <ns0:grpSp>
        <ns0:nvGrpSpPr>
          <ns0:cNvPr id="72" name="组合 71"/>
          <ns0:cNvGrpSpPr/>
          <ns0:nvPr/>
        </ns0:nvGrpSpPr>
        <ns0:grpSpPr>
          <ns1:xfrm>
            <ns1:off x="3578225" y="1817688"/>
            <ns1:ext cx="466725" cy="523875"/>
            <ns1:chOff x="3516783" y="2047768"/>
            <ns1:chExt cx="466304" cy="523220"/>
          </ns1:xfrm>
        </ns0:grpSpPr>
        <ns0:sp>
          <ns0:nvSpPr>
            <ns0:cNvPr id="14342" name="文本框 16"/>
            <ns0:cNvSpPr txBox="1"/>
            <ns0:nvPr/>
          </ns0:nvSpPr>
          <ns0:spPr>
            <ns1:xfrm>
              <ns1:off x="3516783" y="2047768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1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74" name="直接连接符 73"/>
            <ns0:cNvCxnSpPr/>
            <ns0:nvPr/>
          </ns0:nvCxnSpPr>
          <ns0:spPr>
            <ns1:xfrm flipH="1">
              <ns1:off x="3737247" y="2226931"/>
              <ns1:ext cx="245840" cy="247340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75" name="文本框 21"/>
          <ns0:cNvSpPr txBox="1"/>
          <ns0:nvPr/>
        </ns0:nvSpPr>
        <ns0:spPr>
          <ns1:xfrm>
            <ns1:off x="6638925" y="1916113"/>
            <ns1:ext cx="1108075" cy="368300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none" anchor="t">
            <ns1:spAutoFit/>
          </ns1:bodyPr>
          <ns1:lstStyle/>
          <ns1:p>
            <ns1:r>
              <ns1:rPr lang="zh-CN" altLang="en-US" sz="1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研究过程</ns1:t>
            </ns1:r>
          </ns1:p>
        </ns0:txBody>
      </ns0:sp>
      <ns0:grpSp>
        <ns0:nvGrpSpPr>
          <ns0:cNvPr id="76" name="组合 75"/>
          <ns0:cNvGrpSpPr/>
          <ns0:nvPr/>
        </ns0:nvGrpSpPr>
        <ns0:grpSpPr>
          <ns1:xfrm>
            <ns1:off x="6135688" y="1827213"/>
            <ns1:ext cx="496887" cy="523875"/>
            <ns1:chOff x="6073087" y="2057986"/>
            <ns1:chExt cx="497639" cy="523220"/>
          </ns1:xfrm>
        </ns0:grpSpPr>
        <ns0:sp>
          <ns0:nvSpPr>
            <ns0:cNvPr id="14346" name="文本框 20"/>
            <ns0:cNvSpPr txBox="1"/>
            <ns0:nvPr/>
          </ns0:nvSpPr>
          <ns0:spPr>
            <ns1:xfrm>
              <ns1:off x="6073087" y="2057986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4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78" name="直接连接符 77"/>
            <ns0:cNvCxnSpPr/>
            <ns0:nvPr/>
          </ns0:nvCxnSpPr>
          <ns0:spPr>
            <ns1:xfrm flipH="1">
              <ns1:off x="6324292" y="2227636"/>
              <ns1:ext cx="246434" cy="245755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79" name="文本框 24"/>
          <ns0:cNvSpPr txBox="1"/>
          <ns0:nvPr/>
        </ns0:nvSpPr>
        <ns0:spPr>
          <ns1:xfrm>
            <ns1:off x="4052888" y="2470150"/>
            <ns1:ext cx="1108075" cy="369888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anchor="t">
            <ns1:normAutofit/>
          </ns1:bodyPr>
          <ns1:lstStyle/>
          <ns1:p>
            <ns1:r>
              <ns1:t>1. 针对检索增强生成系统的知识投毒攻击研究</ns1:t>
            </ns1:r>
          </ns1:p>
          <ns1:p>
            <ns1:pPr/>
            <ns1:r>
              <ns1:t>2. 研究背景与问题提出——RAG系统的安全隐患与现有攻击的局限性</ns1:t>
            </ns1:r>
          </ns1:p>
        </ns0:txBody>
      </ns0:sp>
      <ns0:grpSp>
        <ns0:nvGrpSpPr>
          <ns0:cNvPr id="80" name="组合 79"/>
          <ns0:cNvGrpSpPr/>
          <ns0:nvPr/>
        </ns0:nvGrpSpPr>
        <ns0:grpSpPr>
          <ns1:xfrm>
            <ns1:off x="3578225" y="2397125"/>
            <ns1:ext cx="466725" cy="523875"/>
            <ns1:chOff x="3516783" y="2627150"/>
            <ns1:chExt cx="466304" cy="523220"/>
          </ns1:xfrm>
        </ns0:grpSpPr>
        <ns0:sp>
          <ns0:nvSpPr>
            <ns0:cNvPr id="14350" name="文本框 23"/>
            <ns0:cNvSpPr txBox="1"/>
            <ns0:nvPr/>
          </ns0:nvSpPr>
          <ns0:spPr>
            <ns1:xfrm>
              <ns1:off x="3516783" y="2627150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2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82" name="直接连接符 81"/>
            <ns0:cNvCxnSpPr/>
            <ns0:nvPr/>
          </ns0:nvCxnSpPr>
          <ns0:spPr>
            <ns1:xfrm flipH="1">
              <ns1:off x="3737247" y="2806314"/>
              <ns1:ext cx="245840" cy="247340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83" name="文本框 27"/>
          <ns0:cNvSpPr txBox="1"/>
          <ns0:nvPr/>
        </ns0:nvSpPr>
        <ns0:spPr>
          <ns1:xfrm>
            <ns1:off x="6638925" y="2493963"/>
            <ns1:ext cx="1108075" cy="3698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anchor="t">
            <ns1:normAutofit/>
          </ns1:bodyPr>
          <ns1:lstStyle/>
          <ns1:p>
            <ns1:r>
              <ns1:t>5. 核心实验结果——PoisonedRAG在黑盒/白盒场景下的攻击性能与基线对比</ns1:t>
            </ns1:r>
          </ns1:p>
          <ns1:p>
            <ns1:pPr/>
            <ns1:r>
              <ns1:t>6. 消融与鲁棒性分析——关键参数、系统组件及真实场景下的攻击有效性</ns1:t>
            </ns1:r>
          </ns1:p>
        </ns0:txBody>
      </ns0:sp>
      <ns0:grpSp>
        <ns0:nvGrpSpPr>
          <ns0:cNvPr id="84" name="组合 83"/>
          <ns0:cNvGrpSpPr/>
          <ns0:nvPr/>
        </ns0:nvGrpSpPr>
        <ns0:grpSpPr>
          <ns1:xfrm>
            <ns1:off x="6135688" y="2406650"/>
            <ns1:ext cx="496887" cy="523875"/>
            <ns1:chOff x="6073087" y="2637368"/>
            <ns1:chExt cx="497639" cy="523220"/>
          </ns1:xfrm>
        </ns0:grpSpPr>
        <ns0:sp>
          <ns0:nvSpPr>
            <ns0:cNvPr id="14354" name="文本框 26"/>
            <ns0:cNvSpPr txBox="1"/>
            <ns0:nvPr/>
          </ns0:nvSpPr>
          <ns0:spPr>
            <ns1:xfrm>
              <ns1:off x="6073087" y="2637368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5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86" name="直接连接符 85"/>
            <ns0:cNvCxnSpPr/>
            <ns0:nvPr/>
          </ns0:nvCxnSpPr>
          <ns0:spPr>
            <ns1:xfrm flipH="1">
              <ns1:off x="6324292" y="2807019"/>
              <ns1:ext cx="246434" cy="245754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87" name="文本框 30"/>
          <ns0:cNvSpPr txBox="1"/>
          <ns0:nvPr/>
        </ns0:nvSpPr>
        <ns0:spPr>
          <ns1:xfrm>
            <ns1:off x="4052888" y="3043238"/>
            <ns1:ext cx="1108075" cy="3698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square" anchor="t">
            <ns1:normAutofit/>
          </ns1:bodyPr>
          <ns1:lstStyle/>
          <ns1:p>
            <ns1:r>
              <ns1:t>7. 防御机制评估——主流防御策略对PoisonedRAG的抵御效果分析</ns1:t>
            </ns1:r>
          </ns1:p>
          <ns1:p>
            <ns1:pPr/>
            <ns1:r>
              <ns1:t>8. 研究总结与未来展望——PoisonedRAG的核心贡献与后续研究方向</ns1:t>
            </ns1:r>
          </ns1:p>
        </ns0:txBody>
      </ns0:sp>
      <ns0:grpSp>
        <ns0:nvGrpSpPr>
          <ns0:cNvPr id="88" name="组合 87"/>
          <ns0:cNvGrpSpPr/>
          <ns0:nvPr/>
        </ns0:nvGrpSpPr>
        <ns0:grpSpPr>
          <ns1:xfrm>
            <ns1:off x="3578225" y="2970213"/>
            <ns1:ext cx="466725" cy="523875"/>
            <ns1:chOff x="3516783" y="3200893"/>
            <ns1:chExt cx="466304" cy="523220"/>
          </ns1:xfrm>
        </ns0:grpSpPr>
        <ns0:sp>
          <ns0:nvSpPr>
            <ns0:cNvPr id="14358" name="文本框 29"/>
            <ns0:cNvSpPr txBox="1"/>
            <ns0:nvPr/>
          </ns0:nvSpPr>
          <ns0:spPr>
            <ns1:xfrm>
              <ns1:off x="3516783" y="3200893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3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90" name="直接连接符 89"/>
            <ns0:cNvCxnSpPr/>
            <ns0:nvPr/>
          </ns0:nvCxnSpPr>
          <ns0:spPr>
            <ns1:xfrm flipH="1">
              <ns1:off x="3737247" y="3380056"/>
              <ns1:ext cx="245840" cy="247340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sp>
        <ns0:nvSpPr>
          <ns0:cNvPr id="91" name="文本框 33"/>
          <ns0:cNvSpPr txBox="1"/>
          <ns0:nvPr/>
        </ns0:nvSpPr>
        <ns0:spPr>
          <ns1:xfrm>
            <ns1:off x="6638925" y="3068638"/>
            <ns1:ext cx="1108075" cy="369887"/>
          </ns1:xfrm>
          <ns1:prstGeom prst="rect">
            <ns1:avLst/>
          </ns1:prstGeom>
          <ns1:noFill/>
          <ns1:ln w="9525">
            <ns1:noFill/>
          </ns1:ln>
        </ns0:spPr>
        <ns0:txBody>
          <ns1:bodyPr wrap="none" anchor="t">
            <ns1:spAutoFit/>
          </ns1:bodyPr>
          <ns1:lstStyle/>
          <ns1:p>
            <ns1:r>
              <ns1:rPr lang="zh-CN" altLang="en-US" sz="1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参考文献</ns1:t>
            </ns1:r>
          </ns1:p>
        </ns0:txBody>
      </ns0:sp>
      <ns0:grpSp>
        <ns0:nvGrpSpPr>
          <ns0:cNvPr id="92" name="组合 91"/>
          <ns0:cNvGrpSpPr/>
          <ns0:nvPr/>
        </ns0:nvGrpSpPr>
        <ns0:grpSpPr>
          <ns1:xfrm>
            <ns1:off x="6135688" y="2981325"/>
            <ns1:ext cx="496887" cy="522288"/>
            <ns1:chOff x="6073087" y="3211111"/>
            <ns1:chExt cx="497639" cy="523220"/>
          </ns1:xfrm>
        </ns0:grpSpPr>
        <ns0:sp>
          <ns0:nvSpPr>
            <ns0:cNvPr id="14362" name="文本框 32"/>
            <ns0:cNvSpPr txBox="1"/>
            <ns0:nvPr/>
          </ns0:nvSpPr>
          <ns0:spPr>
            <ns1:xfrm>
              <ns1:off x="6073087" y="3211111"/>
              <ns1:ext cx="394659" cy="523220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en-US" altLang="zh-CN" sz="28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6</ns1:t>
              </ns1:r>
              <ns1:endParaRPr lang="zh-CN" altLang="en-US" sz="28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cxnSp>
          <ns0:nvCxnSpPr>
            <ns0:cNvPr id="94" name="直接连接符 93"/>
            <ns0:cNvCxnSpPr/>
            <ns0:nvPr/>
          </ns0:nvCxnSpPr>
          <ns0:spPr>
            <ns1:xfrm flipH="1">
              <ns1:off x="6324292" y="3381277"/>
              <ns1:ext cx="246434" cy="244911"/>
            </ns1:xfrm>
            <ns1:prstGeom prst="line">
              <ns1:avLst/>
            </ns1:prstGeom>
            <ns1:ln>
              <ns1:solidFill>
                <ns1:schemeClr val="bg1"/>
              </ns1:solidFill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</ns0:grpSp>
      <ns0:cxnSp>
        <ns0:nvCxnSpPr>
          <ns0:cNvPr id="95" name="直接连接符 94"/>
          <ns0:cNvCxnSpPr/>
          <ns0:nvPr/>
        </ns0:nvCxnSpPr>
        <ns0:spPr>
          <ns1:xfrm>
            <ns1:off x="3340100" y="1909763"/>
            <ns1:ext cx="0" cy="1546225"/>
          </ns1:xfrm>
          <ns1:prstGeom prst="line">
            <ns1:avLst/>
          </ns1:prstGeom>
          <ns1:ln>
            <ns1:solidFill>
              <ns1:schemeClr val="bg1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" presetClass="entr" presetSubtype="8" decel="6670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7" dur="500" fill="hold"/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8" dur="500" fill="hold"/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9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0" presetID="2" presetClass="entr" presetSubtype="1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2" dur="500" fill="hold"/>
                                        <ns0:tgtEl>
                                          <ns0:spTgt spid="95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13" dur="500" fill="hold"/>
                                        <ns0:tgtEl>
                                          <ns0:spTgt spid="95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15" presetID="10" presetClass="entr" presetSubtype="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1000"/>
                                        <ns0:tgtEl>
                                          <ns0:spTgt spid="7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" presetID="56" presetClass="path" presetSubtype="0" accel="50000" decel="5000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animMotion origin="layout" path="M -0.03733 0.04136 L 2.22222E-6 -9.87654E-7 " pathEditMode="relative" rAng="0" ptsTypes="AA">
                                      <ns0:cBhvr>
                                        <ns0:cTn id="19" dur="700" fill="hold"/>
                                        <ns0:tgtEl>
                                          <ns0:spTgt spid="72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20" presetID="22" presetClass="entr" presetSubtype="8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22" dur="500"/>
                                        <ns0:tgtEl>
                                          <ns0:spTgt spid="7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3" presetID="10" presetClass="entr" presetSubtype="0" fill="hold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5" dur="1000"/>
                                        <ns0:tgtEl>
                                          <ns0:spTgt spid="8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56" presetClass="path" presetSubtype="0" accel="50000" decel="50000" fill="hold" nodeType="withEffect">
                                  <ns0:stCondLst>
                                    <ns0:cond delay="250"/>
                                  </ns0:stCondLst>
                                  <ns0:childTnLst>
                                    <ns0:animMotion origin="layout" path="M -0.03733 0.04104 L 2.22222E-6 4.69136E-6 " pathEditMode="relative" rAng="0" ptsTypes="AA">
                                      <ns0:cBhvr>
                                        <ns0:cTn id="27" dur="700" fill="hold"/>
                                        <ns0:tgtEl>
                                          <ns0:spTgt spid="80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28" presetID="22" presetClass="entr" presetSubtype="8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30" dur="500"/>
                                        <ns0:tgtEl>
                                          <ns0:spTgt spid="7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1" presetID="10" presetClass="entr" presetSubtype="0" fill="hold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3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3" dur="1000"/>
                                        <ns0:tgtEl>
                                          <ns0:spTgt spid="8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4" presetID="56" presetClass="path" presetSubtype="0" accel="50000" decel="50000" fill="hold" nodeType="withEffect">
                                  <ns0:stCondLst>
                                    <ns0:cond delay="500"/>
                                  </ns0:stCondLst>
                                  <ns0:childTnLst>
                                    <ns0:animMotion origin="layout" path="M -0.03733 0.04104 L 2.22222E-6 4.93827E-6 " pathEditMode="relative" rAng="0" ptsTypes="AA">
                                      <ns0:cBhvr>
                                        <ns0:cTn id="35" dur="700" fill="hold"/>
                                        <ns0:tgtEl>
                                          <ns0:spTgt spid="88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36" presetID="22" presetClass="entr" presetSubtype="8" fill="hold" grpId="0" nodeType="withEffect">
                                  <ns0:stCondLst>
                                    <ns0:cond delay="750"/>
                                  </ns0:stCondLst>
                                  <ns0:childTnLst>
                                    <ns0:set>
                                      <ns0:cBhvr>
                                        <ns0:cTn id="3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38" dur="500"/>
                                        <ns0:tgtEl>
                                          <ns0:spTgt spid="8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9" presetID="10" presetClass="entr" presetSubtype="0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4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1" dur="1000"/>
                                        <ns0:tgtEl>
                                          <ns0:spTgt spid="7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2" presetID="56" presetClass="path" presetSubtype="0" accel="50000" decel="50000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animMotion origin="layout" path="M -0.03733 0.04136 L 2.22222E-6 -2.83951E-6 " pathEditMode="relative" rAng="0" ptsTypes="AA">
                                      <ns0:cBhvr>
                                        <ns0:cTn id="43" dur="700" fill="hold"/>
                                        <ns0:tgtEl>
                                          <ns0:spTgt spid="76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44" presetID="22" presetClass="entr" presetSubtype="8" fill="hold" grpId="0" nodeType="withEffect">
                                  <ns0:stCondLst>
                                    <ns0:cond delay="125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46" dur="500"/>
                                        <ns0:tgtEl>
                                          <ns0:spTgt spid="7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7" presetID="10" presetClass="entr" presetSubtype="0" fill="hold" nodeType="withEffect">
                                  <ns0:stCondLst>
                                    <ns0:cond delay="1250"/>
                                  </ns0:stCondLst>
                                  <ns0:childTnLst>
                                    <ns0:set>
                                      <ns0:cBhvr>
                                        <ns0:cTn id="4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9" dur="1000"/>
                                        <ns0:tgtEl>
                                          <ns0:spTgt spid="8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0" presetID="56" presetClass="path" presetSubtype="0" accel="50000" decel="50000" fill="hold" nodeType="withEffect">
                                  <ns0:stCondLst>
                                    <ns0:cond delay="1250"/>
                                  </ns0:stCondLst>
                                  <ns0:childTnLst>
                                    <ns0:animMotion origin="layout" path="M -0.03733 0.04105 L 2.22222E-6 2.83951E-6 " pathEditMode="relative" rAng="0" ptsTypes="AA">
                                      <ns0:cBhvr>
                                        <ns0:cTn id="51" dur="700" fill="hold"/>
                                        <ns0:tgtEl>
                                          <ns0:spTgt spid="84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52" presetID="22" presetClass="entr" presetSubtype="8" fill="hold" grpId="0" nodeType="withEffect">
                                  <ns0:stCondLst>
                                    <ns0:cond delay="1500"/>
                                  </ns0:stCondLst>
                                  <ns0:childTnLst>
                                    <ns0:set>
                                      <ns0:cBhvr>
                                        <ns0:cTn id="5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54" dur="500"/>
                                        <ns0:tgtEl>
                                          <ns0:spTgt spid="8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5" presetID="10" presetClass="entr" presetSubtype="0" fill="hold" nodeType="withEffect">
                                  <ns0:stCondLst>
                                    <ns0:cond delay="150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1000"/>
                                        <ns0:tgtEl>
                                          <ns0:spTgt spid="9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58" presetID="56" presetClass="path" presetSubtype="0" accel="50000" decel="50000" fill="hold" nodeType="withEffect">
                                  <ns0:stCondLst>
                                    <ns0:cond delay="1500"/>
                                  </ns0:stCondLst>
                                  <ns0:childTnLst>
                                    <ns0:animMotion origin="layout" path="M -0.03733 0.04105 L 2.22222E-6 3.08642E-6 " pathEditMode="relative" rAng="0" ptsTypes="AA">
                                      <ns0:cBhvr>
                                        <ns0:cTn id="59" dur="700" fill="hold"/>
                                        <ns0:tgtEl>
                                          <ns0:spTgt spid="92"/>
                                        </ns0:tgtEl>
                                        <ns0:attrNameLst>
                                          <ns0:attrName>ppt_x</ns0:attrName>
                                          <ns0:attrName>ppt_y</ns0:attrName>
                                        </ns0:attrNameLst>
                                      </ns0:cBhvr>
                                      <ns0:rCtr x="1900" y="-2100"/>
                                    </ns0:animMotion>
                                  </ns0:childTnLst>
                                </ns0:cTn>
                              </ns0:par>
                              <ns0:par>
                                <ns0:cTn id="60" presetID="22" presetClass="entr" presetSubtype="8" fill="hold" grpId="0" nodeType="withEffect">
                                  <ns0:stCondLst>
                                    <ns0:cond delay="175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62" dur="500"/>
                                        <ns0:tgtEl>
                                          <ns0:spTgt spid="9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71" grpId="0"/>
      <ns0:bldP spid="75" grpId="0"/>
      <ns0:bldP spid="79" grpId="0"/>
      <ns0:bldP spid="83" grpId="0"/>
      <ns0:bldP spid="87" grpId="0"/>
      <ns0:bldP spid="91" grpId="0"/>
    </ns0:bldLst>
  </ns0:timing>
</ns0:sld>
</file>

<file path=ppt/slides/slide7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15" name="椭圆 14"/>
          <ns0:cNvSpPr/>
          <ns0:nvPr/>
        </ns0:nvSpPr>
        <ns0:spPr>
          <ns1:xfrm>
            <ns1:off x="3349625" y="1535113"/>
            <ns1:ext cx="2400300" cy="2400300"/>
          </ns1:xfrm>
          <ns1:prstGeom prst="ellipse">
            <ns1:avLst/>
          </ns1:prstGeom>
          <ns1:noFill/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lt1"/>
              </ns1:solidFill>
              <ns1:effectLst/>
              <ns1:uLnTx/>
              <ns1:uFillTx/>
              <ns1:latin typeface="微软雅黑" panose="020B0503020204020204" pitchFamily="34" charset="-122"/>
              <ns1:ea typeface="+mn-ea"/>
              <ns1:cs typeface="+mn-cs"/>
            </ns1:endParaRPr>
          </ns1:p>
        </ns0:txBody>
      </ns0:sp>
      <ns0:sp>
        <ns0:nvSpPr>
          <ns0:cNvPr id="16" name="椭圆 15"/>
          <ns0:cNvSpPr/>
          <ns0:nvPr/>
        </ns0:nvSpPr>
        <ns0:spPr>
          <ns1:xfrm>
            <ns1:off x="2984500" y="1169988"/>
            <ns1:ext cx="3130550" cy="3130550"/>
          </ns1:xfrm>
          <ns1:prstGeom prst="ellipse">
            <ns1:avLst/>
          </ns1:prstGeom>
          <ns1:noFill/>
          <ns1:ln w="3175"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结论：早期LLM攻击体系：提示注入、越狱等攻击针对纯LLM场景，通过恶意输入操控模型输出</ns1:t>
            </ns1: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lt1"/>
              </ns1:solidFill>
              <ns1:effectLst/>
              <ns1:uLnTx/>
              <ns1:uFillTx/>
              <ns1:latin typeface="微软雅黑" panose="020B0503020204020204" pitchFamily="34" charset="-122"/>
              <ns1:ea typeface="+mn-ea"/>
              <ns1:cs typeface="+mn-cs"/>
            </ns1:endParaRPr>
          </ns1:p>
          <ns1:p>
            <ns1:pPr/>
            <ns1:r>
              <ns1:t>RAG场景适配尝试：将传统LLM攻击扩展到RAG系统，但未适配检索器核心环节</ns1:t>
            </ns1:r>
          </ns1:p>
          <ns1:p>
            <ns1:pPr/>
            <ns1:r>
              <ns1:t>现有攻击局限性凸显：提示注入因检索相关性过滤性能不佳；越狱攻击目标与RAG投毒正交；传统数据投毒需污染模型训练集，商用RAG场景难以实施</ns1:t>
            </ns1:r>
          </ns1:p>
        </ns0:txBody>
      </ns0:sp>
      <ns0:grpSp>
        <ns0:nvGrpSpPr>
          <ns0:cNvPr id="17" name="组合 16"/>
          <ns0:cNvGrpSpPr/>
          <ns0:nvPr/>
        </ns0:nvGrpSpPr>
        <ns0:grpSpPr>
          <ns1:xfrm>
            <ns1:off x="6172200" y="1319213"/>
            <ns1:ext cx="2863850" cy="1157287"/>
            <ns1:chOff x="544923" y="2418093"/>
            <ns1:chExt cx="3820097" cy="1542263"/>
          </ns1:xfrm>
        </ns0:grpSpPr>
        <ns0:sp>
          <ns0:nvSpPr>
            <ns0:cNvPr id="24580" name="矩形 17"/>
            <ns0:cNvSpPr/>
            <ns0:nvPr/>
          </ns0:nvSpPr>
          <ns0:spPr>
            <ns1:xfrm>
              <ns1:off x="544923" y="2729244"/>
              <ns1:ext cx="3820097" cy="123111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81" name="文本框 17"/>
            <ns0:cNvSpPr txBox="1"/>
            <ns0:nvPr/>
          </ns0:nvSpPr>
          <ns0:spPr>
            <ns1:xfrm>
              <ns1:off x="544923" y="2418093"/>
              <ns1:ext cx="1272143" cy="43088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1" name="组合 20"/>
          <ns0:cNvGrpSpPr/>
          <ns0:nvPr/>
        </ns0:nvGrpSpPr>
        <ns0:grpSpPr>
          <ns1:xfrm>
            <ns1:off x="38100" y="2478088"/>
            <ns1:ext cx="2865438" cy="1127125"/>
            <ns1:chOff x="449775" y="2458453"/>
            <ns1:chExt cx="3820096" cy="1501900"/>
          </ns1:xfrm>
        </ns0:grpSpPr>
        <ns0:sp>
          <ns0:nvSpPr>
            <ns0:cNvPr id="24583" name="矩形 21"/>
            <ns0:cNvSpPr/>
            <ns0:nvPr/>
          </ns0:nvSpPr>
          <ns0:spPr>
            <ns1:xfrm>
              <ns1:off x="449775" y="2729361"/>
              <ns1:ext cx="3820096" cy="123099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84" name="文本框 24"/>
            <ns0:cNvSpPr txBox="1"/>
            <ns0:nvPr/>
          </ns0:nvSpPr>
          <ns0:spPr>
            <ns1:xfrm>
              <ns1:off x="2512785" y="2458453"/>
              <ns1:ext cx="1272143" cy="43088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5" name="组合 24"/>
          <ns0:cNvGrpSpPr/>
          <ns0:nvPr/>
        </ns0:nvGrpSpPr>
        <ns0:grpSpPr>
          <ns1:xfrm>
            <ns1:off x="3706813" y="1892300"/>
            <ns1:ext cx="1685925" cy="1685925"/>
            <ns1:chOff x="4862685" y="2533650"/>
            <ns1:chExt cx="2247900" cy="2247900"/>
          </ns1:xfrm>
        </ns0:grpSpPr>
        <ns0:sp>
          <ns0:nvSpPr>
            <ns0:cNvPr id="26" name="椭圆 25"/>
            <ns0:cNvSpPr/>
            <ns0:nvPr/>
          </ns0:nvSpPr>
          <ns0:spPr>
            <ns1:xfrm>
              <ns1:off x="4862685" y="2533650"/>
              <ns1:ext cx="2247900" cy="2247900"/>
            </ns1:xfrm>
            <ns1:prstGeom prst="ellipse">
              <ns1:avLst/>
            </ns1:prstGeom>
            <ns1:noFill/>
            <ns1:ln>
              <ns1:solidFill>
                <ns1:schemeClr val="bg1"/>
              </ns1:solidFill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>
                <ns1:ln>
                  <ns1:noFill/>
                </ns1:ln>
                <ns1:solidFill>
                  <ns1:schemeClr val="lt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  <ns0:sp>
          <ns0:nvSpPr>
            <ns0:cNvPr id="27" name="Freeform 7"/>
            <ns0:cNvSpPr>
              <ns1:spLocks noChangeAspect="1" noEditPoints="1"/>
            </ns0:cNvSpPr>
            <ns0:nvPr/>
          </ns0:nvSpPr>
          <ns0:spPr bwMode="auto">
            <ns1:xfrm>
              <ns1:off x="5599285" y="3172883"/>
              <ns1:ext cx="774700" cy="575733"/>
            </ns1:xfrm>
            <ns1:custGeom>
              <ns1:avLst/>
              <ns1:gdLst>
                <ns1:gd name="T0" fmla="*/ 485 w 527"/>
                <ns1:gd name="T1" fmla="*/ 294 h 394"/>
                <ns1:gd name="T2" fmla="*/ 42 w 527"/>
                <ns1:gd name="T3" fmla="*/ 294 h 394"/>
                <ns1:gd name="T4" fmla="*/ 9 w 527"/>
                <ns1:gd name="T5" fmla="*/ 359 h 394"/>
                <ns1:gd name="T6" fmla="*/ 518 w 527"/>
                <ns1:gd name="T7" fmla="*/ 359 h 394"/>
                <ns1:gd name="T8" fmla="*/ 485 w 527"/>
                <ns1:gd name="T9" fmla="*/ 294 h 394"/>
                <ns1:gd name="T10" fmla="*/ 208 w 527"/>
                <ns1:gd name="T11" fmla="*/ 343 h 394"/>
                <ns1:gd name="T12" fmla="*/ 222 w 527"/>
                <ns1:gd name="T13" fmla="*/ 317 h 394"/>
                <ns1:gd name="T14" fmla="*/ 307 w 527"/>
                <ns1:gd name="T15" fmla="*/ 317 h 394"/>
                <ns1:gd name="T16" fmla="*/ 319 w 527"/>
                <ns1:gd name="T17" fmla="*/ 343 h 394"/>
                <ns1:gd name="T18" fmla="*/ 208 w 527"/>
                <ns1:gd name="T19" fmla="*/ 343 h 394"/>
                <ns1:gd name="T20" fmla="*/ 478 w 527"/>
                <ns1:gd name="T21" fmla="*/ 280 h 394"/>
                <ns1:gd name="T22" fmla="*/ 478 w 527"/>
                <ns1:gd name="T23" fmla="*/ 278 h 394"/>
                <ns1:gd name="T24" fmla="*/ 478 w 527"/>
                <ns1:gd name="T25" fmla="*/ 277 h 394"/>
                <ns1:gd name="T26" fmla="*/ 478 w 527"/>
                <ns1:gd name="T27" fmla="*/ 12 h 394"/>
                <ns1:gd name="T28" fmla="*/ 465 w 527"/>
                <ns1:gd name="T29" fmla="*/ 0 h 394"/>
                <ns1:gd name="T30" fmla="*/ 62 w 527"/>
                <ns1:gd name="T31" fmla="*/ 0 h 394"/>
                <ns1:gd name="T32" fmla="*/ 49 w 527"/>
                <ns1:gd name="T33" fmla="*/ 12 h 394"/>
                <ns1:gd name="T34" fmla="*/ 49 w 527"/>
                <ns1:gd name="T35" fmla="*/ 277 h 394"/>
                <ns1:gd name="T36" fmla="*/ 50 w 527"/>
                <ns1:gd name="T37" fmla="*/ 278 h 394"/>
                <ns1:gd name="T38" fmla="*/ 49 w 527"/>
                <ns1:gd name="T39" fmla="*/ 280 h 394"/>
                <ns1:gd name="T40" fmla="*/ 49 w 527"/>
                <ns1:gd name="T41" fmla="*/ 280 h 394"/>
                <ns1:gd name="T42" fmla="*/ 478 w 527"/>
                <ns1:gd name="T43" fmla="*/ 280 h 394"/>
                <ns1:gd name="T44" fmla="*/ 447 w 527"/>
                <ns1:gd name="T45" fmla="*/ 259 h 394"/>
                <ns1:gd name="T46" fmla="*/ 80 w 527"/>
                <ns1:gd name="T47" fmla="*/ 259 h 394"/>
                <ns1:gd name="T48" fmla="*/ 80 w 527"/>
                <ns1:gd name="T49" fmla="*/ 30 h 394"/>
                <ns1:gd name="T50" fmla="*/ 447 w 527"/>
                <ns1:gd name="T51" fmla="*/ 30 h 394"/>
                <ns1:gd name="T52" fmla="*/ 447 w 527"/>
                <ns1:gd name="T53" fmla="*/ 259 h 394"/>
                <ns1:gd name="T54" fmla="*/ 526 w 527"/>
                <ns1:gd name="T55" fmla="*/ 373 h 394"/>
                <ns1:gd name="T56" fmla="*/ 1 w 527"/>
                <ns1:gd name="T57" fmla="*/ 373 h 394"/>
                <ns1:gd name="T58" fmla="*/ 0 w 527"/>
                <ns1:gd name="T59" fmla="*/ 376 h 394"/>
                <ns1:gd name="T60" fmla="*/ 12 w 527"/>
                <ns1:gd name="T61" fmla="*/ 394 h 394"/>
                <ns1:gd name="T62" fmla="*/ 515 w 527"/>
                <ns1:gd name="T63" fmla="*/ 394 h 394"/>
                <ns1:gd name="T64" fmla="*/ 527 w 527"/>
                <ns1:gd name="T65" fmla="*/ 376 h 394"/>
                <ns1:gd name="T66" fmla="*/ 526 w 527"/>
                <ns1:gd name="T67" fmla="*/ 373 h 39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</ns1:cxnLst>
              <ns1:rect l="0" t="0" r="r" b="b"/>
              <ns1:pathLst>
                <ns1:path w="527" h="394">
                  <ns1:moveTo>
                    <ns1:pt x="485" y="294"/>
                  </ns1:moveTo>
                  <ns1:cubicBezTo>
                    <ns1:pt x="42" y="294"/>
                    <ns1:pt x="42" y="294"/>
                    <ns1:pt x="42" y="294"/>
                  </ns1:cubicBezTo>
                  <ns1:cubicBezTo>
                    <ns1:pt x="9" y="359"/>
                    <ns1:pt x="9" y="359"/>
                    <ns1:pt x="9" y="359"/>
                  </ns1:cubicBezTo>
                  <ns1:cubicBezTo>
                    <ns1:pt x="518" y="359"/>
                    <ns1:pt x="518" y="359"/>
                    <ns1:pt x="518" y="359"/>
                  </ns1:cubicBezTo>
                  <ns1:lnTo>
                    <ns1:pt x="485" y="294"/>
                  </ns1:lnTo>
                  <ns1:close/>
                  <ns1:moveTo>
                    <ns1:pt x="208" y="343"/>
                  </ns1:moveTo>
                  <ns1:cubicBezTo>
                    <ns1:pt x="222" y="317"/>
                    <ns1:pt x="222" y="317"/>
                    <ns1:pt x="222" y="317"/>
                  </ns1:cubicBezTo>
                  <ns1:cubicBezTo>
                    <ns1:pt x="307" y="317"/>
                    <ns1:pt x="307" y="317"/>
                    <ns1:pt x="307" y="317"/>
                  </ns1:cubicBezTo>
                  <ns1:cubicBezTo>
                    <ns1:pt x="319" y="343"/>
                    <ns1:pt x="319" y="343"/>
                    <ns1:pt x="319" y="343"/>
                  </ns1:cubicBezTo>
                  <ns1:lnTo>
                    <ns1:pt x="208" y="343"/>
                  </ns1:lnTo>
                  <ns1:close/>
                  <ns1:moveTo>
                    <ns1:pt x="478" y="280"/>
                  </ns1:moveTo>
                  <ns1:cubicBezTo>
                    <ns1:pt x="478" y="279"/>
                    <ns1:pt x="478" y="279"/>
                    <ns1:pt x="478" y="278"/>
                  </ns1:cubicBezTo>
                  <ns1:cubicBezTo>
                    <ns1:pt x="478" y="278"/>
                    <ns1:pt x="478" y="278"/>
                    <ns1:pt x="478" y="277"/>
                  </ns1:cubicBezTo>
                  <ns1:cubicBezTo>
                    <ns1:pt x="478" y="12"/>
                    <ns1:pt x="478" y="12"/>
                    <ns1:pt x="478" y="12"/>
                  </ns1:cubicBezTo>
                  <ns1:cubicBezTo>
                    <ns1:pt x="478" y="5"/>
                    <ns1:pt x="472" y="0"/>
                    <ns1:pt x="465" y="0"/>
                  </ns1:cubicBezTo>
                  <ns1:cubicBezTo>
                    <ns1:pt x="62" y="0"/>
                    <ns1:pt x="62" y="0"/>
                    <ns1:pt x="62" y="0"/>
                  </ns1:cubicBezTo>
                  <ns1:cubicBezTo>
                    <ns1:pt x="55" y="0"/>
                    <ns1:pt x="49" y="5"/>
                    <ns1:pt x="49" y="12"/>
                  </ns1:cubicBezTo>
                  <ns1:cubicBezTo>
                    <ns1:pt x="49" y="277"/>
                    <ns1:pt x="49" y="277"/>
                    <ns1:pt x="49" y="277"/>
                  </ns1:cubicBezTo>
                  <ns1:cubicBezTo>
                    <ns1:pt x="49" y="278"/>
                    <ns1:pt x="50" y="278"/>
                    <ns1:pt x="50" y="278"/>
                  </ns1:cubicBezTo>
                  <ns1:cubicBezTo>
                    <ns1:pt x="50" y="279"/>
                    <ns1:pt x="49" y="279"/>
                    <ns1:pt x="49" y="280"/>
                  </ns1:cubicBezTo>
                  <ns1:cubicBezTo>
                    <ns1:pt x="49" y="280"/>
                    <ns1:pt x="49" y="280"/>
                    <ns1:pt x="49" y="280"/>
                  </ns1:cubicBezTo>
                  <ns1:cubicBezTo>
                    <ns1:pt x="478" y="280"/>
                    <ns1:pt x="478" y="280"/>
                    <ns1:pt x="478" y="280"/>
                  </ns1:cubicBezTo>
                  <ns1:close/>
                  <ns1:moveTo>
                    <ns1:pt x="447" y="259"/>
                  </ns1:moveTo>
                  <ns1:cubicBezTo>
                    <ns1:pt x="80" y="259"/>
                    <ns1:pt x="80" y="259"/>
                    <ns1:pt x="80" y="259"/>
                  </ns1:cubicBezTo>
                  <ns1:cubicBezTo>
                    <ns1:pt x="80" y="30"/>
                    <ns1:pt x="80" y="30"/>
                    <ns1:pt x="80" y="30"/>
                  </ns1:cubicBezTo>
                  <ns1:cubicBezTo>
                    <ns1:pt x="447" y="30"/>
                    <ns1:pt x="447" y="30"/>
                    <ns1:pt x="447" y="30"/>
                  </ns1:cubicBezTo>
                  <ns1:lnTo>
                    <ns1:pt x="447" y="259"/>
                  </ns1:lnTo>
                  <ns1:close/>
                  <ns1:moveTo>
                    <ns1:pt x="526" y="373"/>
                  </ns1:moveTo>
                  <ns1:cubicBezTo>
                    <ns1:pt x="1" y="373"/>
                    <ns1:pt x="1" y="373"/>
                    <ns1:pt x="1" y="373"/>
                  </ns1:cubicBezTo>
                  <ns1:cubicBezTo>
                    <ns1:pt x="0" y="376"/>
                    <ns1:pt x="0" y="376"/>
                    <ns1:pt x="0" y="376"/>
                  </ns1:cubicBezTo>
                  <ns1:cubicBezTo>
                    <ns1:pt x="0" y="382"/>
                    <ns1:pt x="6" y="394"/>
                    <ns1:pt x="12" y="394"/>
                  </ns1:cubicBezTo>
                  <ns1:cubicBezTo>
                    <ns1:pt x="515" y="394"/>
                    <ns1:pt x="515" y="394"/>
                    <ns1:pt x="515" y="394"/>
                  </ns1:cubicBezTo>
                  <ns1:cubicBezTo>
                    <ns1:pt x="521" y="394"/>
                    <ns1:pt x="527" y="382"/>
                    <ns1:pt x="527" y="376"/>
                  </ns1:cubicBezTo>
                  <ns1:lnTo>
                    <ns1:pt x="526" y="373"/>
                  </ns1:lnTo>
                  <ns1:close/>
                </ns1:path>
              </ns1:pathLst>
            </ns1:custGeom>
            <ns1:noFill/>
            <ns1:ln>
              <ns1:solidFill>
                <ns1:schemeClr val="bg1"/>
              </ns1:solidFill>
            </ns1:ln>
          </ns0:spPr>
          <ns0:txBody>
            <ns1:bodyPr/>
            <ns1:lstStyle/>
            <ns1:p>
              <ns1:pPr marL="0" marR="0" lvl="0" indent="0" algn="l" defTabSz="78359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800" b="0" i="0" u="none" strike="noStrike" kern="0" cap="none" spc="0" normalizeH="0" baseline="0" noProof="0">
                <ns1:ln>
                  <ns1:noFill/>
                </ns1:ln>
                <ns1:solidFill>
                  <ns1:srgbClr val="464646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  <ns0:sp>
          <ns0:nvSpPr>
            <ns0:cNvPr id="49170" name="文本框 27"/>
            <ns0:cNvSpPr txBox="1">
              <ns1:spLocks noChangeArrowheads="1"/>
            </ns0:cNvSpPr>
            <ns0:nvPr/>
          </ns0:nvSpPr>
          <ns0:spPr bwMode="auto">
            <ns1:xfrm>
              <ns1:off x="5345272" y="3939754"/>
              <ns1:ext cx="1340537" cy="451405"/>
            </ns1:xfrm>
            <ns1:prstGeom prst="rect">
              <ns1:avLst/>
            </ns1:prstGeom>
            <ns1:noFill/>
            <ns1:ln w="9525">
              <ns1:noFill/>
              <ns1:miter lim="800000"/>
            </ns1:ln>
          </ns0:spPr>
          <ns0:txBody>
            <ns1:bodyPr wrap="none">
              <ns1:spAutoFit/>
            </ns1:bodyPr>
            <ns1:lstStyle>
              <ns1:lvl1pPr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1pPr>
              <ns1:lvl2pPr marL="742950" indent="-28575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2pPr>
              <ns1:lvl3pPr marL="11430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3pPr>
              <ns1:lvl4pPr marL="16002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4pPr>
              <ns1:lvl5pPr marL="2057400" indent="-228600"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5pPr>
              <ns1:lvl6pPr marL="25146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6pPr>
              <ns1:lvl7pPr marL="29718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7pPr>
              <ns1:lvl8pPr marL="34290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8pPr>
              <ns1:lvl9pPr marL="3886200" indent="-228600" defTabSz="685800" fontAlgn="base">
                <ns1:spcBef>
                  <ns1:spcPct val="0"/>
                </ns1:spcBef>
                <ns1:spcAft>
                  <ns1:spcPct val="0"/>
                </ns1:spcAft>
                <ns1:defRPr sz="1300">
                  <ns1:solidFill>
                    <ns1:schemeClr val="tx1"/>
                  </ns1:solidFill>
                  <ns1:latin typeface="Arial" panose="020B0604020202020204" pitchFamily="34" charset="0"/>
                  <ns1:ea typeface="微软雅黑" panose="020B0503020204020204" pitchFamily="34" charset="-122"/>
                </ns1:defRPr>
              </ns1:lvl9pPr>
            </ns1:lstStyle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600" b="0" i="0" u="none" strike="noStrike" kern="1200" cap="none" spc="0" normalizeH="0" baseline="0" noProof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研究目标</ns1:t>
              </ns1:r>
            </ns1:p>
          </ns0:txBody>
        </ns0:sp>
      </ns0:grpSp>
      <ns0:grpSp>
        <ns0:nvGrpSpPr>
          <ns0:cNvPr id="29" name="组合 28"/>
          <ns0:cNvGrpSpPr/>
          <ns0:nvPr/>
        </ns0:nvGrpSpPr>
        <ns0:grpSpPr>
          <ns1:xfrm>
            <ns1:off x="5462286" y="910809"/>
            <ns1:ext cx="594066" cy="694438"/>
            <ns1:chOff x="7181637" y="1258060"/>
            <ns1:chExt cx="792088" cy="925917"/>
          </ns1:xfrm>
          <ns1:solidFill>
            <ns1:schemeClr val="accent6">
              <ns1:lumMod val="75000"/>
            </ns1:schemeClr>
          </ns1:solidFill>
        </ns0:grpSpPr>
        <ns0:grpSp>
          <ns0:nvGrpSpPr>
            <ns0:cNvPr id="30" name="组合 29"/>
            <ns0:cNvGrpSpPr/>
            <ns0:nvPr/>
          </ns0:nvGrpSpPr>
          <ns0:grpSpPr>
            <ns1:xfrm rot="1291582">
              <ns1:off x="7181637" y="1258060"/>
              <ns1:ext cx="792088" cy="925917"/>
              <ns1:chOff x="6744072" y="893003"/>
              <ns1:chExt cx="792088" cy="925917"/>
            </ns1:xfrm>
            <ns1:grpFill/>
          </ns0:grpSpPr>
          <ns0:sp>
            <ns0:nvSpPr>
              <ns0:cNvPr id="32" name="流程图: 联系 31"/>
              <ns0:cNvSpPr/>
              <ns0:nvPr/>
            </ns0:nvSpPr>
            <ns0:spPr>
              <ns1:xfrm>
                <ns1:off x="6744072" y="893003"/>
                <ns1:ext cx="792088" cy="792088"/>
              </ns1:xfrm>
              <ns1:prstGeom prst="flowChartConnector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  <ns0:sp>
            <ns0:nvSpPr>
              <ns0:cNvPr id="33" name="等腰三角形 32"/>
              <ns0:cNvSpPr/>
              <ns0:nvPr/>
            </ns0:nvSpPr>
            <ns0:spPr>
              <ns1:xfrm rot="11236714">
                <ns1:off x="6940431" y="1651076"/>
                <ns1:ext cx="216024" cy="167844"/>
              </ns1:xfrm>
              <ns1:prstGeom prst="triangle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</ns0:grpSp>
        <ns0:sp>
          <ns0:nvSpPr>
            <ns0:cNvPr id="31" name="文本框 28"/>
            <ns0:cNvSpPr txBox="1"/>
            <ns0:nvPr/>
          </ns0:nvSpPr>
          <ns0:spPr>
            <ns1:xfrm>
              <ns1:off x="7423168" y="1475477"/>
              <ns1:ext cx="438581" cy="430886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50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rPr>
                <ns1:t>????</ns1:t>
              </ns1:r>
              <ns1:endPara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</ns0:grpSp>
      <ns0:grpSp>
        <ns0:nvGrpSpPr>
          <ns0:cNvPr id="34" name="组合 33"/>
          <ns0:cNvGrpSpPr/>
          <ns0:nvPr/>
        </ns0:nvGrpSpPr>
        <ns0:grpSpPr>
          <ns1:xfrm>
            <ns1:off x="2777028" y="1899722"/>
            <ns1:ext cx="704169" cy="594066"/>
            <ns1:chOff x="3794408" y="2708245"/>
            <ns1:chExt cx="938886" cy="792088"/>
          </ns1:xfrm>
          <ns1:solidFill>
            <ns1:schemeClr val="accent6">
              <ns1:lumMod val="75000"/>
            </ns1:schemeClr>
          </ns1:solidFill>
        </ns0:grpSpPr>
        <ns0:grpSp>
          <ns0:nvGrpSpPr>
            <ns0:cNvPr id="35" name="组合 34"/>
            <ns0:cNvGrpSpPr/>
            <ns0:nvPr/>
          </ns0:nvGrpSpPr>
          <ns0:grpSpPr>
            <ns1:xfrm rot="18172526">
              <ns1:off x="3867807" y="2634846"/>
              <ns1:ext cx="792088" cy="938886"/>
              <ns1:chOff x="6744072" y="893003"/>
              <ns1:chExt cx="792088" cy="938886"/>
            </ns1:xfrm>
            <ns1:grpFill/>
          </ns0:grpSpPr>
          <ns0:sp>
            <ns0:nvSpPr>
              <ns0:cNvPr id="37" name="流程图: 联系 36"/>
              <ns0:cNvSpPr/>
              <ns0:nvPr/>
            </ns0:nvSpPr>
            <ns0:spPr>
              <ns1:xfrm>
                <ns1:off x="6744072" y="893003"/>
                <ns1:ext cx="792088" cy="792088"/>
              </ns1:xfrm>
              <ns1:prstGeom prst="flowChartConnector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  <ns0:sp>
            <ns0:nvSpPr>
              <ns0:cNvPr id="38" name="等腰三角形 37"/>
              <ns0:cNvSpPr/>
              <ns0:nvPr/>
            </ns0:nvSpPr>
            <ns0:spPr>
              <ns1:xfrm rot="11236714">
                <ns1:off x="6980835" y="1664045"/>
                <ns1:ext cx="216024" cy="167844"/>
              </ns1:xfrm>
              <ns1:prstGeom prst="triangle">
                <ns1:avLst/>
              </ns1:prstGeom>
              <ns1:solidFill>
                <ns1:schemeClr val="bg1">
                  <ns1:alpha val="30000"/>
                </ns1:schemeClr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anchor="ctr"/>
              <ns1:lstStyle/>
              <ns1:p>
                <ns1:pPr marL="0" marR="0" lvl="0" indent="0" algn="ctr" defTabSz="6858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defRPr/>
                </ns1:pPr>
                <ns1:endParaRPr kumimoji="0" lang="zh-CN" altLang="en-US" sz="1350" b="0" i="0" u="none" strike="noStrike" kern="1200" cap="none" spc="0" normalizeH="0" baseline="0" noProof="0">
                  <ns1:ln>
                    <ns1:noFill/>
                  </ns1:ln>
                  <ns1:solidFill>
                    <ns1:schemeClr val="lt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endParaRPr>
              </ns1:p>
            </ns0:txBody>
          </ns0:sp>
        </ns0:grpSp>
        <ns0:sp>
          <ns0:nvSpPr>
            <ns0:cNvPr id="36" name="文本框 29"/>
            <ns0:cNvSpPr txBox="1"/>
            <ns0:nvPr/>
          </ns0:nvSpPr>
          <ns0:spPr>
            <ns1:xfrm>
              <ns1:off x="3975023" y="2864393"/>
              <ns1:ext cx="406522" cy="430887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50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+mn-ea"/>
                  <ns1:cs typeface="+mn-cs"/>
                </ns1:rPr>
                <ns1:t>????</ns1:t>
              </ns1:r>
              <ns1:endPara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+mn-ea"/>
                <ns1:cs typeface="+mn-cs"/>
              </ns1:endParaRPr>
            </ns1:p>
          </ns0:txBody>
        </ns0:sp>
      </ns0:grpSp>
      <ns0:grpSp>
        <ns0:nvGrpSpPr>
          <ns0:cNvPr id="39" name="组合 38"/>
          <ns0:cNvGrpSpPr/>
          <ns0:nvPr/>
        </ns0:nvGrpSpPr>
        <ns0:grpSpPr>
          <ns1:xfrm>
            <ns1:off x="900113" y="4151313"/>
            <ns1:ext cx="7632700" cy="1200150"/>
            <ns1:chOff x="544923" y="2418093"/>
            <ns1:chExt cx="6674776" cy="1599480"/>
          </ns1:xfrm>
        </ns0:grpSpPr>
        <ns0:sp>
          <ns0:nvSpPr>
            <ns0:cNvPr id="24592" name="矩形 39"/>
            <ns0:cNvSpPr/>
            <ns0:nvPr/>
          </ns0:nvSpPr>
          <ns0:spPr>
            <ns1:xfrm>
              <ns1:off x="544923" y="2786410"/>
              <ns1:ext cx="6674776" cy="1231163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anchor="t">
              <ns1:spAutoFit/>
            </ns1:bodyPr>
            <ns1:lstStyle/>
            <ns1:p>
              <ns1:pPr>
                <ns1:lnSpc>
                  <ns1:spcPct val="150000"/>
                </ns1:lnSpc>
              </ns1:pPr>
              <ns1:r>
                <ns1:rPr lang="zh-CN" altLang="en-US" sz="12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  <ns1:p>
              <ns1:pPr>
                <ns1:lnSpc>
                  <ns1:spcPct val="150000"/>
                </ns1:lnSpc>
              </ns1:pPr>
              <ns1:endParaRPr lang="en-US" altLang="zh-CN" sz="12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24593" name="文本框 32"/>
            <ns0:cNvSpPr txBox="1"/>
            <ns0:nvPr/>
          </ns0:nvSpPr>
          <ns0:spPr>
            <ns1:xfrm>
              <ns1:off x="544923" y="2418093"/>
              <ns1:ext cx="834364" cy="430906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15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pic>
        <ns0:nvPicPr>
          <ns0:cNvPr id="24594" name="图片 40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43" name="文本框 42"/>
          <ns0:cNvSpPr txBox="1"/>
          <ns0:nvPr/>
        </ns0:nvSpPr>
        <ns0:spPr>
          <ns1:xfrm>
            <ns1:off x="411163" y="371475"/>
            <ns1:ext cx="1760538" cy="338138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研究背景与问题提出——RAG系统的安全隐患与现有攻击的局限性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53" presetClass="entr" presetSubtype="16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7" dur="300" fill="hold"/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8" dur="300" fill="hold"/>
                                        <ns0:tgtEl>
                                          <ns0:spTgt spid="2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9" dur="300"/>
                                        <ns0:tgtEl>
                                          <ns0:spTgt spid="2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0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1" presetID="53" presetClass="entr" presetSubtype="1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3" dur="300" fill="hold"/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4" dur="300" fill="hold"/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15" dur="30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6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17" presetID="53" presetClass="entr" presetSubtype="1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9" dur="300" fill="hold"/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0" dur="300" fill="hold"/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21" dur="30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2" fill="hold">
                            <ns0:stCondLst>
                              <ns0:cond delay="1500"/>
                            </ns0:stCondLst>
                            <ns0:childTnLst>
                              <ns0:par>
                                <ns0:cTn id="23" presetID="2" presetClass="entr" presetSubtype="3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25" dur="500" fill="hold"/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6" dur="500" fill="hold"/>
                                        <ns0:tgtEl>
                                          <ns0:spTgt spid="2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7" presetID="26" presetClass="emph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animEffect transition="out" filter="fade">
                                      <ns0:cBhvr>
                                        <ns0:cTn id="28" dur="500" tmFilter="0, 0; .2, .5; .8, .5; 1, 0"/>
                                        <ns0:tgtEl>
                                          <ns0:spTgt spid="29"/>
                                        </ns0:tgtEl>
                                      </ns0:cBhvr>
                                    </ns0:animEffect>
                                    <ns0:animScale>
                                      <ns0:cBhvr>
                                        <ns0:cTn id="29" dur="250" autoRev="1" fill="hold"/>
                                        <ns0:tgtEl>
                                          <ns0:spTgt spid="29"/>
                                        </ns0:tgtEl>
                                      </ns0:cBhvr>
                                      <ns0:by x="105000" y="105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30" presetID="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2" dur="500" fill="hold"/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3" dur="500" fill="hold"/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4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35" presetID="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37" dur="500" fill="hold"/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38" dur="500" fill="hold"/>
                                        <ns0:tgtEl>
                                          <ns0:spTgt spid="3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9" presetID="26" presetClass="emph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animEffect transition="out" filter="fade">
                                      <ns0:cBhvr>
                                        <ns0:cTn id="40" dur="500" tmFilter="0, 0; .2, .5; .8, .5; 1, 0"/>
                                        <ns0:tgtEl>
                                          <ns0:spTgt spid="34"/>
                                        </ns0:tgtEl>
                                      </ns0:cBhvr>
                                    </ns0:animEffect>
                                    <ns0:animScale>
                                      <ns0:cBhvr>
                                        <ns0:cTn id="41" dur="250" autoRev="1" fill="hold"/>
                                        <ns0:tgtEl>
                                          <ns0:spTgt spid="34"/>
                                        </ns0:tgtEl>
                                      </ns0:cBhvr>
                                      <ns0:by x="105000" y="105000"/>
                                    </ns0:animScale>
                                  </ns0:childTnLst>
                                </ns0:cTn>
                              </ns0:par>
                              <ns0:par>
                                <ns0:cTn id="42" presetID="2" presetClass="entr" presetSubtype="8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44" dur="500" fill="hold"/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45" dur="500" fill="hold"/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46" presetID="18" presetClass="entr" presetSubtype="6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8" dur="1000"/>
                                        <ns0:tgtEl>
                                          <ns0:spTgt spid="3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15" grpId="0" animBg="1"/>
      <ns0:bldP spid="16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0" name="组合 19"/>
          <ns0:cNvGrpSpPr/>
          <ns0:nvPr/>
        </ns0:nvGrpSpPr>
        <ns0:grpSpPr>
          <ns1:xfrm>
            <ns1:off x="722313" y="1693863"/>
            <ns1:ext cx="1603375" cy="1219200"/>
            <ns1:chOff x="910361" y="1498145"/>
            <ns1:chExt cx="1604239" cy="1219655"/>
          </ns1:xfrm>
        </ns0:grpSpPr>
        <ns0:sp>
          <ns0:nvSpPr>
            <ns0:cNvPr id="21" name="任意多边形 20"/>
            <ns0:cNvSpPr/>
            <ns0:nvPr/>
          </ns0:nvSpPr>
          <ns0:spPr>
            <ns1:xfrm>
              <ns1:off x="1587000" y="1853878"/>
              <ns1:ext cx="927600" cy="863922"/>
            </ns1:xfrm>
            <ns1:custGeom>
              <ns1:avLst/>
              <ns1:gdLst>
                <ns1:gd name="connsiteX0" fmla="*/ 0 w 927100"/>
                <ns1:gd name="connsiteY0" fmla="*/ 279400 h 863600"/>
                <ns1:gd name="connsiteX1" fmla="*/ 215900 w 927100"/>
                <ns1:gd name="connsiteY1" fmla="*/ 0 h 863600"/>
                <ns1:gd name="connsiteX2" fmla="*/ 927100 w 927100"/>
                <ns1:gd name="connsiteY2" fmla="*/ 863600 h 863600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</ns1:cxnLst>
              <ns1:rect l="l" t="t" r="r" b="b"/>
              <ns1:pathLst>
                <ns1:path w="927100" h="863600">
                  <ns1:moveTo>
                    <ns1:pt x="0" y="279400"/>
                  </ns1:moveTo>
                  <ns1:lnTo>
                    <ns1:pt x="215900" y="0"/>
                  </ns1:lnTo>
                  <ns1:lnTo>
                    <ns1:pt x="927100" y="8636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0723" name="矩形 21"/>
            <ns0:cNvSpPr/>
            <ns0:nvPr/>
          </ns0:nvSpPr>
          <ns0:spPr>
            <ns1:xfrm>
              <ns1:off x="910361" y="1498145"/>
              <ns1:ext cx="1213794" cy="29767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2000" baseline="-30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grpSp>
        <ns0:nvGrpSpPr>
          <ns0:cNvPr id="23" name="组合 22"/>
          <ns0:cNvGrpSpPr/>
          <ns0:nvPr/>
        </ns0:nvGrpSpPr>
        <ns0:grpSpPr>
          <ns1:xfrm>
            <ns1:off x="4208463" y="1481138"/>
            <ns1:ext cx="1711325" cy="1749425"/>
            <ns1:chOff x="4396710" y="1284513"/>
            <ns1:chExt cx="1711990" cy="1750787"/>
          </ns1:xfrm>
        </ns0:grpSpPr>
        <ns0:sp>
          <ns0:nvSpPr>
            <ns0:cNvPr id="24" name="任意多边形 23"/>
            <ns0:cNvSpPr/>
            <ns0:nvPr/>
          </ns0:nvSpPr>
          <ns0:spPr>
            <ns1:xfrm>
              <ns1:off x="5054190" y="1613381"/>
              <ns1:ext cx="1054510" cy="1421919"/>
            </ns1:xfrm>
            <ns1:custGeom>
              <ns1:avLst/>
              <ns1:gdLst>
                <ns1:gd name="connsiteX0" fmla="*/ 152400 w 889000"/>
                <ns1:gd name="connsiteY0" fmla="*/ 1016000 h 1016000"/>
                <ns1:gd name="connsiteX1" fmla="*/ 0 w 889000"/>
                <ns1:gd name="connsiteY1" fmla="*/ 0 h 1016000"/>
                <ns1:gd name="connsiteX2" fmla="*/ 889000 w 889000"/>
                <ns1:gd name="connsiteY2" fmla="*/ 292100 h 1016000"/>
                <ns1:gd name="connsiteX0-1" fmla="*/ 317500 w 1054100"/>
                <ns1:gd name="connsiteY0-2" fmla="*/ 1422400 h 1422400"/>
                <ns1:gd name="connsiteX1-3" fmla="*/ 0 w 1054100"/>
                <ns1:gd name="connsiteY1-4" fmla="*/ 0 h 1422400"/>
                <ns1:gd name="connsiteX2-5" fmla="*/ 1054100 w 1054100"/>
                <ns1:gd name="connsiteY2-6" fmla="*/ 698500 h 1422400"/>
              </ns1:gdLst>
              <ns1:ahLst/>
              <ns1:cxnLst>
                <ns1:cxn ang="0">
                  <ns1:pos x="connsiteX0-1" y="connsiteY0-2"/>
                </ns1:cxn>
                <ns1:cxn ang="0">
                  <ns1:pos x="connsiteX1-3" y="connsiteY1-4"/>
                </ns1:cxn>
                <ns1:cxn ang="0">
                  <ns1:pos x="connsiteX2-5" y="connsiteY2-6"/>
                </ns1:cxn>
              </ns1:cxnLst>
              <ns1:rect l="l" t="t" r="r" b="b"/>
              <ns1:pathLst>
                <ns1:path w="1054100" h="1422400">
                  <ns1:moveTo>
                    <ns1:pt x="317500" y="1422400"/>
                  </ns1:moveTo>
                  <ns1:lnTo>
                    <ns1:pt x="0" y="0"/>
                  </ns1:lnTo>
                  <ns1:lnTo>
                    <ns1:pt x="1054100" y="6985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0726" name="矩形 24"/>
            <ns0:cNvSpPr/>
            <ns0:nvPr/>
          </ns0:nvSpPr>
          <ns0:spPr>
            <ns1:xfrm>
              <ns1:off x="4396710" y="1284513"/>
              <ns1:ext cx="1261885" cy="30793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zh-CN" altLang="en-US" sz="14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/>
              </ns1:r>
            </ns1:p>
          </ns0:txBody>
        </ns0:sp>
      </ns0:grpSp>
      <ns0:sp>
        <ns0:nvSpPr>
          <ns0:cNvPr id="26" name="任意多边形 25"/>
          <ns0:cNvSpPr/>
          <ns0:nvPr/>
        </ns0:nvSpPr>
        <ns0:spPr>
          <ns1:xfrm>
            <ns1:off x="325438" y="2000250"/>
            <ns1:ext cx="7940675" cy="1765300"/>
          </ns1:xfrm>
          <ns1:custGeom>
            <ns1:avLst/>
            <ns1:gdLst>
              <ns1:gd name="connsiteX0" fmla="*/ 0 w 7941502"/>
              <ns1:gd name="connsiteY0" fmla="*/ 1252603 h 1766170"/>
              <ns1:gd name="connsiteX1" fmla="*/ 0 w 7941502"/>
              <ns1:gd name="connsiteY1" fmla="*/ 1252603 h 1766170"/>
              <ns1:gd name="connsiteX2" fmla="*/ 1077239 w 7941502"/>
              <ns1:gd name="connsiteY2" fmla="*/ 313151 h 1766170"/>
              <ns1:gd name="connsiteX3" fmla="*/ 1979113 w 7941502"/>
              <ns1:gd name="connsiteY3" fmla="*/ 951978 h 1766170"/>
              <ns1:gd name="connsiteX4" fmla="*/ 2780779 w 7941502"/>
              <ns1:gd name="connsiteY4" fmla="*/ 162838 h 1766170"/>
              <ns1:gd name="connsiteX5" fmla="*/ 3306872 w 7941502"/>
              <ns1:gd name="connsiteY5" fmla="*/ 676405 h 1766170"/>
              <ns1:gd name="connsiteX6" fmla="*/ 4885151 w 7941502"/>
              <ns1:gd name="connsiteY6" fmla="*/ 1202498 h 1766170"/>
              <ns1:gd name="connsiteX7" fmla="*/ 5586609 w 7941502"/>
              <ns1:gd name="connsiteY7" fmla="*/ 488515 h 1766170"/>
              <ns1:gd name="connsiteX8" fmla="*/ 6263014 w 7941502"/>
              <ns1:gd name="connsiteY8" fmla="*/ 300624 h 1766170"/>
              <ns1:gd name="connsiteX9" fmla="*/ 6601217 w 7941502"/>
              <ns1:gd name="connsiteY9" fmla="*/ 1766170 h 1766170"/>
              <ns1:gd name="connsiteX10" fmla="*/ 7177414 w 7941502"/>
              <ns1:gd name="connsiteY10" fmla="*/ 0 h 1766170"/>
              <ns1:gd name="connsiteX11" fmla="*/ 7941502 w 7941502"/>
              <ns1:gd name="connsiteY11" fmla="*/ 701457 h 1766170"/>
            </ns1:gdLst>
            <ns1:ahLst/>
            <ns1:cxnLst>
              <ns1:cxn ang="0">
                <ns1:pos x="connsiteX0" y="connsiteY0"/>
              </ns1:cxn>
              <ns1:cxn ang="0">
                <ns1:pos x="connsiteX1" y="connsiteY1"/>
              </ns1:cxn>
              <ns1:cxn ang="0">
                <ns1:pos x="connsiteX2" y="connsiteY2"/>
              </ns1:cxn>
              <ns1:cxn ang="0">
                <ns1:pos x="connsiteX3" y="connsiteY3"/>
              </ns1:cxn>
              <ns1:cxn ang="0">
                <ns1:pos x="connsiteX4" y="connsiteY4"/>
              </ns1:cxn>
              <ns1:cxn ang="0">
                <ns1:pos x="connsiteX5" y="connsiteY5"/>
              </ns1:cxn>
              <ns1:cxn ang="0">
                <ns1:pos x="connsiteX6" y="connsiteY6"/>
              </ns1:cxn>
              <ns1:cxn ang="0">
                <ns1:pos x="connsiteX7" y="connsiteY7"/>
              </ns1:cxn>
              <ns1:cxn ang="0">
                <ns1:pos x="connsiteX8" y="connsiteY8"/>
              </ns1:cxn>
              <ns1:cxn ang="0">
                <ns1:pos x="connsiteX9" y="connsiteY9"/>
              </ns1:cxn>
              <ns1:cxn ang="0">
                <ns1:pos x="connsiteX10" y="connsiteY10"/>
              </ns1:cxn>
              <ns1:cxn ang="0">
                <ns1:pos x="connsiteX11" y="connsiteY11"/>
              </ns1:cxn>
            </ns1:cxnLst>
            <ns1:rect l="l" t="t" r="r" b="b"/>
            <ns1:pathLst>
              <ns1:path w="7941502" h="1766170">
                <ns1:moveTo>
                  <ns1:pt x="0" y="1252603"/>
                </ns1:moveTo>
                <ns1:lnTo>
                  <ns1:pt x="0" y="1252603"/>
                </ns1:lnTo>
                <ns1:lnTo>
                  <ns1:pt x="1077239" y="313151"/>
                </ns1:lnTo>
                <ns1:lnTo>
                  <ns1:pt x="1979113" y="951978"/>
                </ns1:lnTo>
                <ns1:lnTo>
                  <ns1:pt x="2780779" y="162838"/>
                </ns1:lnTo>
                <ns1:lnTo>
                  <ns1:pt x="3306872" y="676405"/>
                </ns1:lnTo>
                <ns1:lnTo>
                  <ns1:pt x="4885151" y="1202498"/>
                </ns1:lnTo>
                <ns1:lnTo>
                  <ns1:pt x="5586609" y="488515"/>
                </ns1:lnTo>
                <ns1:lnTo>
                  <ns1:pt x="6263014" y="300624"/>
                </ns1:lnTo>
                <ns1:lnTo>
                  <ns1:pt x="6601217" y="1766170"/>
                </ns1:lnTo>
                <ns1:lnTo>
                  <ns1:pt x="7177414" y="0"/>
                </ns1:lnTo>
                <ns1:lnTo>
                  <ns1:pt x="7941502" y="701457"/>
                </ns1:lnTo>
              </ns1:path>
            </ns1:pathLst>
          </ns1:custGeom>
          <ns1:noFill/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91418" tIns="45709" rIns="91418" bIns="45709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结论：PoisonedRAG：首个针对RAG系统的知识投毒攻击，通过向知识库注入少量恶意文本操控LLM输出</ns1:t>
            </ns1: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核心设计：构建带约束优化问题，同时满足检索相关性（恶意文本易被目标问题检索）与生成操控性（诱导LLM输出指定答案）</ns1:t>
            </ns1:r>
          </ns1:p>
          <ns1:p>
            <ns1:pPr/>
            <ns1:r>
              <ns1:t>关键优势：跨黑/白盒场景高攻击成功率、对参数鲁棒性强、适配先进RAG方案与大规模真实知识库</ns1:t>
            </ns1:r>
          </ns1:p>
        </ns0:txBody>
      </ns0:sp>
      <ns0:grpSp>
        <ns0:nvGrpSpPr>
          <ns0:cNvPr id="27" name="组合 26"/>
          <ns0:cNvGrpSpPr/>
          <ns0:nvPr/>
        </ns0:nvGrpSpPr>
        <ns0:grpSpPr>
          <ns1:xfrm>
            <ns1:off x="2286000" y="2216150"/>
            <ns1:ext cx="1222375" cy="1728788"/>
            <ns1:chOff x="2473526" y="2425699"/>
            <ns1:chExt cx="1223413" cy="1730280"/>
          </ns1:xfrm>
        </ns0:grpSpPr>
        <ns0:sp>
          <ns0:nvSpPr>
            <ns0:cNvPr id="28" name="任意多边形 27"/>
            <ns0:cNvSpPr/>
            <ns0:nvPr/>
          </ns0:nvSpPr>
          <ns0:spPr>
            <ns1:xfrm>
              <ns1:off x="3301316" y="2425699"/>
              <ns1:ext cx="46076" cy="1374373"/>
            </ns1:xfrm>
            <ns1:custGeom>
              <ns1:avLst/>
              <ns1:gdLst>
                <ns1:gd name="connsiteX0" fmla="*/ 0 w 0"/>
                <ns1:gd name="connsiteY0" fmla="*/ 0 h 1193800"/>
                <ns1:gd name="connsiteX1" fmla="*/ 0 w 0"/>
                <ns1:gd name="connsiteY1" fmla="*/ 1193800 h 1193800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</ns1:cxnLst>
              <ns1:rect l="l" t="t" r="r" b="b"/>
              <ns1:pathLst>
                <ns1:path h="1193800">
                  <ns1:moveTo>
                    <ns1:pt x="0" y="0"/>
                  </ns1:moveTo>
                  <ns1:lnTo>
                    <ns1:pt x="0" y="11938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29" name="矩形 28"/>
            <ns0:cNvSpPr/>
            <ns0:nvPr/>
          </ns0:nvSpPr>
          <ns0:spPr>
            <ns1:xfrm>
              <ns1:off x="2473526" y="3855682"/>
              <ns1:ext cx="1223413" cy="300297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3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</ns0:grpSp>
      <ns0:grpSp>
        <ns0:nvGrpSpPr>
          <ns0:cNvPr id="30" name="组合 29"/>
          <ns0:cNvGrpSpPr/>
          <ns0:nvPr/>
        </ns0:nvGrpSpPr>
        <ns0:grpSpPr>
          <ns1:xfrm>
            <ns1:off x="1077913" y="2268538"/>
            <ns1:ext cx="683895" cy="513080"/>
            <ns1:chOff x="1266729" y="2071701"/>
            <ns1:chExt cx="682936" cy="514396"/>
          </ns1:xfrm>
        </ns0:grpSpPr>
        <ns0:sp>
          <ns0:nvSpPr>
            <ns0:cNvPr id="31" name="椭圆 30"/>
            <ns0:cNvSpPr/>
            <ns0:nvPr/>
          </ns0:nvSpPr>
          <ns0:spPr>
            <ns1:xfrm>
              <ns1:off x="1499764" y="2071701"/>
              <ns1:ext cx="163284" cy="162340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2" name="矩形 31"/>
            <ns0:cNvSpPr/>
            <ns0:nvPr/>
          </ns0:nvSpPr>
          <ns0:spPr>
            <ns1:xfrm>
              <ns1:off x="1266729" y="2332719"/>
              <ns1:ext cx="682936" cy="25337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3" name="组合 32"/>
          <ns0:cNvGrpSpPr/>
          <ns0:nvPr/>
        </ns0:nvGrpSpPr>
        <ns0:grpSpPr>
          <ns1:xfrm>
            <ns1:off x="1925638" y="2854325"/>
            <ns1:ext cx="683895" cy="451167"/>
            <ns1:chOff x="2113346" y="3064841"/>
            <ns1:chExt cx="684514" cy="451696"/>
          </ns1:xfrm>
        </ns0:grpSpPr>
        <ns0:sp>
          <ns0:nvSpPr>
            <ns0:cNvPr id="34" name="椭圆 33"/>
            <ns0:cNvSpPr/>
            <ns0:nvPr/>
          </ns0:nvSpPr>
          <ns0:spPr>
            <ns1:xfrm>
              <ns1:off x="2407299" y="3064841"/>
              <ns1:ext cx="162072" cy="16211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5" name="矩形 34"/>
            <ns0:cNvSpPr/>
            <ns0:nvPr/>
          </ns0:nvSpPr>
          <ns0:spPr>
            <ns1:xfrm>
              <ns1:off x="2113346" y="3263511"/>
              <ns1:ext cx="684514" cy="253026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6" name="组合 35"/>
          <ns0:cNvGrpSpPr/>
          <ns0:nvPr/>
        </ns0:nvGrpSpPr>
        <ns0:grpSpPr>
          <ns1:xfrm>
            <ns1:off x="2790825" y="1854200"/>
            <ns1:ext cx="683895" cy="415925"/>
            <ns1:chOff x="2979182" y="2064744"/>
            <ns1:chExt cx="684513" cy="416176"/>
          </ns1:xfrm>
        </ns0:grpSpPr>
        <ns0:sp>
          <ns0:nvSpPr>
            <ns0:cNvPr id="37" name="椭圆 36"/>
            <ns0:cNvSpPr/>
            <ns0:nvPr/>
          </ns0:nvSpPr>
          <ns0:spPr>
            <ns1:xfrm>
              <ns1:off x="3222289" y="2317309"/>
              <ns1:ext cx="163660" cy="163611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8" name="矩形 37"/>
            <ns0:cNvSpPr/>
            <ns0:nvPr/>
          </ns0:nvSpPr>
          <ns0:spPr>
            <ns1:xfrm>
              <ns1:off x="2979182" y="2064744"/>
              <ns1:ext cx="684513" cy="252883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9" name="组合 38"/>
          <ns0:cNvGrpSpPr/>
          <ns0:nvPr/>
        </ns0:nvGrpSpPr>
        <ns0:grpSpPr>
          <ns1:xfrm>
            <ns1:off x="3529013" y="2524125"/>
            <ns1:ext cx="895031" cy="252730"/>
            <ns1:chOff x="3717829" y="2733933"/>
            <ns1:chExt cx="893701" cy="252778"/>
          </ns1:xfrm>
        </ns0:grpSpPr>
        <ns0:sp>
          <ns0:nvSpPr>
            <ns0:cNvPr id="40" name="椭圆 39"/>
            <ns0:cNvSpPr/>
            <ns0:nvPr/>
          </ns0:nvSpPr>
          <ns0:spPr>
            <ns1:xfrm>
              <ns1:off x="3717829" y="2791094"/>
              <ns1:ext cx="163269" cy="161956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41" name="矩形 40"/>
            <ns0:cNvSpPr/>
            <ns0:nvPr/>
          </ns0:nvSpPr>
          <ns0:spPr>
            <ns1:xfrm>
              <ns1:off x="3928652" y="2733933"/>
              <ns1:ext cx="682878" cy="25277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2" name="组合 41"/>
          <ns0:cNvGrpSpPr/>
          <ns0:nvPr/>
        </ns0:nvGrpSpPr>
        <ns0:grpSpPr>
          <ns1:xfrm>
            <ns1:off x="4959350" y="3135313"/>
            <ns1:ext cx="690880" cy="430530"/>
            <ns1:chOff x="5133702" y="3346781"/>
            <ns1:chExt cx="691839" cy="429733"/>
          </ns1:xfrm>
        </ns0:grpSpPr>
        <ns0:sp>
          <ns0:nvSpPr>
            <ns0:cNvPr id="30744" name="椭圆 42"/>
            <ns0:cNvSpPr/>
            <ns0:nvPr/>
          </ns0:nvSpPr>
          <ns0:spPr>
            <ns1:xfrm>
              <ns1:off x="5310409" y="3346781"/>
              <ns1:ext cx="162839" cy="162839"/>
            </ns1:xfrm>
            <ns1:prstGeom prst="ellipse">
              <ns1:avLst/>
            </ns1:prstGeom>
            <ns1:solidFill>
              <ns1:schemeClr val="bg1">
                <ns1:alpha val="79999"/>
              </ns1:schemeClr>
            </ns1:solidFill>
            <ns1:ln w="9525">
              <ns1:noFill/>
            </ns1:ln>
          </ns0:spPr>
          <ns0:txBody>
            <ns1:bodyPr lIns="68544" tIns="34272" rIns="68544" bIns="34272" anchor="t"/>
            <ns1:lstStyle/>
            <ns1:p>
              <ns1:endParaRPr lang="zh-CN" altLang="en-US" sz="1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44" name="矩形 43"/>
            <ns0:cNvSpPr/>
            <ns0:nvPr/>
          </ns0:nvSpPr>
          <ns0:spPr>
            <ns1:xfrm>
              <ns1:off x="5133702" y="3524252"/>
              <ns1:ext cx="691839" cy="252262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????</ns1:t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5" name="组合 44"/>
          <ns0:cNvGrpSpPr/>
          <ns0:nvPr/>
        </ns0:nvGrpSpPr>
        <ns0:grpSpPr>
          <ns1:xfrm>
            <ns1:off x="5734050" y="2435225"/>
            <ns1:ext cx="683895" cy="457517"/>
            <ns1:chOff x="5908402" y="2645741"/>
            <ns1:chExt cx="684512" cy="457670"/>
          </ns1:xfrm>
        </ns0:grpSpPr>
        <ns0:sp>
          <ns0:nvSpPr>
            <ns0:cNvPr id="30747" name="椭圆 45"/>
            <ns0:cNvSpPr/>
            <ns0:nvPr/>
          </ns0:nvSpPr>
          <ns0:spPr>
            <ns1:xfrm>
              <ns1:off x="6026689" y="2645741"/>
              <ns1:ext cx="162839" cy="162839"/>
            </ns1:xfrm>
            <ns1:prstGeom prst="ellipse">
              <ns1:avLst/>
            </ns1:prstGeom>
            <ns1:solidFill>
              <ns1:schemeClr val="bg1">
                <ns1:alpha val="79999"/>
              </ns1:schemeClr>
            </ns1:solidFill>
            <ns1:ln w="9525">
              <ns1:noFill/>
            </ns1:ln>
          </ns0:spPr>
          <ns0:txBody>
            <ns1:bodyPr lIns="68544" tIns="34272" rIns="68544" bIns="34272" anchor="t"/>
            <ns1:lstStyle/>
            <ns1:p>
              <ns1:endParaRPr lang="zh-CN" altLang="en-US" sz="1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47" name="矩形 46"/>
            <ns0:cNvSpPr/>
            <ns0:nvPr/>
          </ns0:nvSpPr>
          <ns0:spPr>
            <ns1:xfrm>
              <ns1:off x="5908402" y="2850597"/>
              <ns1:ext cx="684512" cy="25281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8" name="组合 47"/>
          <ns0:cNvGrpSpPr/>
          <ns0:nvPr/>
        </ns0:nvGrpSpPr>
        <ns0:grpSpPr>
          <ns1:xfrm>
            <ns1:off x="6253163" y="1978025"/>
            <ns1:ext cx="683895" cy="414338"/>
            <ns1:chOff x="6441129" y="2188789"/>
            <ns1:chExt cx="684514" cy="414051"/>
          </ns1:xfrm>
        </ns0:grpSpPr>
        <ns0:sp>
          <ns0:nvSpPr>
            <ns0:cNvPr id="49" name="椭圆 48"/>
            <ns0:cNvSpPr/>
            <ns0:nvPr/>
          </ns0:nvSpPr>
          <ns0:spPr>
            <ns1:xfrm>
              <ns1:off x="6682647" y="2439440"/>
              <ns1:ext cx="162072" cy="163400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0" name="矩形 49"/>
            <ns0:cNvSpPr/>
            <ns0:nvPr/>
          </ns0:nvSpPr>
          <ns0:spPr>
            <ns1:xfrm>
              <ns1:off x="6441129" y="2188789"/>
              <ns1:ext cx="684514" cy="252555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1" name="组合 50"/>
          <ns0:cNvGrpSpPr/>
          <ns0:nvPr/>
        </ns0:nvGrpSpPr>
        <ns0:grpSpPr>
          <ns1:xfrm>
            <ns1:off x="6634163" y="3662363"/>
            <ns1:ext cx="683895" cy="447993"/>
            <ns1:chOff x="6822054" y="3872561"/>
            <ns1:chExt cx="684514" cy="449293"/>
          </ns1:xfrm>
        </ns0:grpSpPr>
        <ns0:sp>
          <ns0:nvSpPr>
            <ns0:cNvPr id="52" name="椭圆 51"/>
            <ns0:cNvSpPr/>
            <ns0:nvPr/>
          </ns0:nvSpPr>
          <ns0:spPr>
            <ns1:xfrm>
              <ns1:off x="7055627" y="3872561"/>
              <ns1:ext cx="162072" cy="16239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3" name="矩形 52"/>
            <ns0:cNvSpPr/>
            <ns0:nvPr/>
          </ns0:nvSpPr>
          <ns0:spPr>
            <ns1:xfrm>
              <ns1:off x="6822054" y="4068390"/>
              <ns1:ext cx="684514" cy="25346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4" name="组合 53"/>
          <ns0:cNvGrpSpPr/>
          <ns0:nvPr/>
        </ns0:nvGrpSpPr>
        <ns0:grpSpPr>
          <ns1:xfrm>
            <ns1:off x="7439025" y="1847850"/>
            <ns1:ext cx="869633" cy="255588"/>
            <ns1:chOff x="7626889" y="2058017"/>
            <ns1:chExt cx="870279" cy="255263"/>
          </ns1:xfrm>
        </ns0:grpSpPr>
        <ns0:sp>
          <ns0:nvSpPr>
            <ns0:cNvPr id="55" name="椭圆 54"/>
            <ns0:cNvSpPr/>
            <ns0:nvPr/>
          </ns0:nvSpPr>
          <ns0:spPr>
            <ns1:xfrm>
              <ns1:off x="7626889" y="2149975"/>
              <ns1:ext cx="162045" cy="16330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6" name="矩形 55"/>
            <ns0:cNvSpPr/>
            <ns0:nvPr/>
          </ns0:nvSpPr>
          <ns0:spPr>
            <ns1:xfrm>
              <ns1:off x="7812765" y="2058017"/>
              <ns1:ext cx="684403" cy="25240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7" name="组合 56"/>
          <ns0:cNvGrpSpPr/>
          <ns0:nvPr/>
        </ns0:nvGrpSpPr>
        <ns0:grpSpPr>
          <ns1:xfrm>
            <ns1:off x="7227888" y="2092325"/>
            <ns1:ext cx="1223962" cy="1474788"/>
            <ns1:chOff x="7416713" y="2092528"/>
            <ns1:chExt cx="1223412" cy="1474343"/>
          </ns1:xfrm>
        </ns0:grpSpPr>
        <ns0:cxnSp>
          <ns0:nvCxnSpPr>
            <ns0:cNvPr id="58" name="直接连接符 57"/>
            <ns0:cNvCxnSpPr/>
            <ns0:nvPr/>
          </ns0:nvCxnSpPr>
          <ns0:spPr>
            <ns1:xfrm>
              <ns1:off x="7745177" y="2092528"/>
              <ns1:ext cx="230085" cy="1115676"/>
            </ns1:xfrm>
            <ns1:prstGeom prst="line">
              <ns1:avLst/>
            </ns1:prstGeom>
            <ns1:ln w="12700">
              <ns1:solidFill>
                <ns1:schemeClr val="bg1"/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sp>
          <ns0:nvSpPr>
            <ns0:cNvPr id="59" name="矩形 58"/>
            <ns0:cNvSpPr/>
            <ns0:nvPr/>
          </ns0:nvSpPr>
          <ns0:spPr>
            <ns1:xfrm>
              <ns1:off x="7416713" y="3266924"/>
              <ns1:ext cx="1223412" cy="299947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3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</ns0:grpSp>
      <ns0:pic>
        <ns0:nvPicPr>
          <ns0:cNvPr id="30761" name="图片 59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61" name="文本框 60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PoisonedRAG攻击框架——知识投毒攻击的核心设计与优势分析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2" presetClass="entr" presetSubtype="8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7" dur="20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23" presetClass="entr" presetSubtype="36" fill="hold" nodeType="withEffect">
                                  <ns0:stCondLst>
                                    <ns0:cond delay="30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0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1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2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3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4" presetID="23" presetClass="entr" presetSubtype="36" fill="hold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6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7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8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9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0" presetID="23" presetClass="entr" presetSubtype="36" fill="hold" nodeType="withEffect">
                                  <ns0:stCondLst>
                                    <ns0:cond delay="80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2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3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4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5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6" presetID="23" presetClass="entr" presetSubtype="36" fill="hold" nodeType="withEffect">
                                  <ns0:stCondLst>
                                    <ns0:cond delay="60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8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9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0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1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2" presetID="23" presetClass="entr" presetSubtype="36" fill="hold" nodeType="withEffect">
                                  <ns0:stCondLst>
                                    <ns0:cond delay="30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4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5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6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7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8" presetID="23" presetClass="entr" presetSubtype="36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40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1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2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3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44" presetID="23" presetClass="entr" presetSubtype="36" fill="hold" nodeType="withEffect">
                                  <ns0:stCondLst>
                                    <ns0:cond delay="70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46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7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8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9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50" presetID="23" presetClass="entr" presetSubtype="36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52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3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4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5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56" presetID="23" presetClass="entr" presetSubtype="36" fill="hold" nodeType="withEffect">
                                  <ns0:stCondLst>
                                    <ns0:cond delay="800"/>
                                  </ns0:stCondLst>
                                  <ns0:childTnLs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58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9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60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61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62" presetID="22" presetClass="entr" presetSubtype="4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down)">
                                      <ns0:cBhvr>
                                        <ns0:cTn id="64" dur="75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5" presetID="22" presetClass="entr" presetSubtype="1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67" dur="75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8" presetID="22" presetClass="entr" presetSubtype="4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down)">
                                      <ns0:cBhvr>
                                        <ns0:cTn id="70" dur="75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1" presetID="22" presetClass="entr" presetSubtype="1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73" dur="500"/>
                                        <ns0:tgtEl>
                                          <ns0:spTgt spid="5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</ns0:timing>
</ns0:sld>
</file>

<file path=ppt/slides/slide14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38913" name="图片 24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26" name="文本框 25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攻击实现细节：带约束优化问题建模与黑盒/白盒场景构造策略</ns1:t>
            </ns1:r>
          </ns1:p>
        </ns0:txBody>
      </ns0:sp>
      <ns0:sp>
        <ns0:nvSpPr>
          <ns0:cNvPr id="4" name="Freeform 2"/>
          <ns0:cNvSpPr/>
          <ns0:nvPr/>
        </ns0:nvSpPr>
        <ns0:spPr bwMode="auto">
          <ns1:xfrm>
            <ns1:off x="941388" y="1884363"/>
            <ns1:ext cx="7261225" cy="1117600"/>
          </ns1:xfrm>
          <ns1:custGeom>
            <ns1:avLst/>
            <ns1:gdLst>
              <ns1:gd name="T0" fmla="*/ 2134 w 2522"/>
              <ns1:gd name="T1" fmla="*/ 0 h 388"/>
              <ns1:gd name="T2" fmla="*/ 1749 w 2522"/>
              <ns1:gd name="T3" fmla="*/ 341 h 388"/>
              <ns1:gd name="T4" fmla="*/ 0 w 2522"/>
              <ns1:gd name="T5" fmla="*/ 341 h 388"/>
              <ns1:gd name="T6" fmla="*/ 0 w 2522"/>
              <ns1:gd name="T7" fmla="*/ 388 h 388"/>
              <ns1:gd name="T8" fmla="*/ 1746 w 2522"/>
              <ns1:gd name="T9" fmla="*/ 388 h 388"/>
              <ns1:gd name="T10" fmla="*/ 1803 w 2522"/>
              <ns1:gd name="T11" fmla="*/ 388 h 388"/>
              <ns1:gd name="T12" fmla="*/ 2522 w 2522"/>
              <ns1:gd name="T13" fmla="*/ 388 h 388"/>
              <ns1:gd name="T14" fmla="*/ 2134 w 2522"/>
              <ns1:gd name="T15" fmla="*/ 0 h 3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</ns1:cxnLst>
            <ns1:rect l="0" t="0" r="r" b="b"/>
            <ns1:pathLst>
              <ns1:path w="2522" h="388">
                <ns1:moveTo>
                  <ns1:pt x="2134" y="0"/>
                </ns1:moveTo>
                <ns1:cubicBezTo>
                  <ns1:pt x="1936" y="0"/>
                  <ns1:pt x="1772" y="149"/>
                  <ns1:pt x="1749" y="341"/>
                </ns1:cubicBezTo>
                <ns1:cubicBezTo>
                  <ns1:pt x="0" y="341"/>
                  <ns1:pt x="0" y="341"/>
                  <ns1:pt x="0" y="341"/>
                </ns1:cubicBezTo>
                <ns1:cubicBezTo>
                  <ns1:pt x="0" y="388"/>
                  <ns1:pt x="0" y="388"/>
                  <ns1:pt x="0" y="388"/>
                </ns1:cubicBezTo>
                <ns1:cubicBezTo>
                  <ns1:pt x="1746" y="388"/>
                  <ns1:pt x="1746" y="388"/>
                  <ns1:pt x="1746" y="388"/>
                </ns1:cubicBezTo>
                <ns1:cubicBezTo>
                  <ns1:pt x="1803" y="388"/>
                  <ns1:pt x="1803" y="388"/>
                  <ns1:pt x="1803" y="388"/>
                </ns1:cubicBezTo>
                <ns1:cubicBezTo>
                  <ns1:pt x="2522" y="388"/>
                  <ns1:pt x="2522" y="388"/>
                  <ns1:pt x="2522" y="388"/>
                </ns1:cubicBezTo>
                <ns1:cubicBezTo>
                  <ns1:pt x="2522" y="174"/>
                  <ns1:pt x="2348" y="0"/>
                  <ns1:pt x="2134" y="0"/>
                </ns1:cubicBezTo>
                <ns1:close/>
              </ns1:path>
            </ns1:pathLst>
          </ns1:custGeom>
          <ns1:noFill/>
          <ns1:ln>
            <ns1:solidFill>
              <ns1:schemeClr val="bg1"/>
            </ns1:solidFill>
          </ns1:ln>
        </ns0:spPr>
        <ns0:txBody>
          <ns1:bodyPr wrap="square">
            <ns1:norm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结论：攻击建模为带约束优化问题：构造恶意文本使RAG检索后LLM输出预设目标答案</ns1:t>
            </ns1: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黑盒场景：将恶意文本关联字段S设为目标问题Q，无需依赖检索器内部参数</ns1:t>
            </ns1:r>
          </ns1:p>
          <ns1:p>
            <ns1:pPr/>
            <ns1:r>
              <ns1:t>白盒场景：利用HotFlip等对抗文本构造方法求解优化问题，提升恶意文本检索相关性</ns1:t>
            </ns1:r>
          </ns1:p>
        </ns0:txBody>
      </ns0:sp>
      <ns0:sp>
        <ns0:nvSpPr>
          <ns0:cNvPr id="5" name="Freeform 3"/>
          <ns0:cNvSpPr/>
          <ns0:nvPr/>
        </ns0:nvSpPr>
        <ns0:spPr bwMode="auto">
          <ns1:xfrm>
            <ns1:off x="941388" y="3044825"/>
            <ns1:ext cx="7261225" cy="1117600"/>
          </ns1:xfrm>
          <ns1:custGeom>
            <ns1:avLst/>
            <ns1:gdLst>
              <ns1:gd name="T0" fmla="*/ 2134 w 2522"/>
              <ns1:gd name="T1" fmla="*/ 388 h 388"/>
              <ns1:gd name="T2" fmla="*/ 1749 w 2522"/>
              <ns1:gd name="T3" fmla="*/ 48 h 388"/>
              <ns1:gd name="T4" fmla="*/ 0 w 2522"/>
              <ns1:gd name="T5" fmla="*/ 48 h 388"/>
              <ns1:gd name="T6" fmla="*/ 0 w 2522"/>
              <ns1:gd name="T7" fmla="*/ 0 h 388"/>
              <ns1:gd name="T8" fmla="*/ 1746 w 2522"/>
              <ns1:gd name="T9" fmla="*/ 0 h 388"/>
              <ns1:gd name="T10" fmla="*/ 1803 w 2522"/>
              <ns1:gd name="T11" fmla="*/ 0 h 388"/>
              <ns1:gd name="T12" fmla="*/ 2522 w 2522"/>
              <ns1:gd name="T13" fmla="*/ 0 h 388"/>
              <ns1:gd name="T14" fmla="*/ 2134 w 2522"/>
              <ns1:gd name="T15" fmla="*/ 388 h 388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</ns1:cxnLst>
            <ns1:rect l="0" t="0" r="r" b="b"/>
            <ns1:pathLst>
              <ns1:path w="2522" h="388">
                <ns1:moveTo>
                  <ns1:pt x="2134" y="388"/>
                </ns1:moveTo>
                <ns1:cubicBezTo>
                  <ns1:pt x="1936" y="388"/>
                  <ns1:pt x="1772" y="240"/>
                  <ns1:pt x="1749" y="48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0" y="0"/>
                  <ns1:pt x="0" y="0"/>
                  <ns1:pt x="0" y="0"/>
                </ns1:cubicBezTo>
                <ns1:cubicBezTo>
                  <ns1:pt x="1746" y="0"/>
                  <ns1:pt x="1746" y="0"/>
                  <ns1:pt x="1746" y="0"/>
                </ns1:cubicBezTo>
                <ns1:cubicBezTo>
                  <ns1:pt x="1803" y="0"/>
                  <ns1:pt x="1803" y="0"/>
                  <ns1:pt x="1803" y="0"/>
                </ns1:cubicBezTo>
                <ns1:cubicBezTo>
                  <ns1:pt x="2522" y="0"/>
                  <ns1:pt x="2522" y="0"/>
                  <ns1:pt x="2522" y="0"/>
                </ns1:cubicBezTo>
                <ns1:cubicBezTo>
                  <ns1:pt x="2522" y="215"/>
                  <ns1:pt x="2348" y="388"/>
                  <ns1:pt x="2134" y="388"/>
                </ns1:cubicBezTo>
                <ns1:close/>
              </ns1:path>
            </ns1:pathLst>
          </ns1:custGeom>
          <ns1:noFill/>
          <ns1:ln>
            <ns1:solidFill>
              <ns1:schemeClr val="bg1"/>
            </ns1:solidFill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6" name="Freeform 4"/>
          <ns0:cNvSpPr/>
          <ns0:nvPr/>
        </ns0:nvSpPr>
        <ns0:spPr bwMode="auto">
          <ns1:xfrm>
            <ns1:off x="941388" y="1603375"/>
            <ns1:ext cx="6164263" cy="280988"/>
          </ns1:xfrm>
          <ns1:custGeom>
            <ns1:avLst/>
            <ns1:gdLst>
              <ns1:gd name="T0" fmla="*/ 0 w 3883"/>
              <ns1:gd name="T1" fmla="*/ 0 h 177"/>
              <ns1:gd name="T2" fmla="*/ 3883 w 3883"/>
              <ns1:gd name="T3" fmla="*/ 0 h 177"/>
              <ns1:gd name="T4" fmla="*/ 3883 w 3883"/>
              <ns1:gd name="T5" fmla="*/ 177 h 177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3883" h="177">
                <ns1:moveTo>
                  <ns1:pt x="0" y="0"/>
                </ns1:moveTo>
                <ns1:lnTo>
                  <ns1:pt x="3883" y="0"/>
                </ns1:lnTo>
                <ns1:lnTo>
                  <ns1:pt x="3883" y="177"/>
                </ns1:lnTo>
              </ns1:path>
            </ns1:pathLst>
          </ns1:custGeom>
          <ns1:noFill/>
          <ns1:ln w="12700" cap="flat" cmpd="sng">
            <ns1:solidFill>
              <ns1:schemeClr val="bg1"/>
            </ns1:solidFill>
            <ns1:round/>
            <ns1:tailEnd type="oval" w="med" len="med"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7" name="Freeform 5"/>
          <ns0:cNvSpPr/>
          <ns0:nvPr/>
        </ns0:nvSpPr>
        <ns0:spPr bwMode="auto">
          <ns1:xfrm>
            <ns1:off x="941388" y="4162425"/>
            <ns1:ext cx="6164263" cy="279400"/>
          </ns1:xfrm>
          <ns1:custGeom>
            <ns1:avLst/>
            <ns1:gdLst>
              <ns1:gd name="T0" fmla="*/ 0 w 3883"/>
              <ns1:gd name="T1" fmla="*/ 176 h 176"/>
              <ns1:gd name="T2" fmla="*/ 3883 w 3883"/>
              <ns1:gd name="T3" fmla="*/ 176 h 176"/>
              <ns1:gd name="T4" fmla="*/ 3883 w 3883"/>
              <ns1:gd name="T5" fmla="*/ 0 h 1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</ns1:cxnLst>
            <ns1:rect l="0" t="0" r="r" b="b"/>
            <ns1:pathLst>
              <ns1:path w="3883" h="176">
                <ns1:moveTo>
                  <ns1:pt x="0" y="176"/>
                </ns1:moveTo>
                <ns1:lnTo>
                  <ns1:pt x="3883" y="176"/>
                </ns1:lnTo>
                <ns1:lnTo>
                  <ns1:pt x="3883" y="0"/>
                </ns1:lnTo>
              </ns1:path>
            </ns1:pathLst>
          </ns1:custGeom>
          <ns1:noFill/>
          <ns1:ln w="12700" cap="flat" cmpd="sng">
            <ns1:solidFill>
              <ns1:schemeClr val="bg1"/>
            </ns1:solidFill>
            <ns1:round/>
            <ns1:tailEnd type="oval" w="med" len="med"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</ns1:extLst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8" name="Rectangle 10"/>
          <ns0:cNvSpPr>
            <ns1:spLocks noChangeArrowheads="1"/>
          </ns0:cNvSpPr>
          <ns0:nvPr/>
        </ns0:nvSpPr>
        <ns0:spPr bwMode="auto">
          <ns1:xfrm>
            <ns1:off x="6523038" y="2184400"/>
            <ns1:ext cx="1154113" cy="230188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wrap="none" lIns="0" tIns="0" rIns="0" bIns="0">
            <ns1:sp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r>
              <ns1:rPr kumimoji="0" lang="zh-CN" altLang="en-US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zh-CN" sz="1350" b="1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9" name="Rectangle 11"/>
          <ns0:cNvSpPr>
            <ns1:spLocks noChangeArrowheads="1"/>
          </ns0:cNvSpPr>
          <ns0:nvPr/>
        </ns0:nvSpPr>
        <ns0:spPr bwMode="auto">
          <ns1:xfrm>
            <ns1:off x="6523038" y="3262313"/>
            <ns1:ext cx="1154113" cy="230188"/>
          </ns1:xfrm>
          <ns1:prstGeom prst="rect">
            <ns1:avLst/>
          </ns1:prstGeom>
          <ns1:noFill/>
          <ns1:ln>
            <ns1:noFill/>
          </ns1:ln>
          <ns1:extLst>
            <ns1:ext uri="{909E8E84-426E-40DD-AFC4-6F175D3DCCD1}">
              <ns3:hiddenFill>
                <ns1:solidFill>
                  <ns1:srgbClr val="FFFFFF"/>
                </ns1:solidFill>
              </ns3:hiddenFill>
            </ns1:ext>
            <ns1:ext uri="{91240B29-F687-4F45-9708-019B960494DF}">
              <ns3:hiddenLine w="9525">
                <ns1:solidFill>
                  <ns1:srgbClr val="000000"/>
                </ns1:solidFill>
                <ns1:miter lim="800000"/>
                <ns1:headEnd/>
                <ns1:tailEnd/>
              </ns3:hiddenLine>
            </ns1:ext>
          </ns1:extLst>
        </ns0:spPr>
        <ns0:txBody>
          <ns1:bodyPr wrap="none" lIns="0" tIns="0" rIns="0" bIns="0">
            <ns1:spAutoFit/>
          </ns1:bodyPr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r>
              <ns1:rPr kumimoji="0" lang="zh-CN" altLang="en-US" sz="150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zh-CN" sz="1350" b="1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0" name="Text Box 65"/>
          <ns0:cNvSpPr txBox="1"/>
          <ns0:nvPr/>
        </ns0:nvSpPr>
        <ns0:spPr>
          <ns1:xfrm>
            <ns1:off x="877888" y="1751013"/>
            <ns1:ext cx="3670300" cy="868362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spAutoFit/>
          </ns1:bodyPr>
          <ns1:lstStyle/>
          <ns1:p>
            <ns1:pPr>
              <ns1:lnSpc>
                <ns1:spcPct val="120000"/>
              </ns1:lnSpc>
            </ns1:pPr>
          </ns1:p>
        </ns0:txBody>
      </ns0:sp>
      <ns0:sp>
        <ns0:nvSpPr>
          <ns0:cNvPr id="11" name="Text Box 65"/>
          <ns0:cNvSpPr txBox="1"/>
          <ns0:nvPr/>
        </ns0:nvSpPr>
        <ns0:spPr>
          <ns1:xfrm>
            <ns1:off x="877888" y="3405188"/>
            <ns1:ext cx="3670300" cy="681990"/>
          </ns1:xfrm>
          <ns1:prstGeom prst="rect">
            <ns1:avLst/>
          </ns1:prstGeom>
          <ns1:noFill/>
          <ns1:ln w="9525">
            <ns1:noFill/>
          </ns1:ln>
        </ns0:spPr>
        <ns0:txBody>
          <ns1:bodyPr anchor="t" wrap="square">
            <ns1:spAutoFit/>
          </ns1:bodyPr>
          <ns1:lstStyle/>
          <ns1:p>
            <ns1:pPr>
              <ns1:lnSpc>
                <ns1:spcPct val="120000"/>
              </ns1:lnSpc>
            </ns1:pPr>
          </ns1:p>
        </ns0:txBody>
      </ns0:sp>
      <ns0:sp>
        <ns0:nvSpPr>
          <ns0:cNvPr id="12" name="Freeform 103"/>
          <ns0:cNvSpPr>
            <ns1:spLocks noEditPoints="1" noChangeArrowheads="1"/>
          </ns0:cNvSpPr>
          <ns0:nvPr/>
        </ns0:nvSpPr>
        <ns0:spPr bwMode="auto">
          <ns1:xfrm>
            <ns1:off x="6838950" y="2533650"/>
            <ns1:ext cx="465138" cy="358775"/>
          </ns1:xfrm>
          <ns1:custGeom>
            <ns1:avLst/>
            <ns1:gdLst>
              <ns1:gd name="T0" fmla="*/ 33 w 97"/>
              <ns1:gd name="T1" fmla="*/ 75 h 75"/>
              <ns1:gd name="T2" fmla="*/ 44 w 97"/>
              <ns1:gd name="T3" fmla="*/ 75 h 75"/>
              <ns1:gd name="T4" fmla="*/ 47 w 97"/>
              <ns1:gd name="T5" fmla="*/ 73 h 75"/>
              <ns1:gd name="T6" fmla="*/ 47 w 97"/>
              <ns1:gd name="T7" fmla="*/ 49 h 75"/>
              <ns1:gd name="T8" fmla="*/ 39 w 97"/>
              <ns1:gd name="T9" fmla="*/ 45 h 75"/>
              <ns1:gd name="T10" fmla="*/ 30 w 97"/>
              <ns1:gd name="T11" fmla="*/ 50 h 75"/>
              <ns1:gd name="T12" fmla="*/ 30 w 97"/>
              <ns1:gd name="T13" fmla="*/ 73 h 75"/>
              <ns1:gd name="T14" fmla="*/ 33 w 97"/>
              <ns1:gd name="T15" fmla="*/ 75 h 75"/>
              <ns1:gd name="T16" fmla="*/ 0 w 97"/>
              <ns1:gd name="T17" fmla="*/ 49 h 75"/>
              <ns1:gd name="T18" fmla="*/ 37 w 97"/>
              <ns1:gd name="T19" fmla="*/ 28 h 75"/>
              <ns1:gd name="T20" fmla="*/ 39 w 97"/>
              <ns1:gd name="T21" fmla="*/ 26 h 75"/>
              <ns1:gd name="T22" fmla="*/ 41 w 97"/>
              <ns1:gd name="T23" fmla="*/ 28 h 75"/>
              <ns1:gd name="T24" fmla="*/ 52 w 97"/>
              <ns1:gd name="T25" fmla="*/ 34 h 75"/>
              <ns1:gd name="T26" fmla="*/ 81 w 97"/>
              <ns1:gd name="T27" fmla="*/ 9 h 75"/>
              <ns1:gd name="T28" fmla="*/ 77 w 97"/>
              <ns1:gd name="T29" fmla="*/ 4 h 75"/>
              <ns1:gd name="T30" fmla="*/ 87 w 97"/>
              <ns1:gd name="T31" fmla="*/ 2 h 75"/>
              <ns1:gd name="T32" fmla="*/ 97 w 97"/>
              <ns1:gd name="T33" fmla="*/ 0 h 75"/>
              <ns1:gd name="T34" fmla="*/ 94 w 97"/>
              <ns1:gd name="T35" fmla="*/ 10 h 75"/>
              <ns1:gd name="T36" fmla="*/ 91 w 97"/>
              <ns1:gd name="T37" fmla="*/ 19 h 75"/>
              <ns1:gd name="T38" fmla="*/ 87 w 97"/>
              <ns1:gd name="T39" fmla="*/ 15 h 75"/>
              <ns1:gd name="T40" fmla="*/ 55 w 97"/>
              <ns1:gd name="T41" fmla="*/ 42 h 75"/>
              <ns1:gd name="T42" fmla="*/ 53 w 97"/>
              <ns1:gd name="T43" fmla="*/ 44 h 75"/>
              <ns1:gd name="T44" fmla="*/ 50 w 97"/>
              <ns1:gd name="T45" fmla="*/ 43 h 75"/>
              <ns1:gd name="T46" fmla="*/ 39 w 97"/>
              <ns1:gd name="T47" fmla="*/ 36 h 75"/>
              <ns1:gd name="T48" fmla="*/ 5 w 97"/>
              <ns1:gd name="T49" fmla="*/ 57 h 75"/>
              <ns1:gd name="T50" fmla="*/ 0 w 97"/>
              <ns1:gd name="T51" fmla="*/ 49 h 75"/>
              <ns1:gd name="T52" fmla="*/ 10 w 97"/>
              <ns1:gd name="T53" fmla="*/ 75 h 75"/>
              <ns1:gd name="T54" fmla="*/ 21 w 97"/>
              <ns1:gd name="T55" fmla="*/ 75 h 75"/>
              <ns1:gd name="T56" fmla="*/ 23 w 97"/>
              <ns1:gd name="T57" fmla="*/ 73 h 75"/>
              <ns1:gd name="T58" fmla="*/ 23 w 97"/>
              <ns1:gd name="T59" fmla="*/ 54 h 75"/>
              <ns1:gd name="T60" fmla="*/ 7 w 97"/>
              <ns1:gd name="T61" fmla="*/ 64 h 75"/>
              <ns1:gd name="T62" fmla="*/ 7 w 97"/>
              <ns1:gd name="T63" fmla="*/ 73 h 75"/>
              <ns1:gd name="T64" fmla="*/ 10 w 97"/>
              <ns1:gd name="T65" fmla="*/ 75 h 75"/>
              <ns1:gd name="T66" fmla="*/ 56 w 97"/>
              <ns1:gd name="T67" fmla="*/ 75 h 75"/>
              <ns1:gd name="T68" fmla="*/ 67 w 97"/>
              <ns1:gd name="T69" fmla="*/ 75 h 75"/>
              <ns1:gd name="T70" fmla="*/ 70 w 97"/>
              <ns1:gd name="T71" fmla="*/ 73 h 75"/>
              <ns1:gd name="T72" fmla="*/ 70 w 97"/>
              <ns1:gd name="T73" fmla="*/ 39 h 75"/>
              <ns1:gd name="T74" fmla="*/ 70 w 97"/>
              <ns1:gd name="T75" fmla="*/ 39 h 75"/>
              <ns1:gd name="T76" fmla="*/ 54 w 97"/>
              <ns1:gd name="T77" fmla="*/ 53 h 75"/>
              <ns1:gd name="T78" fmla="*/ 53 w 97"/>
              <ns1:gd name="T79" fmla="*/ 52 h 75"/>
              <ns1:gd name="T80" fmla="*/ 53 w 97"/>
              <ns1:gd name="T81" fmla="*/ 73 h 75"/>
              <ns1:gd name="T82" fmla="*/ 56 w 97"/>
              <ns1:gd name="T83" fmla="*/ 75 h 75"/>
              <ns1:gd name="T84" fmla="*/ 79 w 97"/>
              <ns1:gd name="T85" fmla="*/ 75 h 75"/>
              <ns1:gd name="T86" fmla="*/ 90 w 97"/>
              <ns1:gd name="T87" fmla="*/ 75 h 75"/>
              <ns1:gd name="T88" fmla="*/ 93 w 97"/>
              <ns1:gd name="T89" fmla="*/ 73 h 75"/>
              <ns1:gd name="T90" fmla="*/ 93 w 97"/>
              <ns1:gd name="T91" fmla="*/ 32 h 75"/>
              <ns1:gd name="T92" fmla="*/ 86 w 97"/>
              <ns1:gd name="T93" fmla="*/ 24 h 75"/>
              <ns1:gd name="T94" fmla="*/ 77 w 97"/>
              <ns1:gd name="T95" fmla="*/ 33 h 75"/>
              <ns1:gd name="T96" fmla="*/ 77 w 97"/>
              <ns1:gd name="T97" fmla="*/ 73 h 75"/>
              <ns1:gd name="T98" fmla="*/ 79 w 97"/>
              <ns1:gd name="T99" fmla="*/ 75 h 75"/>
              <ns1:gd name="T100" fmla="*/ 0 60000 65536"/>
              <ns1:gd name="T101" fmla="*/ 0 60000 65536"/>
              <ns1:gd name="T102" fmla="*/ 0 60000 65536"/>
              <ns1:gd name="T103" fmla="*/ 0 60000 65536"/>
              <ns1:gd name="T104" fmla="*/ 0 60000 65536"/>
              <ns1:gd name="T105" fmla="*/ 0 60000 65536"/>
              <ns1:gd name="T106" fmla="*/ 0 60000 65536"/>
              <ns1:gd name="T107" fmla="*/ 0 60000 65536"/>
              <ns1:gd name="T108" fmla="*/ 0 60000 65536"/>
              <ns1:gd name="T109" fmla="*/ 0 60000 65536"/>
              <ns1:gd name="T110" fmla="*/ 0 60000 65536"/>
              <ns1:gd name="T111" fmla="*/ 0 60000 65536"/>
              <ns1:gd name="T112" fmla="*/ 0 60000 65536"/>
              <ns1:gd name="T113" fmla="*/ 0 60000 65536"/>
              <ns1:gd name="T114" fmla="*/ 0 60000 65536"/>
              <ns1:gd name="T115" fmla="*/ 0 60000 65536"/>
              <ns1:gd name="T116" fmla="*/ 0 60000 65536"/>
              <ns1:gd name="T117" fmla="*/ 0 60000 65536"/>
              <ns1:gd name="T118" fmla="*/ 0 60000 65536"/>
              <ns1:gd name="T119" fmla="*/ 0 60000 65536"/>
              <ns1:gd name="T120" fmla="*/ 0 60000 65536"/>
              <ns1:gd name="T121" fmla="*/ 0 60000 65536"/>
              <ns1:gd name="T122" fmla="*/ 0 60000 65536"/>
              <ns1:gd name="T123" fmla="*/ 0 60000 65536"/>
              <ns1:gd name="T124" fmla="*/ 0 60000 65536"/>
              <ns1:gd name="T125" fmla="*/ 0 60000 65536"/>
              <ns1:gd name="T126" fmla="*/ 0 60000 65536"/>
              <ns1:gd name="T127" fmla="*/ 0 60000 65536"/>
              <ns1:gd name="T128" fmla="*/ 0 60000 65536"/>
              <ns1:gd name="T129" fmla="*/ 0 60000 65536"/>
              <ns1:gd name="T130" fmla="*/ 0 60000 65536"/>
              <ns1:gd name="T131" fmla="*/ 0 60000 65536"/>
              <ns1:gd name="T132" fmla="*/ 0 60000 65536"/>
              <ns1:gd name="T133" fmla="*/ 0 60000 65536"/>
              <ns1:gd name="T134" fmla="*/ 0 60000 65536"/>
              <ns1:gd name="T135" fmla="*/ 0 60000 65536"/>
              <ns1:gd name="T136" fmla="*/ 0 60000 65536"/>
              <ns1:gd name="T137" fmla="*/ 0 60000 65536"/>
              <ns1:gd name="T138" fmla="*/ 0 60000 65536"/>
              <ns1:gd name="T139" fmla="*/ 0 60000 65536"/>
              <ns1:gd name="T140" fmla="*/ 0 60000 65536"/>
              <ns1:gd name="T141" fmla="*/ 0 60000 65536"/>
              <ns1:gd name="T142" fmla="*/ 0 60000 65536"/>
              <ns1:gd name="T143" fmla="*/ 0 60000 65536"/>
              <ns1:gd name="T144" fmla="*/ 0 60000 65536"/>
              <ns1:gd name="T145" fmla="*/ 0 60000 65536"/>
              <ns1:gd name="T146" fmla="*/ 0 60000 65536"/>
              <ns1:gd name="T147" fmla="*/ 0 60000 65536"/>
              <ns1:gd name="T148" fmla="*/ 0 60000 65536"/>
              <ns1:gd name="T149" fmla="*/ 0 60000 65536"/>
              <ns1:gd name="T150" fmla="*/ 0 w 97"/>
              <ns1:gd name="T151" fmla="*/ 0 h 75"/>
              <ns1:gd name="T152" fmla="*/ 97 w 97"/>
              <ns1:gd name="T153" fmla="*/ 75 h 75"/>
            </ns1:gdLst>
            <ns1:ahLst/>
            <ns1:cxnLst>
              <ns1:cxn ang="T100">
                <ns1:pos x="T0" y="T1"/>
              </ns1:cxn>
              <ns1:cxn ang="T101">
                <ns1:pos x="T2" y="T3"/>
              </ns1:cxn>
              <ns1:cxn ang="T102">
                <ns1:pos x="T4" y="T5"/>
              </ns1:cxn>
              <ns1:cxn ang="T103">
                <ns1:pos x="T6" y="T7"/>
              </ns1:cxn>
              <ns1:cxn ang="T104">
                <ns1:pos x="T8" y="T9"/>
              </ns1:cxn>
              <ns1:cxn ang="T105">
                <ns1:pos x="T10" y="T11"/>
              </ns1:cxn>
              <ns1:cxn ang="T106">
                <ns1:pos x="T12" y="T13"/>
              </ns1:cxn>
              <ns1:cxn ang="T107">
                <ns1:pos x="T14" y="T15"/>
              </ns1:cxn>
              <ns1:cxn ang="T108">
                <ns1:pos x="T16" y="T17"/>
              </ns1:cxn>
              <ns1:cxn ang="T109">
                <ns1:pos x="T18" y="T19"/>
              </ns1:cxn>
              <ns1:cxn ang="T110">
                <ns1:pos x="T20" y="T21"/>
              </ns1:cxn>
              <ns1:cxn ang="T111">
                <ns1:pos x="T22" y="T23"/>
              </ns1:cxn>
              <ns1:cxn ang="T112">
                <ns1:pos x="T24" y="T25"/>
              </ns1:cxn>
              <ns1:cxn ang="T113">
                <ns1:pos x="T26" y="T27"/>
              </ns1:cxn>
              <ns1:cxn ang="T114">
                <ns1:pos x="T28" y="T29"/>
              </ns1:cxn>
              <ns1:cxn ang="T115">
                <ns1:pos x="T30" y="T31"/>
              </ns1:cxn>
              <ns1:cxn ang="T116">
                <ns1:pos x="T32" y="T33"/>
              </ns1:cxn>
              <ns1:cxn ang="T117">
                <ns1:pos x="T34" y="T35"/>
              </ns1:cxn>
              <ns1:cxn ang="T118">
                <ns1:pos x="T36" y="T37"/>
              </ns1:cxn>
              <ns1:cxn ang="T119">
                <ns1:pos x="T38" y="T39"/>
              </ns1:cxn>
              <ns1:cxn ang="T120">
                <ns1:pos x="T40" y="T41"/>
              </ns1:cxn>
              <ns1:cxn ang="T121">
                <ns1:pos x="T42" y="T43"/>
              </ns1:cxn>
              <ns1:cxn ang="T122">
                <ns1:pos x="T44" y="T45"/>
              </ns1:cxn>
              <ns1:cxn ang="T123">
                <ns1:pos x="T46" y="T47"/>
              </ns1:cxn>
              <ns1:cxn ang="T124">
                <ns1:pos x="T48" y="T49"/>
              </ns1:cxn>
              <ns1:cxn ang="T125">
                <ns1:pos x="T50" y="T51"/>
              </ns1:cxn>
              <ns1:cxn ang="T126">
                <ns1:pos x="T52" y="T53"/>
              </ns1:cxn>
              <ns1:cxn ang="T127">
                <ns1:pos x="T54" y="T55"/>
              </ns1:cxn>
              <ns1:cxn ang="T128">
                <ns1:pos x="T56" y="T57"/>
              </ns1:cxn>
              <ns1:cxn ang="T129">
                <ns1:pos x="T58" y="T59"/>
              </ns1:cxn>
              <ns1:cxn ang="T130">
                <ns1:pos x="T60" y="T61"/>
              </ns1:cxn>
              <ns1:cxn ang="T131">
                <ns1:pos x="T62" y="T63"/>
              </ns1:cxn>
              <ns1:cxn ang="T132">
                <ns1:pos x="T64" y="T65"/>
              </ns1:cxn>
              <ns1:cxn ang="T133">
                <ns1:pos x="T66" y="T67"/>
              </ns1:cxn>
              <ns1:cxn ang="T134">
                <ns1:pos x="T68" y="T69"/>
              </ns1:cxn>
              <ns1:cxn ang="T135">
                <ns1:pos x="T70" y="T71"/>
              </ns1:cxn>
              <ns1:cxn ang="T136">
                <ns1:pos x="T72" y="T73"/>
              </ns1:cxn>
              <ns1:cxn ang="T137">
                <ns1:pos x="T74" y="T75"/>
              </ns1:cxn>
              <ns1:cxn ang="T138">
                <ns1:pos x="T76" y="T77"/>
              </ns1:cxn>
              <ns1:cxn ang="T139">
                <ns1:pos x="T78" y="T79"/>
              </ns1:cxn>
              <ns1:cxn ang="T140">
                <ns1:pos x="T80" y="T81"/>
              </ns1:cxn>
              <ns1:cxn ang="T141">
                <ns1:pos x="T82" y="T83"/>
              </ns1:cxn>
              <ns1:cxn ang="T142">
                <ns1:pos x="T84" y="T85"/>
              </ns1:cxn>
              <ns1:cxn ang="T143">
                <ns1:pos x="T86" y="T87"/>
              </ns1:cxn>
              <ns1:cxn ang="T144">
                <ns1:pos x="T88" y="T89"/>
              </ns1:cxn>
              <ns1:cxn ang="T145">
                <ns1:pos x="T90" y="T91"/>
              </ns1:cxn>
              <ns1:cxn ang="T146">
                <ns1:pos x="T92" y="T93"/>
              </ns1:cxn>
              <ns1:cxn ang="T147">
                <ns1:pos x="T94" y="T95"/>
              </ns1:cxn>
              <ns1:cxn ang="T148">
                <ns1:pos x="T96" y="T97"/>
              </ns1:cxn>
              <ns1:cxn ang="T149">
                <ns1:pos x="T98" y="T99"/>
              </ns1:cxn>
            </ns1:cxnLst>
            <ns1:rect l="T150" t="T151" r="T152" b="T153"/>
            <ns1:pathLst>
              <ns1:path w="97" h="75">
                <ns1:moveTo>
                  <ns1:pt x="33" y="75"/>
                </ns1:moveTo>
                <ns1:cubicBezTo>
                  <ns1:pt x="37" y="75"/>
                  <ns1:pt x="40" y="75"/>
                  <ns1:pt x="44" y="75"/>
                </ns1:cubicBezTo>
                <ns1:cubicBezTo>
                  <ns1:pt x="45" y="75"/>
                  <ns1:pt x="47" y="74"/>
                  <ns1:pt x="47" y="73"/>
                </ns1:cubicBezTo>
                <ns1:cubicBezTo>
                  <ns1:pt x="47" y="49"/>
                  <ns1:pt x="47" y="49"/>
                  <ns1:pt x="47" y="49"/>
                </ns1:cubicBezTo>
                <ns1:cubicBezTo>
                  <ns1:pt x="39" y="45"/>
                  <ns1:pt x="39" y="45"/>
                  <ns1:pt x="39" y="45"/>
                </ns1:cubicBezTo>
                <ns1:cubicBezTo>
                  <ns1:pt x="30" y="50"/>
                  <ns1:pt x="30" y="50"/>
                  <ns1:pt x="30" y="50"/>
                </ns1:cubicBezTo>
                <ns1:cubicBezTo>
                  <ns1:pt x="30" y="73"/>
                  <ns1:pt x="30" y="73"/>
                  <ns1:pt x="30" y="73"/>
                </ns1:cubicBezTo>
                <ns1:cubicBezTo>
                  <ns1:pt x="30" y="74"/>
                  <ns1:pt x="31" y="75"/>
                  <ns1:pt x="33" y="75"/>
                </ns1:cubicBezTo>
                <ns1:close/>
                <ns1:moveTo>
                  <ns1:pt x="0" y="49"/>
                </ns1:moveTo>
                <ns1:cubicBezTo>
                  <ns1:pt x="37" y="28"/>
                  <ns1:pt x="37" y="28"/>
                  <ns1:pt x="37" y="28"/>
                </ns1:cubicBezTo>
                <ns1:cubicBezTo>
                  <ns1:pt x="39" y="26"/>
                  <ns1:pt x="39" y="26"/>
                  <ns1:pt x="39" y="26"/>
                </ns1:cubicBezTo>
                <ns1:cubicBezTo>
                  <ns1:pt x="41" y="28"/>
                  <ns1:pt x="41" y="28"/>
                  <ns1:pt x="41" y="28"/>
                </ns1:cubicBezTo>
                <ns1:cubicBezTo>
                  <ns1:pt x="52" y="34"/>
                  <ns1:pt x="52" y="34"/>
                  <ns1:pt x="52" y="34"/>
                </ns1:cubicBezTo>
                <ns1:cubicBezTo>
                  <ns1:pt x="81" y="9"/>
                  <ns1:pt x="81" y="9"/>
                  <ns1:pt x="81" y="9"/>
                </ns1:cubicBezTo>
                <ns1:cubicBezTo>
                  <ns1:pt x="77" y="4"/>
                  <ns1:pt x="77" y="4"/>
                  <ns1:pt x="77" y="4"/>
                </ns1:cubicBezTo>
                <ns1:cubicBezTo>
                  <ns1:pt x="87" y="2"/>
                  <ns1:pt x="87" y="2"/>
                  <ns1:pt x="87" y="2"/>
                </ns1:cubicBezTo>
                <ns1:cubicBezTo>
                  <ns1:pt x="97" y="0"/>
                  <ns1:pt x="97" y="0"/>
                  <ns1:pt x="97" y="0"/>
                </ns1:cubicBezTo>
                <ns1:cubicBezTo>
                  <ns1:pt x="94" y="10"/>
                  <ns1:pt x="94" y="10"/>
                  <ns1:pt x="94" y="10"/>
                </ns1:cubicBezTo>
                <ns1:cubicBezTo>
                  <ns1:pt x="91" y="19"/>
                  <ns1:pt x="91" y="19"/>
                  <ns1:pt x="91" y="19"/>
                </ns1:cubicBezTo>
                <ns1:cubicBezTo>
                  <ns1:pt x="87" y="15"/>
                  <ns1:pt x="87" y="15"/>
                  <ns1:pt x="87" y="15"/>
                </ns1:cubicBezTo>
                <ns1:cubicBezTo>
                  <ns1:pt x="55" y="42"/>
                  <ns1:pt x="55" y="42"/>
                  <ns1:pt x="55" y="42"/>
                </ns1:cubicBezTo>
                <ns1:cubicBezTo>
                  <ns1:pt x="53" y="44"/>
                  <ns1:pt x="53" y="44"/>
                  <ns1:pt x="53" y="44"/>
                </ns1:cubicBezTo>
                <ns1:cubicBezTo>
                  <ns1:pt x="50" y="43"/>
                  <ns1:pt x="50" y="43"/>
                  <ns1:pt x="50" y="43"/>
                </ns1:cubicBezTo>
                <ns1:cubicBezTo>
                  <ns1:pt x="39" y="36"/>
                  <ns1:pt x="39" y="36"/>
                  <ns1:pt x="39" y="36"/>
                </ns1:cubicBezTo>
                <ns1:cubicBezTo>
                  <ns1:pt x="5" y="57"/>
                  <ns1:pt x="5" y="57"/>
                  <ns1:pt x="5" y="57"/>
                </ns1:cubicBezTo>
                <ns1:cubicBezTo>
                  <ns1:pt x="0" y="49"/>
                  <ns1:pt x="0" y="49"/>
                  <ns1:pt x="0" y="49"/>
                </ns1:cubicBezTo>
                <ns1:close/>
                <ns1:moveTo>
                  <ns1:pt x="10" y="75"/>
                </ns1:moveTo>
                <ns1:cubicBezTo>
                  <ns1:pt x="21" y="75"/>
                  <ns1:pt x="21" y="75"/>
                  <ns1:pt x="21" y="75"/>
                </ns1:cubicBezTo>
                <ns1:cubicBezTo>
                  <ns1:pt x="22" y="75"/>
                  <ns1:pt x="23" y="74"/>
                  <ns1:pt x="23" y="73"/>
                </ns1:cubicBezTo>
                <ns1:cubicBezTo>
                  <ns1:pt x="23" y="54"/>
                  <ns1:pt x="23" y="54"/>
                  <ns1:pt x="23" y="54"/>
                </ns1:cubicBezTo>
                <ns1:cubicBezTo>
                  <ns1:pt x="7" y="64"/>
                  <ns1:pt x="7" y="64"/>
                  <ns1:pt x="7" y="64"/>
                </ns1:cubicBezTo>
                <ns1:cubicBezTo>
                  <ns1:pt x="7" y="73"/>
                  <ns1:pt x="7" y="73"/>
                  <ns1:pt x="7" y="73"/>
                </ns1:cubicBezTo>
                <ns1:cubicBezTo>
                  <ns1:pt x="7" y="74"/>
                  <ns1:pt x="8" y="75"/>
                  <ns1:pt x="10" y="75"/>
                </ns1:cubicBezTo>
                <ns1:close/>
                <ns1:moveTo>
                  <ns1:pt x="56" y="75"/>
                </ns1:moveTo>
                <ns1:cubicBezTo>
                  <ns1:pt x="60" y="75"/>
                  <ns1:pt x="63" y="75"/>
                  <ns1:pt x="67" y="75"/>
                </ns1:cubicBezTo>
                <ns1:cubicBezTo>
                  <ns1:pt x="69" y="75"/>
                  <ns1:pt x="70" y="74"/>
                  <ns1:pt x="70" y="73"/>
                </ns1:cubicBezTo>
                <ns1:cubicBezTo>
                  <ns1:pt x="70" y="62"/>
                  <ns1:pt x="70" y="50"/>
                  <ns1:pt x="70" y="39"/>
                </ns1:cubicBezTo>
                <ns1:cubicBezTo>
                  <ns1:pt x="70" y="39"/>
                  <ns1:pt x="70" y="39"/>
                  <ns1:pt x="70" y="39"/>
                </ns1:cubicBezTo>
                <ns1:cubicBezTo>
                  <ns1:pt x="54" y="53"/>
                  <ns1:pt x="54" y="53"/>
                  <ns1:pt x="54" y="53"/>
                </ns1:cubicBezTo>
                <ns1:cubicBezTo>
                  <ns1:pt x="53" y="52"/>
                  <ns1:pt x="53" y="52"/>
                  <ns1:pt x="53" y="52"/>
                </ns1:cubicBezTo>
                <ns1:cubicBezTo>
                  <ns1:pt x="53" y="73"/>
                  <ns1:pt x="53" y="73"/>
                  <ns1:pt x="53" y="73"/>
                </ns1:cubicBezTo>
                <ns1:cubicBezTo>
                  <ns1:pt x="53" y="74"/>
                  <ns1:pt x="55" y="75"/>
                  <ns1:pt x="56" y="75"/>
                </ns1:cubicBezTo>
                <ns1:close/>
                <ns1:moveTo>
                  <ns1:pt x="79" y="75"/>
                </ns1:moveTo>
                <ns1:cubicBezTo>
                  <ns1:pt x="90" y="75"/>
                  <ns1:pt x="90" y="75"/>
                  <ns1:pt x="90" y="75"/>
                </ns1:cubicBezTo>
                <ns1:cubicBezTo>
                  <ns1:pt x="92" y="75"/>
                  <ns1:pt x="93" y="74"/>
                  <ns1:pt x="93" y="73"/>
                </ns1:cubicBezTo>
                <ns1:cubicBezTo>
                  <ns1:pt x="93" y="32"/>
                  <ns1:pt x="93" y="32"/>
                  <ns1:pt x="93" y="32"/>
                </ns1:cubicBezTo>
                <ns1:cubicBezTo>
                  <ns1:pt x="86" y="24"/>
                  <ns1:pt x="86" y="24"/>
                  <ns1:pt x="86" y="24"/>
                </ns1:cubicBezTo>
                <ns1:cubicBezTo>
                  <ns1:pt x="77" y="33"/>
                  <ns1:pt x="77" y="33"/>
                  <ns1:pt x="77" y="33"/>
                </ns1:cubicBezTo>
                <ns1:cubicBezTo>
                  <ns1:pt x="77" y="73"/>
                  <ns1:pt x="77" y="73"/>
                  <ns1:pt x="77" y="73"/>
                </ns1:cubicBezTo>
                <ns1:cubicBezTo>
                  <ns1:pt x="77" y="74"/>
                  <ns1:pt x="78" y="75"/>
                  <ns1:pt x="79" y="75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zh-CN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  <ns1:sym typeface="宋体" panose="02010600030101010101" pitchFamily="2" charset="-122"/>
            </ns1:endParaRPr>
          </ns1:p>
        </ns0:txBody>
      </ns0:sp>
      <ns0:sp>
        <ns0:nvSpPr>
          <ns0:cNvPr id="13" name="Freeform 33"/>
          <ns0:cNvSpPr>
            <ns1:spLocks noEditPoints="1" noChangeArrowheads="1"/>
          </ns0:cNvSpPr>
          <ns0:nvPr/>
        </ns0:nvSpPr>
        <ns0:spPr bwMode="auto">
          <ns1:xfrm>
            <ns1:off x="6899275" y="3673475"/>
            <ns1:ext cx="412750" cy="266700"/>
          </ns1:xfrm>
          <ns1:custGeom>
            <ns1:avLst/>
            <ns1:gdLst>
              <ns1:gd name="T0" fmla="*/ 13 w 94"/>
              <ns1:gd name="T1" fmla="*/ 0 h 61"/>
              <ns1:gd name="T2" fmla="*/ 82 w 94"/>
              <ns1:gd name="T3" fmla="*/ 0 h 61"/>
              <ns1:gd name="T4" fmla="*/ 89 w 94"/>
              <ns1:gd name="T5" fmla="*/ 2 h 61"/>
              <ns1:gd name="T6" fmla="*/ 47 w 94"/>
              <ns1:gd name="T7" fmla="*/ 33 h 61"/>
              <ns1:gd name="T8" fmla="*/ 6 w 94"/>
              <ns1:gd name="T9" fmla="*/ 2 h 61"/>
              <ns1:gd name="T10" fmla="*/ 13 w 94"/>
              <ns1:gd name="T11" fmla="*/ 0 h 61"/>
              <ns1:gd name="T12" fmla="*/ 94 w 94"/>
              <ns1:gd name="T13" fmla="*/ 9 h 61"/>
              <ns1:gd name="T14" fmla="*/ 67 w 94"/>
              <ns1:gd name="T15" fmla="*/ 29 h 61"/>
              <ns1:gd name="T16" fmla="*/ 93 w 94"/>
              <ns1:gd name="T17" fmla="*/ 53 h 61"/>
              <ns1:gd name="T18" fmla="*/ 94 w 94"/>
              <ns1:gd name="T19" fmla="*/ 48 h 61"/>
              <ns1:gd name="T20" fmla="*/ 94 w 94"/>
              <ns1:gd name="T21" fmla="*/ 12 h 61"/>
              <ns1:gd name="T22" fmla="*/ 94 w 94"/>
              <ns1:gd name="T23" fmla="*/ 9 h 61"/>
              <ns1:gd name="T24" fmla="*/ 87 w 94"/>
              <ns1:gd name="T25" fmla="*/ 60 h 61"/>
              <ns1:gd name="T26" fmla="*/ 82 w 94"/>
              <ns1:gd name="T27" fmla="*/ 61 h 61"/>
              <ns1:gd name="T28" fmla="*/ 13 w 94"/>
              <ns1:gd name="T29" fmla="*/ 61 h 61"/>
              <ns1:gd name="T30" fmla="*/ 6 w 94"/>
              <ns1:gd name="T31" fmla="*/ 59 h 61"/>
              <ns1:gd name="T32" fmla="*/ 34 w 94"/>
              <ns1:gd name="T33" fmla="*/ 34 h 61"/>
              <ns1:gd name="T34" fmla="*/ 44 w 94"/>
              <ns1:gd name="T35" fmla="*/ 42 h 61"/>
              <ns1:gd name="T36" fmla="*/ 47 w 94"/>
              <ns1:gd name="T37" fmla="*/ 44 h 61"/>
              <ns1:gd name="T38" fmla="*/ 50 w 94"/>
              <ns1:gd name="T39" fmla="*/ 42 h 61"/>
              <ns1:gd name="T40" fmla="*/ 60 w 94"/>
              <ns1:gd name="T41" fmla="*/ 35 h 61"/>
              <ns1:gd name="T42" fmla="*/ 87 w 94"/>
              <ns1:gd name="T43" fmla="*/ 60 h 61"/>
              <ns1:gd name="T44" fmla="*/ 1 w 94"/>
              <ns1:gd name="T45" fmla="*/ 52 h 61"/>
              <ns1:gd name="T46" fmla="*/ 27 w 94"/>
              <ns1:gd name="T47" fmla="*/ 29 h 61"/>
              <ns1:gd name="T48" fmla="*/ 1 w 94"/>
              <ns1:gd name="T49" fmla="*/ 9 h 61"/>
              <ns1:gd name="T50" fmla="*/ 0 w 94"/>
              <ns1:gd name="T51" fmla="*/ 12 h 61"/>
              <ns1:gd name="T52" fmla="*/ 0 w 94"/>
              <ns1:gd name="T53" fmla="*/ 48 h 61"/>
              <ns1:gd name="T54" fmla="*/ 1 w 94"/>
              <ns1:gd name="T55" fmla="*/ 52 h 61"/>
              <ns1:gd name="T56" fmla="*/ 0 60000 65536"/>
              <ns1:gd name="T57" fmla="*/ 0 60000 65536"/>
              <ns1:gd name="T58" fmla="*/ 0 60000 65536"/>
              <ns1:gd name="T59" fmla="*/ 0 60000 65536"/>
              <ns1:gd name="T60" fmla="*/ 0 60000 65536"/>
              <ns1:gd name="T61" fmla="*/ 0 60000 65536"/>
              <ns1:gd name="T62" fmla="*/ 0 60000 65536"/>
              <ns1:gd name="T63" fmla="*/ 0 60000 65536"/>
              <ns1:gd name="T64" fmla="*/ 0 60000 65536"/>
              <ns1:gd name="T65" fmla="*/ 0 60000 65536"/>
              <ns1:gd name="T66" fmla="*/ 0 60000 65536"/>
              <ns1:gd name="T67" fmla="*/ 0 60000 65536"/>
              <ns1:gd name="T68" fmla="*/ 0 60000 65536"/>
              <ns1:gd name="T69" fmla="*/ 0 60000 65536"/>
              <ns1:gd name="T70" fmla="*/ 0 60000 65536"/>
              <ns1:gd name="T71" fmla="*/ 0 60000 65536"/>
              <ns1:gd name="T72" fmla="*/ 0 60000 65536"/>
              <ns1:gd name="T73" fmla="*/ 0 60000 65536"/>
              <ns1:gd name="T74" fmla="*/ 0 60000 65536"/>
              <ns1:gd name="T75" fmla="*/ 0 60000 65536"/>
              <ns1:gd name="T76" fmla="*/ 0 60000 65536"/>
              <ns1:gd name="T77" fmla="*/ 0 60000 65536"/>
              <ns1:gd name="T78" fmla="*/ 0 60000 65536"/>
              <ns1:gd name="T79" fmla="*/ 0 60000 65536"/>
              <ns1:gd name="T80" fmla="*/ 0 60000 65536"/>
              <ns1:gd name="T81" fmla="*/ 0 60000 65536"/>
              <ns1:gd name="T82" fmla="*/ 0 60000 65536"/>
              <ns1:gd name="T83" fmla="*/ 0 60000 65536"/>
              <ns1:gd name="T84" fmla="*/ 0 w 94"/>
              <ns1:gd name="T85" fmla="*/ 0 h 61"/>
              <ns1:gd name="T86" fmla="*/ 94 w 94"/>
              <ns1:gd name="T87" fmla="*/ 61 h 61"/>
            </ns1:gdLst>
            <ns1:ahLst/>
            <ns1:cxnLst>
              <ns1:cxn ang="T56">
                <ns1:pos x="T0" y="T1"/>
              </ns1:cxn>
              <ns1:cxn ang="T57">
                <ns1:pos x="T2" y="T3"/>
              </ns1:cxn>
              <ns1:cxn ang="T58">
                <ns1:pos x="T4" y="T5"/>
              </ns1:cxn>
              <ns1:cxn ang="T59">
                <ns1:pos x="T6" y="T7"/>
              </ns1:cxn>
              <ns1:cxn ang="T60">
                <ns1:pos x="T8" y="T9"/>
              </ns1:cxn>
              <ns1:cxn ang="T61">
                <ns1:pos x="T10" y="T11"/>
              </ns1:cxn>
              <ns1:cxn ang="T62">
                <ns1:pos x="T12" y="T13"/>
              </ns1:cxn>
              <ns1:cxn ang="T63">
                <ns1:pos x="T14" y="T15"/>
              </ns1:cxn>
              <ns1:cxn ang="T64">
                <ns1:pos x="T16" y="T17"/>
              </ns1:cxn>
              <ns1:cxn ang="T65">
                <ns1:pos x="T18" y="T19"/>
              </ns1:cxn>
              <ns1:cxn ang="T66">
                <ns1:pos x="T20" y="T21"/>
              </ns1:cxn>
              <ns1:cxn ang="T67">
                <ns1:pos x="T22" y="T23"/>
              </ns1:cxn>
              <ns1:cxn ang="T68">
                <ns1:pos x="T24" y="T25"/>
              </ns1:cxn>
              <ns1:cxn ang="T69">
                <ns1:pos x="T26" y="T27"/>
              </ns1:cxn>
              <ns1:cxn ang="T70">
                <ns1:pos x="T28" y="T29"/>
              </ns1:cxn>
              <ns1:cxn ang="T71">
                <ns1:pos x="T30" y="T31"/>
              </ns1:cxn>
              <ns1:cxn ang="T72">
                <ns1:pos x="T32" y="T33"/>
              </ns1:cxn>
              <ns1:cxn ang="T73">
                <ns1:pos x="T34" y="T35"/>
              </ns1:cxn>
              <ns1:cxn ang="T74">
                <ns1:pos x="T36" y="T37"/>
              </ns1:cxn>
              <ns1:cxn ang="T75">
                <ns1:pos x="T38" y="T39"/>
              </ns1:cxn>
              <ns1:cxn ang="T76">
                <ns1:pos x="T40" y="T41"/>
              </ns1:cxn>
              <ns1:cxn ang="T77">
                <ns1:pos x="T42" y="T43"/>
              </ns1:cxn>
              <ns1:cxn ang="T78">
                <ns1:pos x="T44" y="T45"/>
              </ns1:cxn>
              <ns1:cxn ang="T79">
                <ns1:pos x="T46" y="T47"/>
              </ns1:cxn>
              <ns1:cxn ang="T80">
                <ns1:pos x="T48" y="T49"/>
              </ns1:cxn>
              <ns1:cxn ang="T81">
                <ns1:pos x="T50" y="T51"/>
              </ns1:cxn>
              <ns1:cxn ang="T82">
                <ns1:pos x="T52" y="T53"/>
              </ns1:cxn>
              <ns1:cxn ang="T83">
                <ns1:pos x="T54" y="T55"/>
              </ns1:cxn>
            </ns1:cxnLst>
            <ns1:rect l="T84" t="T85" r="T86" b="T87"/>
            <ns1:pathLst>
              <ns1:path w="94" h="61">
                <ns1:moveTo>
                  <ns1:pt x="13" y="0"/>
                </ns1:moveTo>
                <ns1:cubicBezTo>
                  <ns1:pt x="82" y="0"/>
                  <ns1:pt x="82" y="0"/>
                  <ns1:pt x="82" y="0"/>
                </ns1:cubicBezTo>
                <ns1:cubicBezTo>
                  <ns1:pt x="84" y="0"/>
                  <ns1:pt x="87" y="1"/>
                  <ns1:pt x="89" y="2"/>
                </ns1:cubicBezTo>
                <ns1:cubicBezTo>
                  <ns1:pt x="47" y="33"/>
                  <ns1:pt x="47" y="33"/>
                  <ns1:pt x="47" y="33"/>
                </ns1:cubicBezTo>
                <ns1:cubicBezTo>
                  <ns1:pt x="6" y="2"/>
                  <ns1:pt x="6" y="2"/>
                  <ns1:pt x="6" y="2"/>
                </ns1:cubicBezTo>
                <ns1:cubicBezTo>
                  <ns1:pt x="8" y="1"/>
                  <ns1:pt x="10" y="0"/>
                  <ns1:pt x="13" y="0"/>
                </ns1:cubicBezTo>
                <ns1:close/>
                <ns1:moveTo>
                  <ns1:pt x="94" y="9"/>
                </ns1:moveTo>
                <ns1:cubicBezTo>
                  <ns1:pt x="67" y="29"/>
                  <ns1:pt x="67" y="29"/>
                  <ns1:pt x="67" y="29"/>
                </ns1:cubicBezTo>
                <ns1:cubicBezTo>
                  <ns1:pt x="93" y="53"/>
                  <ns1:pt x="93" y="53"/>
                  <ns1:pt x="93" y="53"/>
                </ns1:cubicBezTo>
                <ns1:cubicBezTo>
                  <ns1:pt x="94" y="52"/>
                  <ns1:pt x="94" y="50"/>
                  <ns1:pt x="94" y="48"/>
                </ns1:cubicBezTo>
                <ns1:cubicBezTo>
                  <ns1:pt x="94" y="12"/>
                  <ns1:pt x="94" y="12"/>
                  <ns1:pt x="94" y="12"/>
                </ns1:cubicBezTo>
                <ns1:cubicBezTo>
                  <ns1:pt x="94" y="11"/>
                  <ns1:pt x="94" y="10"/>
                  <ns1:pt x="94" y="9"/>
                </ns1:cubicBezTo>
                <ns1:close/>
                <ns1:moveTo>
                  <ns1:pt x="87" y="60"/>
                </ns1:moveTo>
                <ns1:cubicBezTo>
                  <ns1:pt x="85" y="60"/>
                  <ns1:pt x="84" y="61"/>
                  <ns1:pt x="82" y="61"/>
                </ns1:cubicBezTo>
                <ns1:cubicBezTo>
                  <ns1:pt x="13" y="61"/>
                  <ns1:pt x="13" y="61"/>
                  <ns1:pt x="13" y="61"/>
                </ns1:cubicBezTo>
                <ns1:cubicBezTo>
                  <ns1:pt x="10" y="61"/>
                  <ns1:pt x="8" y="60"/>
                  <ns1:pt x="6" y="59"/>
                </ns1:cubicBezTo>
                <ns1:cubicBezTo>
                  <ns1:pt x="34" y="34"/>
                  <ns1:pt x="34" y="34"/>
                  <ns1:pt x="34" y="34"/>
                </ns1:cubicBezTo>
                <ns1:cubicBezTo>
                  <ns1:pt x="44" y="42"/>
                  <ns1:pt x="44" y="42"/>
                  <ns1:pt x="44" y="42"/>
                </ns1:cubicBezTo>
                <ns1:cubicBezTo>
                  <ns1:pt x="47" y="44"/>
                  <ns1:pt x="47" y="44"/>
                  <ns1:pt x="47" y="44"/>
                </ns1:cubicBezTo>
                <ns1:cubicBezTo>
                  <ns1:pt x="50" y="42"/>
                  <ns1:pt x="50" y="42"/>
                  <ns1:pt x="50" y="42"/>
                </ns1:cubicBezTo>
                <ns1:cubicBezTo>
                  <ns1:pt x="60" y="35"/>
                  <ns1:pt x="60" y="35"/>
                  <ns1:pt x="60" y="35"/>
                </ns1:cubicBezTo>
                <ns1:cubicBezTo>
                  <ns1:pt x="87" y="60"/>
                  <ns1:pt x="87" y="60"/>
                  <ns1:pt x="87" y="60"/>
                </ns1:cubicBezTo>
                <ns1:close/>
                <ns1:moveTo>
                  <ns1:pt x="1" y="52"/>
                </ns1:moveTo>
                <ns1:cubicBezTo>
                  <ns1:pt x="27" y="29"/>
                  <ns1:pt x="27" y="29"/>
                  <ns1:pt x="27" y="29"/>
                </ns1:cubicBezTo>
                <ns1:cubicBezTo>
                  <ns1:pt x="1" y="9"/>
                  <ns1:pt x="1" y="9"/>
                  <ns1:pt x="1" y="9"/>
                </ns1:cubicBezTo>
                <ns1:cubicBezTo>
                  <ns1:pt x="0" y="10"/>
                  <ns1:pt x="0" y="11"/>
                  <ns1:pt x="0" y="12"/>
                </ns1:cubicBezTo>
                <ns1:cubicBezTo>
                  <ns1:pt x="0" y="48"/>
                  <ns1:pt x="0" y="48"/>
                  <ns1:pt x="0" y="48"/>
                </ns1:cubicBezTo>
                <ns1:cubicBezTo>
                  <ns1:pt x="0" y="49"/>
                  <ns1:pt x="0" y="51"/>
                  <ns1:pt x="1" y="52"/>
                </ns1:cubicBezTo>
                <ns1:close/>
              </ns1:path>
            </ns1:pathLst>
          </ns1:custGeom>
          <ns1:solidFill>
            <ns1:schemeClr val="bg1"/>
          </ns1:solidFill>
          <ns1:ln>
            <ns1:noFill/>
          </ns1:ln>
        </ns0:spPr>
        <ns0:txBody>
          <ns1:bodyPr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zh-CN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  <ns1:sym typeface="宋体" panose="02010600030101010101" pitchFamily="2" charset="-122"/>
            </ns1:endParaRP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5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10" presetClass="entr" presetSubtype="0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" dur="5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13" dur="50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4" presetID="23" presetClass="entr" presetSubtype="1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6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7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8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0" dur="50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1" presetID="53" presetClass="entr" presetSubtype="16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2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3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4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25" dur="5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8" dur="50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23" presetClass="entr" presetSubtype="1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1" dur="500" fill="hold"/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2" dur="500" fill="hold"/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3" presetID="22" presetClass="entr" presetSubtype="2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35" dur="50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6" presetID="53" presetClass="entr" presetSubtype="16" fill="hold" grpId="0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3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8" dur="500" fill="hold"/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9" dur="500" fill="hold"/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Effect transition="in" filter="fade">
                                      <ns0:cBhvr>
                                        <ns0:cTn id="40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8" grpId="0"/>
      <ns0:bldP spid="9" grpId="0"/>
      <ns0:bldP spid="10" grpId="0"/>
      <ns0:bldP spid="11" grpId="0"/>
    </ns0:bldLst>
  </ns0:timing>
</ns0:sld>
</file>

<file path=ppt/slides/slide1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2" name="直接箭头连接符 5"/>
          <ns0:cNvCxnSpPr/>
          <ns0:nvPr/>
        </ns0:nvCxnSpPr>
        <ns0:spPr>
          <ns1:xfrm>
            <ns1:off x="377983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3" name="直接箭头连接符 6"/>
          <ns0:cNvCxnSpPr/>
          <ns0:nvPr/>
        </ns0:nvCxnSpPr>
        <ns0:spPr>
          <ns1:xfrm>
            <ns1:off x="694213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4" name="直接箭头连接符 7"/>
          <ns0:cNvCxnSpPr/>
          <ns0:nvPr/>
        </ns0:nvCxnSpPr>
        <ns0:spPr>
          <ns1:xfrm>
            <ns1:off x="219868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cxnSp>
        <ns0:nvCxnSpPr>
          <ns0:cNvPr id="5" name="直接箭头连接符 8"/>
          <ns0:cNvCxnSpPr/>
          <ns0:nvPr/>
        </ns0:nvCxnSpPr>
        <ns0:spPr>
          <ns1:xfrm>
            <ns1:off x="5360988" y="2424113"/>
            <ns1:ext cx="0" cy="585787"/>
          </ns1:xfrm>
          <ns1:prstGeom prst="straightConnector1">
            <ns1:avLst/>
          </ns1:prstGeom>
          <ns1:ln w="19050" cap="flat" cmpd="sng">
            <ns1:solidFill>
              <ns1:schemeClr val="bg1"/>
            </ns1:solidFill>
            <ns1:prstDash val="sysDash"/>
            <ns1:miter/>
            <ns1:headEnd type="oval" w="med" len="med"/>
            <ns1:tailEnd type="triangle" w="med" len="med"/>
          </ns1:ln>
        </ns0:spPr>
      </ns0:cxnSp>
      <ns0:sp>
        <ns0:nvSpPr>
          <ns0:cNvPr id="6" name="环形箭头 5"/>
          <ns0:cNvSpPr/>
          <ns0:nvPr/>
        </ns0:nvSpPr>
        <ns0:spPr>
          <ns1:xfrm flipH="1">
            <ns1:off x="1560513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结论：PoisonedRAG在黑盒/白盒场景下均实现高攻击成功率与F1分数</ns1:t>
            </ns1:r>
          </ns1:p>
          <ns1:p>
            <ns1:pPr/>
            <ns1:r>
              <ns1:t>白盒场景性能整体更优，部分场景黑盒表现反超存在特定原因</ns1:t>
            </ns1:r>
          </ns1:p>
          <ns1:p>
            <ns1:pPr/>
            <ns1:r>
              <ns1:t>相较于各类基线攻击，PoisonedRAG攻击性能显著领先</ns1:t>
            </ns1:r>
          </ns1:p>
        </ns0:txBody>
      </ns0:sp>
      <ns0:sp>
        <ns0:nvSpPr>
          <ns0:cNvPr id="7" name="TextBox 31"/>
          <ns0:cNvSpPr txBox="1"/>
          <ns0:nvPr/>
        </ns0:nvSpPr>
        <ns0:spPr>
          <ns1:xfrm>
            <ns1:off x="1477963" y="3021013"/>
            <ns1:ext cx="1409700" cy="1084263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8" name="环形箭头 7"/>
          <ns0:cNvSpPr/>
          <ns0:nvPr/>
        </ns0:nvSpPr>
        <ns0:spPr>
          <ns1:xfrm flipH="1">
            <ns1:off x="3141663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  <ns1:miter lim="800000"/>
          </ns1:ln>
          <ns1:effectLst/>
        </ns0:spPr>
        <ns0:txBody>
          <ns1:bodyPr wrap="none"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350" b="1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9" name="TextBox 31"/>
          <ns0:cNvSpPr txBox="1"/>
          <ns0:nvPr/>
        </ns0:nvSpPr>
        <ns0:spPr>
          <ns1:xfrm>
            <ns1:off x="3059113" y="3021013"/>
            <ns1:ext cx="1408113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10" name="环形箭头 9"/>
          <ns0:cNvSpPr/>
          <ns0:nvPr/>
        </ns0:nvSpPr>
        <ns0:spPr>
          <ns1:xfrm flipH="1">
            <ns1:off x="4722813" y="1262063"/>
            <ns1:ext cx="1276350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11" name="TextBox 31"/>
          <ns0:cNvSpPr txBox="1"/>
          <ns0:nvPr/>
        </ns0:nvSpPr>
        <ns0:spPr>
          <ns1:xfrm>
            <ns1:off x="4638675" y="3021013"/>
            <ns1:ext cx="1409700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sp>
        <ns0:nvSpPr>
          <ns0:cNvPr id="12" name="环形箭头 11"/>
          <ns0:cNvSpPr/>
          <ns0:nvPr/>
        </ns0:nvSpPr>
        <ns0:spPr>
          <ns1:xfrm flipH="1">
            <ns1:off x="6302375" y="1262063"/>
            <ns1:ext cx="1277938" cy="1277938"/>
          </ns1:xfrm>
          <ns1:prstGeom prst="circularArrow">
            <ns1:avLst>
              <ns1:gd name="adj1" fmla="val 12500"/>
              <ns1:gd name="adj2" fmla="val 1142319"/>
              <ns1:gd name="adj3" fmla="val 20457681"/>
              <ns1:gd name="adj4" fmla="val 2875315"/>
              <ns1:gd name="adj5" fmla="val 12500"/>
            </ns1:avLst>
          </ns1:prstGeom>
          <ns1:noFill/>
          <ns1:ln w="12700">
            <ns1:solidFill>
              <ns1:schemeClr val="bg1"/>
            </ns1:solidFill>
          </ns1:ln>
          <ns1:effectLst>
            <ns1:outerShdw blurRad="50800" dist="38100" dir="2700000" algn="tl" rotWithShape="0">
              <ns1:prstClr val="black">
                <ns1:alpha val="40000"/>
              </ns1:prstClr>
            </ns1:outerShdw>
          </ns1:effectLst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68580" tIns="34290" rIns="68580" bIns="34290" anchor="ctr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50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/>
            </ns1:r>
          </ns1:p>
        </ns0:txBody>
      </ns0:sp>
      <ns0:sp>
        <ns0:nvSpPr>
          <ns0:cNvPr id="13" name="TextBox 31"/>
          <ns0:cNvSpPr txBox="1"/>
          <ns0:nvPr/>
        </ns0:nvSpPr>
        <ns0:spPr>
          <ns1:xfrm>
            <ns1:off x="6219825" y="3021013"/>
            <ns1:ext cx="1409700" cy="1044575"/>
          </ns1:xfrm>
          <ns1:prstGeom prst="rect">
            <ns1:avLst/>
          </ns1:prstGeom>
          <ns1:noFill/>
        </ns0:spPr>
        <ns0:txBody>
          <ns1:bodyPr lIns="68580" tIns="34290" rIns="68580" bIns="34290" wrap="square"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1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pic>
        <ns0:nvPicPr>
          <ns0:cNvPr id="47117" name="图片 13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15" name="文本框 14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核心实验结果：PoisonedRAG在黑盒/白盒场景下的攻击性能与基线对比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" presetClass="entr" presetSubtype="8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7" dur="500" fill="hold"/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8" dur="500" fill="hold"/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9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1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12" dur="500" fill="hold"/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3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5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16" dur="500" fill="hold"/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7" presetID="2" presetClass="entr" presetSubtype="8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 additive="base">
                                        <ns0:cTn id="19" dur="5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0-#ppt_w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 additive="base">
                                        <ns0:cTn id="20" dur="5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1" fill="hold">
                      <ns0:stCondLst>
                        <ns0:cond delay="indefinite"/>
                      </ns0:stCondLst>
                      <ns0:childTnLst>
                        <ns0:par>
                          <ns0:cTn id="22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3" presetID="22" presetClass="entr" presetSubtype="1" fill="hold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25" dur="50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6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28" dur="500"/>
                                        <ns0:tgtEl>
                                          <ns0:spTgt spid="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9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31" dur="50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32" presetID="22" presetClass="entr" presetSubtype="1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34" dur="500"/>
                                        <ns0:tgtEl>
                                          <ns0:spTgt spid="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5" fill="hold">
                      <ns0:stCondLst>
                        <ns0:cond delay="indefinite"/>
                      </ns0:stCondLst>
                      <ns0:childTnLst>
                        <ns0:par>
                          <ns0:cTn id="36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7" presetID="18" presetClass="entr" presetSubtype="6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39" dur="50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0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2" dur="50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3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5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46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48" dur="50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" grpId="0" animBg="1"/>
      <ns0:bldP spid="7" grpId="0"/>
      <ns0:bldP spid="8" grpId="0" animBg="1"/>
      <ns0:bldP spid="9" grpId="0"/>
      <ns0:bldP spid="10" grpId="0" animBg="1"/>
      <ns0:bldP spid="11" grpId="0"/>
      <ns0:bldP spid="12" grpId="0" animBg="1"/>
      <ns0:bldP spid="13" grpId="0"/>
    </ns0:bldLst>
  </ns0:timing>
</ns0:sld>
</file>

<file path=ppt/slides/slide1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7" name="等腰三角形 36"/>
          <ns0:cNvSpPr/>
          <ns0:nvPr/>
        </ns0:nvSpPr>
        <ns0:spPr>
          <ns1:xfrm>
            <ns1:off x="3878263" y="1122363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/>
            </ns1:solidFill>
            <ns1:tailEnd type="triangle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8" name="等腰三角形 36"/>
          <ns0:cNvSpPr/>
          <ns0:nvPr/>
        </ns0:nvSpPr>
        <ns0:spPr>
          <ns1:xfrm rot="7176392">
            <ns1:off x="4723606" y="2607469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>
                <ns1:alpha val="80000"/>
              </ns1:schemeClr>
            </ns1:solidFill>
            <ns1:tailEnd type="triangle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9" name="等腰三角形 36"/>
          <ns0:cNvSpPr/>
          <ns0:nvPr/>
        </ns0:nvSpPr>
        <ns0:spPr>
          <ns1:xfrm rot="14423608" flipH="1">
            <ns1:off x="2982119" y="2624931"/>
            <ns1:ext cx="1374775" cy="1201738"/>
          </ns1:xfrm>
          <ns1:custGeom>
            <ns1:avLst/>
            <ns1:gdLst>
              <ns1:gd name="connsiteX0" fmla="*/ 0 w 1944216"/>
              <ns1:gd name="connsiteY0" fmla="*/ 1676048 h 1676048"/>
              <ns1:gd name="connsiteX1" fmla="*/ 972108 w 1944216"/>
              <ns1:gd name="connsiteY1" fmla="*/ 0 h 1676048"/>
              <ns1:gd name="connsiteX2" fmla="*/ 1944216 w 1944216"/>
              <ns1:gd name="connsiteY2" fmla="*/ 1676048 h 1676048"/>
              <ns1:gd name="connsiteX3" fmla="*/ 0 w 1944216"/>
              <ns1:gd name="connsiteY3" fmla="*/ 1676048 h 1676048"/>
              <ns1:gd name="connsiteX0-1" fmla="*/ 1944216 w 2035656"/>
              <ns1:gd name="connsiteY0-2" fmla="*/ 1676048 h 1767488"/>
              <ns1:gd name="connsiteX1-3" fmla="*/ 0 w 2035656"/>
              <ns1:gd name="connsiteY1-4" fmla="*/ 1676048 h 1767488"/>
              <ns1:gd name="connsiteX2-5" fmla="*/ 972108 w 2035656"/>
              <ns1:gd name="connsiteY2-6" fmla="*/ 0 h 1767488"/>
              <ns1:gd name="connsiteX3-7" fmla="*/ 2035656 w 2035656"/>
              <ns1:gd name="connsiteY3-8" fmla="*/ 1767488 h 1767488"/>
              <ns1:gd name="connsiteX0-9" fmla="*/ 0 w 2035656"/>
              <ns1:gd name="connsiteY0-10" fmla="*/ 1676048 h 1767488"/>
              <ns1:gd name="connsiteX1-11" fmla="*/ 972108 w 2035656"/>
              <ns1:gd name="connsiteY1-12" fmla="*/ 0 h 1767488"/>
              <ns1:gd name="connsiteX2-13" fmla="*/ 2035656 w 2035656"/>
              <ns1:gd name="connsiteY2-14" fmla="*/ 1767488 h 1767488"/>
              <ns1:gd name="connsiteX0-15" fmla="*/ 0 w 2000932"/>
              <ns1:gd name="connsiteY0-16" fmla="*/ 1676048 h 1709614"/>
              <ns1:gd name="connsiteX1-17" fmla="*/ 972108 w 2000932"/>
              <ns1:gd name="connsiteY1-18" fmla="*/ 0 h 1709614"/>
              <ns1:gd name="connsiteX2-19" fmla="*/ 2000932 w 2000932"/>
              <ns1:gd name="connsiteY2-20" fmla="*/ 1709614 h 1709614"/>
              <ns1:gd name="connsiteX0-21" fmla="*/ 0 w 1966208"/>
              <ns1:gd name="connsiteY0-22" fmla="*/ 1676048 h 1676048"/>
              <ns1:gd name="connsiteX1-23" fmla="*/ 972108 w 1966208"/>
              <ns1:gd name="connsiteY1-24" fmla="*/ 0 h 1676048"/>
              <ns1:gd name="connsiteX2-25" fmla="*/ 1966208 w 1966208"/>
              <ns1:gd name="connsiteY2-26" fmla="*/ 1628591 h 1676048"/>
              <ns1:gd name="connsiteX0-27" fmla="*/ 0 w 2024082"/>
              <ns1:gd name="connsiteY0-28" fmla="*/ 1676048 h 1698039"/>
              <ns1:gd name="connsiteX1-29" fmla="*/ 972108 w 2024082"/>
              <ns1:gd name="connsiteY1-30" fmla="*/ 0 h 1698039"/>
              <ns1:gd name="connsiteX2-31" fmla="*/ 2024082 w 2024082"/>
              <ns1:gd name="connsiteY2-32" fmla="*/ 1698039 h 1698039"/>
              <ns1:gd name="connsiteX0-33" fmla="*/ 0 w 1942196"/>
              <ns1:gd name="connsiteY0-34" fmla="*/ 1676048 h 1698039"/>
              <ns1:gd name="connsiteX1-35" fmla="*/ 972108 w 1942196"/>
              <ns1:gd name="connsiteY1-36" fmla="*/ 0 h 1698039"/>
              <ns1:gd name="connsiteX2-37" fmla="*/ 1942196 w 1942196"/>
              <ns1:gd name="connsiteY2-38" fmla="*/ 1698039 h 1698039"/>
            </ns1:gdLst>
            <ns1:ahLst/>
            <ns1:cxnLst>
              <ns1:cxn ang="0">
                <ns1:pos x="connsiteX0-1" y="connsiteY0-2"/>
              </ns1:cxn>
              <ns1:cxn ang="0">
                <ns1:pos x="connsiteX1-3" y="connsiteY1-4"/>
              </ns1:cxn>
              <ns1:cxn ang="0">
                <ns1:pos x="connsiteX2-5" y="connsiteY2-6"/>
              </ns1:cxn>
            </ns1:cxnLst>
            <ns1:rect l="l" t="t" r="r" b="b"/>
            <ns1:pathLst>
              <ns1:path w="1942196" h="1698039">
                <ns1:moveTo>
                  <ns1:pt x="0" y="1676048"/>
                </ns1:moveTo>
                <ns1:lnTo>
                  <ns1:pt x="972108" y="0"/>
                </ns1:lnTo>
                <ns1:cubicBezTo>
                  <ns1:pt x="1296144" y="558683"/>
                  <ns1:pt x="1942196" y="1698039"/>
                  <ns1:pt x="1942196" y="1698039"/>
                </ns1:cubicBezTo>
              </ns1:path>
            </ns1:pathLst>
          </ns1:custGeom>
          <ns1:noFill/>
          <ns1:ln w="101600">
            <ns1:solidFill>
              <ns1:schemeClr val="bg1">
                <ns1:alpha val="60000"/>
              </ns1:schemeClr>
            </ns1:solidFill>
            <ns1:headEnd type="triangle"/>
            <ns1:tailEnd type="none" w="med" len="med"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anchor="ctr" wrap="square"/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5724525" y="1895475"/>
            <ns1:ext cx="2579688" cy="123507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en-US" altLang="zh-CN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>01 ????</ns1:t>
            </ns1: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971550" y="1895475"/>
            <ns1:ext cx="2581275" cy="123507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algn="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结论：关键参数（k、V）对PoisonedRAG攻击性能的影响</ns1:t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不同系统组件（检索器、LLM）下的攻击鲁棒性验证</ns1:t>
            </ns1:r>
          </ns1:p>
          <ns1:p>
            <ns1:pPr/>
            <ns1:r>
              <ns1:t>真实大型知识库场景中的攻击有效性评估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3281363" y="3598863"/>
            <ns1:ext cx="2581275" cy="1235075"/>
          </ns1:xfrm>
          <ns1:prstGeom prst="rect">
            <ns1:avLst/>
          </ns1:prstGeom>
          <ns1:noFill/>
        </ns0:spPr>
        <ns0:txBody>
          <ns1:bodyPr>
            <ns1:spAutoFit/>
          </ns1:bodyPr>
          <ns1:lstStyle/>
          <ns1:p>
            <ns1:pPr marR="0" algn="ct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en-US" altLang="zh-CN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>02 ?????</ns1:t>
            </ns1:r>
            <ns1:r>
              <ns1:rPr kumimoji="0" lang="zh-CN" altLang="en-US" sz="135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35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algn="ctr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  <ns1:endParaRPr kumimoji="0" lang="en-US" altLang="zh-CN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rPr kumimoji="0" lang="zh-CN" altLang="en-US" sz="1200" kern="1200" cap="none" spc="0" normalizeH="0" baseline="0" noProof="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rPr>
              <ns1:t/>
            </ns1:r>
          </ns1:p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</ns0:txBody>
      </ns0:sp>
      <ns0:pic>
        <ns0:nvPicPr>
          <ns0:cNvPr id="2" name="图片 1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4154488" y="2095500"/>
            <ns1:ext cx="849312" cy="1147763"/>
          </ns1:xfrm>
          <ns1:prstGeom prst="rect">
            <ns1:avLst/>
          </ns1:prstGeom>
          <ns1:noFill/>
          <ns1:ln w="9525">
            <ns1:noFill/>
          </ns1:ln>
        </ns0:spPr>
      </ns0:pic>
      <ns0:pic>
        <ns0:nvPicPr>
          <ns0:cNvPr id="49160" name="图片 12"/>
          <ns0:cNvPicPr>
            <ns1:picLocks noChangeAspect="1"/>
          </ns0:cNvPicPr>
          <ns0:nvPr/>
        </ns0:nvPicPr>
        <ns0:blipFill>
          <ns1:blip ns2:embed="rId4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14" name="文本框 13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消融与鲁棒性分析：关键参数、系统组件及真实场景攻击有效性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4" presetClass="entr" presetSubtype="10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7" dur="750"/>
                                        <ns0:tgtEl>
                                          <ns0:spTgt spid="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22" presetClass="entr" presetSubtype="8" fill="hold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10" dur="75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1" presetID="22" presetClass="entr" presetSubtype="2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1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13" dur="50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4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15" presetID="22" presetClass="entr" presetSubtype="1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17" dur="75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18" presetID="42" presetClass="entr" presetSubtype="0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0" dur="100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  <ns0:anim calcmode="lin" valueType="num">
                                      <ns0:cBhvr>
                                        <ns0:cTn id="21" dur="10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x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2" dur="1000" fill="hold"/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#ppt_y+.1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3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24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6" dur="75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7" presetID="22" presetClass="entr" presetSubtype="8" fill="hold" grpId="0" nodeType="withEffect">
                                  <ns0:stCondLst>
                                    <ns0:cond delay="250"/>
                                  </ns0:stCondLst>
                                  <ns0:childTnLst>
                                    <ns0:set>
                                      <ns0:cBhvr>
                                        <ns0:cTn id="28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29" dur="50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10" grpId="0"/>
      <ns0:bldP spid="11" grpId="0"/>
      <ns0:bldP spid="12" grpId="0"/>
    </ns0:bldLst>
  </ns0:timing>
</ns0:sld>
</file>

<file path=ppt/slides/slide24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59393" name="图片 24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26" name="文本框 25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防御机制评估——主流防御策略对PoisonedRAG的抵御效果分析</ns1:t>
            </ns1:r>
          </ns1:p>
        </ns0:txBody>
      </ns0:sp>
      <ns0:sp>
        <ns0:nvSpPr>
          <ns0:cNvPr id="66" name="Freeform 3"/>
          <ns0:cNvSpPr/>
          <ns0:nvPr/>
        </ns0:nvSpPr>
        <ns0:spPr bwMode="gray">
          <ns1:xfrm rot="19490962">
            <ns1:off x="2981325" y="2695575"/>
            <ns1:ext cx="1365250" cy="1649413"/>
          </ns1:xfrm>
          <ns1:custGeom>
            <ns1:avLst/>
            <ns1:gdLst>
              <ns1:gd name="T0" fmla="*/ 1219 w 1921"/>
              <ns1:gd name="T1" fmla="*/ 3 h 1516"/>
              <ns1:gd name="T2" fmla="*/ 1047 w 1921"/>
              <ns1:gd name="T3" fmla="*/ 20 h 1516"/>
              <ns1:gd name="T4" fmla="*/ 900 w 1921"/>
              <ns1:gd name="T5" fmla="*/ 43 h 1516"/>
              <ns1:gd name="T6" fmla="*/ 763 w 1921"/>
              <ns1:gd name="T7" fmla="*/ 76 h 1516"/>
              <ns1:gd name="T8" fmla="*/ 593 w 1921"/>
              <ns1:gd name="T9" fmla="*/ 128 h 1516"/>
              <ns1:gd name="T10" fmla="*/ 449 w 1921"/>
              <ns1:gd name="T11" fmla="*/ 187 h 1516"/>
              <ns1:gd name="T12" fmla="*/ 345 w 1921"/>
              <ns1:gd name="T13" fmla="*/ 244 h 1516"/>
              <ns1:gd name="T14" fmla="*/ 261 w 1921"/>
              <ns1:gd name="T15" fmla="*/ 301 h 1516"/>
              <ns1:gd name="T16" fmla="*/ 184 w 1921"/>
              <ns1:gd name="T17" fmla="*/ 366 h 1516"/>
              <ns1:gd name="T18" fmla="*/ 118 w 1921"/>
              <ns1:gd name="T19" fmla="*/ 431 h 1516"/>
              <ns1:gd name="T20" fmla="*/ 58 w 1921"/>
              <ns1:gd name="T21" fmla="*/ 516 h 1516"/>
              <ns1:gd name="T22" fmla="*/ 21 w 1921"/>
              <ns1:gd name="T23" fmla="*/ 594 h 1516"/>
              <ns1:gd name="T24" fmla="*/ 0 w 1921"/>
              <ns1:gd name="T25" fmla="*/ 695 h 1516"/>
              <ns1:gd name="T26" fmla="*/ 14 w 1921"/>
              <ns1:gd name="T27" fmla="*/ 785 h 1516"/>
              <ns1:gd name="T28" fmla="*/ 47 w 1921"/>
              <ns1:gd name="T29" fmla="*/ 872 h 1516"/>
              <ns1:gd name="T30" fmla="*/ 92 w 1921"/>
              <ns1:gd name="T31" fmla="*/ 946 h 1516"/>
              <ns1:gd name="T32" fmla="*/ 179 w 1921"/>
              <ns1:gd name="T33" fmla="*/ 1041 h 1516"/>
              <ns1:gd name="T34" fmla="*/ 271 w 1921"/>
              <ns1:gd name="T35" fmla="*/ 1115 h 1516"/>
              <ns1:gd name="T36" fmla="*/ 377 w 1921"/>
              <ns1:gd name="T37" fmla="*/ 1176 h 1516"/>
              <ns1:gd name="T38" fmla="*/ 512 w 1921"/>
              <ns1:gd name="T39" fmla="*/ 1244 h 1516"/>
              <ns1:gd name="T40" fmla="*/ 667 w 1921"/>
              <ns1:gd name="T41" fmla="*/ 1302 h 1516"/>
              <ns1:gd name="T42" fmla="*/ 978 w 1921"/>
              <ns1:gd name="T43" fmla="*/ 1373 h 1516"/>
              <ns1:gd name="T44" fmla="*/ 1248 w 1921"/>
              <ns1:gd name="T45" fmla="*/ 1403 h 1516"/>
              <ns1:gd name="T46" fmla="*/ 1403 w 1921"/>
              <ns1:gd name="T47" fmla="*/ 1515 h 1516"/>
              <ns1:gd name="T48" fmla="*/ 1397 w 1921"/>
              <ns1:gd name="T49" fmla="*/ 1031 h 1516"/>
              <ns1:gd name="T50" fmla="*/ 1243 w 1921"/>
              <ns1:gd name="T51" fmla="*/ 1132 h 1516"/>
              <ns1:gd name="T52" fmla="*/ 1007 w 1921"/>
              <ns1:gd name="T53" fmla="*/ 1098 h 1516"/>
              <ns1:gd name="T54" fmla="*/ 757 w 1921"/>
              <ns1:gd name="T55" fmla="*/ 1025 h 1516"/>
              <ns1:gd name="T56" fmla="*/ 619 w 1921"/>
              <ns1:gd name="T57" fmla="*/ 957 h 1516"/>
              <ns1:gd name="T58" fmla="*/ 506 w 1921"/>
              <ns1:gd name="T59" fmla="*/ 888 h 1516"/>
              <ns1:gd name="T60" fmla="*/ 417 w 1921"/>
              <ns1:gd name="T61" fmla="*/ 806 h 1516"/>
              <ns1:gd name="T62" fmla="*/ 348 w 1921"/>
              <ns1:gd name="T63" fmla="*/ 708 h 1516"/>
              <ns1:gd name="T64" fmla="*/ 319 w 1921"/>
              <ns1:gd name="T65" fmla="*/ 610 h 1516"/>
              <ns1:gd name="T66" fmla="*/ 321 w 1921"/>
              <ns1:gd name="T67" fmla="*/ 522 h 1516"/>
              <ns1:gd name="T68" fmla="*/ 348 w 1921"/>
              <ns1:gd name="T69" fmla="*/ 437 h 1516"/>
              <ns1:gd name="T70" fmla="*/ 401 w 1921"/>
              <ns1:gd name="T71" fmla="*/ 351 h 1516"/>
              <ns1:gd name="T72" fmla="*/ 509 w 1921"/>
              <ns1:gd name="T73" fmla="*/ 251 h 1516"/>
              <ns1:gd name="T74" fmla="*/ 643 w 1921"/>
              <ns1:gd name="T75" fmla="*/ 169 h 1516"/>
              <ns1:gd name="T76" fmla="*/ 778 w 1921"/>
              <ns1:gd name="T77" fmla="*/ 110 h 1516"/>
              <ns1:gd name="T78" fmla="*/ 913 w 1921"/>
              <ns1:gd name="T79" fmla="*/ 68 h 1516"/>
              <ns1:gd name="T80" fmla="*/ 1021 w 1921"/>
              <ns1:gd name="T81" fmla="*/ 42 h 1516"/>
              <ns1:gd name="T82" fmla="*/ 1150 w 1921"/>
              <ns1:gd name="T83" fmla="*/ 25 h 1516"/>
              <ns1:gd name="T84" fmla="*/ 1446 w 1921"/>
              <ns1:gd name="T85" fmla="*/ 0 h 15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921" h="1516">
                <ns1:moveTo>
                  <ns1:pt x="1446" y="0"/>
                </ns1:moveTo>
                <ns1:lnTo>
                  <ns1:pt x="1219" y="3"/>
                </ns1:lnTo>
                <ns1:lnTo>
                  <ns1:pt x="1142" y="9"/>
                </ns1:lnTo>
                <ns1:lnTo>
                  <ns1:pt x="1047" y="20"/>
                </ns1:lnTo>
                <ns1:lnTo>
                  <ns1:pt x="974" y="29"/>
                </ns1:lnTo>
                <ns1:lnTo>
                  <ns1:pt x="900" y="43"/>
                </ns1:lnTo>
                <ns1:lnTo>
                  <ns1:pt x="828" y="59"/>
                </ns1:lnTo>
                <ns1:lnTo>
                  <ns1:pt x="763" y="76"/>
                </ns1:lnTo>
                <ns1:lnTo>
                  <ns1:pt x="686" y="97"/>
                </ns1:lnTo>
                <ns1:lnTo>
                  <ns1:pt x="593" y="128"/>
                </ns1:lnTo>
                <ns1:lnTo>
                  <ns1:pt x="520" y="156"/>
                </ns1:lnTo>
                <ns1:lnTo>
                  <ns1:pt x="449" y="187"/>
                </ns1:lnTo>
                <ns1:lnTo>
                  <ns1:pt x="401" y="213"/>
                </ns1:lnTo>
                <ns1:lnTo>
                  <ns1:pt x="345" y="244"/>
                </ns1:lnTo>
                <ns1:lnTo>
                  <ns1:pt x="304" y="268"/>
                </ns1:lnTo>
                <ns1:lnTo>
                  <ns1:pt x="261" y="301"/>
                </ns1:lnTo>
                <ns1:lnTo>
                  <ns1:pt x="222" y="332"/>
                </ns1:lnTo>
                <ns1:lnTo>
                  <ns1:pt x="184" y="366"/>
                </ns1:lnTo>
                <ns1:lnTo>
                  <ns1:pt x="155" y="393"/>
                </ns1:lnTo>
                <ns1:lnTo>
                  <ns1:pt x="118" y="431"/>
                </ns1:lnTo>
                <ns1:lnTo>
                  <ns1:pt x="82" y="474"/>
                </ns1:lnTo>
                <ns1:lnTo>
                  <ns1:pt x="58" y="516"/>
                </ns1:lnTo>
                <ns1:lnTo>
                  <ns1:pt x="39" y="552"/>
                </ns1:lnTo>
                <ns1:lnTo>
                  <ns1:pt x="21" y="594"/>
                </ns1:lnTo>
                <ns1:lnTo>
                  <ns1:pt x="6" y="638"/>
                </ns1:lnTo>
                <ns1:lnTo>
                  <ns1:pt x="0" y="695"/>
                </ns1:lnTo>
                <ns1:lnTo>
                  <ns1:pt x="5" y="744"/>
                </ns1:lnTo>
                <ns1:lnTo>
                  <ns1:pt x="14" y="785"/>
                </ns1:lnTo>
                <ns1:lnTo>
                  <ns1:pt x="26" y="826"/>
                </ns1:lnTo>
                <ns1:lnTo>
                  <ns1:pt x="47" y="872"/>
                </ns1:lnTo>
                <ns1:lnTo>
                  <ns1:pt x="66" y="911"/>
                </ns1:lnTo>
                <ns1:lnTo>
                  <ns1:pt x="92" y="946"/>
                </ns1:lnTo>
                <ns1:lnTo>
                  <ns1:pt x="130" y="991"/>
                </ns1:lnTo>
                <ns1:lnTo>
                  <ns1:pt x="179" y="1041"/>
                </ns1:lnTo>
                <ns1:lnTo>
                  <ns1:pt x="229" y="1081"/>
                </ns1:lnTo>
                <ns1:lnTo>
                  <ns1:pt x="271" y="1115"/>
                </ns1:lnTo>
                <ns1:lnTo>
                  <ns1:pt x="325" y="1149"/>
                </ns1:lnTo>
                <ns1:lnTo>
                  <ns1:pt x="377" y="1176"/>
                </ns1:lnTo>
                <ns1:lnTo>
                  <ns1:pt x="437" y="1207"/>
                </ns1:lnTo>
                <ns1:lnTo>
                  <ns1:pt x="512" y="1244"/>
                </ns1:lnTo>
                <ns1:lnTo>
                  <ns1:pt x="585" y="1271"/>
                </ns1:lnTo>
                <ns1:lnTo>
                  <ns1:pt x="667" y="1302"/>
                </ns1:lnTo>
                <ns1:lnTo>
                  <ns1:pt x="836" y="1346"/>
                </ns1:lnTo>
                <ns1:lnTo>
                  <ns1:pt x="978" y="1373"/>
                </ns1:lnTo>
                <ns1:lnTo>
                  <ns1:pt x="1128" y="1393"/>
                </ns1:lnTo>
                <ns1:lnTo>
                  <ns1:pt x="1248" y="1403"/>
                </ns1:lnTo>
                <ns1:lnTo>
                  <ns1:pt x="1403" y="1410"/>
                </ns1:lnTo>
                <ns1:lnTo>
                  <ns1:pt x="1403" y="1515"/>
                </ns1:lnTo>
                <ns1:lnTo>
                  <ns1:pt x="1920" y="1275"/>
                </ns1:lnTo>
                <ns1:lnTo>
                  <ns1:pt x="1397" y="1031"/>
                </ns1:lnTo>
                <ns1:lnTo>
                  <ns1:pt x="1398" y="1139"/>
                </ns1:lnTo>
                <ns1:lnTo>
                  <ns1:pt x="1243" y="1132"/>
                </ns1:lnTo>
                <ns1:lnTo>
                  <ns1:pt x="1128" y="1119"/>
                </ns1:lnTo>
                <ns1:lnTo>
                  <ns1:pt x="1007" y="1098"/>
                </ns1:lnTo>
                <ns1:lnTo>
                  <ns1:pt x="836" y="1054"/>
                </ns1:lnTo>
                <ns1:lnTo>
                  <ns1:pt x="757" y="1025"/>
                </ns1:lnTo>
                <ns1:lnTo>
                  <ns1:pt x="681" y="993"/>
                </ns1:lnTo>
                <ns1:lnTo>
                  <ns1:pt x="619" y="957"/>
                </ns1:lnTo>
                <ns1:lnTo>
                  <ns1:pt x="556" y="922"/>
                </ns1:lnTo>
                <ns1:lnTo>
                  <ns1:pt x="506" y="888"/>
                </ns1:lnTo>
                <ns1:lnTo>
                  <ns1:pt x="464" y="850"/>
                </ns1:lnTo>
                <ns1:lnTo>
                  <ns1:pt x="417" y="806"/>
                </ns1:lnTo>
                <ns1:lnTo>
                  <ns1:pt x="377" y="755"/>
                </ns1:lnTo>
                <ns1:lnTo>
                  <ns1:pt x="348" y="708"/>
                </ns1:lnTo>
                <ns1:lnTo>
                  <ns1:pt x="333" y="664"/>
                </ns1:lnTo>
                <ns1:lnTo>
                  <ns1:pt x="319" y="610"/>
                </ns1:lnTo>
                <ns1:lnTo>
                  <ns1:pt x="317" y="558"/>
                </ns1:lnTo>
                <ns1:lnTo>
                  <ns1:pt x="321" y="522"/>
                </ns1:lnTo>
                <ns1:lnTo>
                  <ns1:pt x="329" y="483"/>
                </ns1:lnTo>
                <ns1:lnTo>
                  <ns1:pt x="348" y="437"/>
                </ns1:lnTo>
                <ns1:lnTo>
                  <ns1:pt x="372" y="393"/>
                </ns1:lnTo>
                <ns1:lnTo>
                  <ns1:pt x="401" y="351"/>
                </ns1:lnTo>
                <ns1:lnTo>
                  <ns1:pt x="440" y="310"/>
                </ns1:lnTo>
                <ns1:lnTo>
                  <ns1:pt x="509" y="251"/>
                </ns1:lnTo>
                <ns1:lnTo>
                  <ns1:pt x="567" y="211"/>
                </ns1:lnTo>
                <ns1:lnTo>
                  <ns1:pt x="643" y="169"/>
                </ns1:lnTo>
                <ns1:lnTo>
                  <ns1:pt x="720" y="133"/>
                </ns1:lnTo>
                <ns1:lnTo>
                  <ns1:pt x="778" y="110"/>
                </ns1:lnTo>
                <ns1:lnTo>
                  <ns1:pt x="847" y="86"/>
                </ns1:lnTo>
                <ns1:lnTo>
                  <ns1:pt x="913" y="68"/>
                </ns1:lnTo>
                <ns1:lnTo>
                  <ns1:pt x="966" y="54"/>
                </ns1:lnTo>
                <ns1:lnTo>
                  <ns1:pt x="1021" y="42"/>
                </ns1:lnTo>
                <ns1:lnTo>
                  <ns1:pt x="1089" y="32"/>
                </ns1:lnTo>
                <ns1:lnTo>
                  <ns1:pt x="1150" y="25"/>
                </ns1:lnTo>
                <ns1:lnTo>
                  <ns1:pt x="1234" y="15"/>
                </ns1:lnTo>
                <ns1:lnTo>
                  <ns1:pt x="1446" y="0"/>
                </ns1:lnTo>
              </ns1:path>
            </ns1:pathLst>
          </ns1:cu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67" name="Freeform 4"/>
          <ns0:cNvSpPr/>
          <ns0:nvPr/>
        </ns0:nvSpPr>
        <ns0:spPr bwMode="gray">
          <ns1:xfrm rot="19490962" flipH="1" flipV="1">
            <ns1:off x="4479925" y="1046163"/>
            <ns1:ext cx="1363663" cy="1647825"/>
          </ns1:xfrm>
          <ns1:custGeom>
            <ns1:avLst/>
            <ns1:gdLst>
              <ns1:gd name="T0" fmla="*/ 1219 w 1921"/>
              <ns1:gd name="T1" fmla="*/ 3 h 1516"/>
              <ns1:gd name="T2" fmla="*/ 1047 w 1921"/>
              <ns1:gd name="T3" fmla="*/ 20 h 1516"/>
              <ns1:gd name="T4" fmla="*/ 900 w 1921"/>
              <ns1:gd name="T5" fmla="*/ 43 h 1516"/>
              <ns1:gd name="T6" fmla="*/ 763 w 1921"/>
              <ns1:gd name="T7" fmla="*/ 76 h 1516"/>
              <ns1:gd name="T8" fmla="*/ 593 w 1921"/>
              <ns1:gd name="T9" fmla="*/ 128 h 1516"/>
              <ns1:gd name="T10" fmla="*/ 449 w 1921"/>
              <ns1:gd name="T11" fmla="*/ 187 h 1516"/>
              <ns1:gd name="T12" fmla="*/ 345 w 1921"/>
              <ns1:gd name="T13" fmla="*/ 244 h 1516"/>
              <ns1:gd name="T14" fmla="*/ 261 w 1921"/>
              <ns1:gd name="T15" fmla="*/ 301 h 1516"/>
              <ns1:gd name="T16" fmla="*/ 184 w 1921"/>
              <ns1:gd name="T17" fmla="*/ 366 h 1516"/>
              <ns1:gd name="T18" fmla="*/ 118 w 1921"/>
              <ns1:gd name="T19" fmla="*/ 431 h 1516"/>
              <ns1:gd name="T20" fmla="*/ 58 w 1921"/>
              <ns1:gd name="T21" fmla="*/ 516 h 1516"/>
              <ns1:gd name="T22" fmla="*/ 21 w 1921"/>
              <ns1:gd name="T23" fmla="*/ 594 h 1516"/>
              <ns1:gd name="T24" fmla="*/ 0 w 1921"/>
              <ns1:gd name="T25" fmla="*/ 695 h 1516"/>
              <ns1:gd name="T26" fmla="*/ 14 w 1921"/>
              <ns1:gd name="T27" fmla="*/ 785 h 1516"/>
              <ns1:gd name="T28" fmla="*/ 47 w 1921"/>
              <ns1:gd name="T29" fmla="*/ 872 h 1516"/>
              <ns1:gd name="T30" fmla="*/ 92 w 1921"/>
              <ns1:gd name="T31" fmla="*/ 946 h 1516"/>
              <ns1:gd name="T32" fmla="*/ 179 w 1921"/>
              <ns1:gd name="T33" fmla="*/ 1041 h 1516"/>
              <ns1:gd name="T34" fmla="*/ 271 w 1921"/>
              <ns1:gd name="T35" fmla="*/ 1115 h 1516"/>
              <ns1:gd name="T36" fmla="*/ 377 w 1921"/>
              <ns1:gd name="T37" fmla="*/ 1176 h 1516"/>
              <ns1:gd name="T38" fmla="*/ 512 w 1921"/>
              <ns1:gd name="T39" fmla="*/ 1244 h 1516"/>
              <ns1:gd name="T40" fmla="*/ 667 w 1921"/>
              <ns1:gd name="T41" fmla="*/ 1302 h 1516"/>
              <ns1:gd name="T42" fmla="*/ 978 w 1921"/>
              <ns1:gd name="T43" fmla="*/ 1373 h 1516"/>
              <ns1:gd name="T44" fmla="*/ 1248 w 1921"/>
              <ns1:gd name="T45" fmla="*/ 1403 h 1516"/>
              <ns1:gd name="T46" fmla="*/ 1403 w 1921"/>
              <ns1:gd name="T47" fmla="*/ 1515 h 1516"/>
              <ns1:gd name="T48" fmla="*/ 1397 w 1921"/>
              <ns1:gd name="T49" fmla="*/ 1031 h 1516"/>
              <ns1:gd name="T50" fmla="*/ 1243 w 1921"/>
              <ns1:gd name="T51" fmla="*/ 1132 h 1516"/>
              <ns1:gd name="T52" fmla="*/ 1007 w 1921"/>
              <ns1:gd name="T53" fmla="*/ 1098 h 1516"/>
              <ns1:gd name="T54" fmla="*/ 757 w 1921"/>
              <ns1:gd name="T55" fmla="*/ 1025 h 1516"/>
              <ns1:gd name="T56" fmla="*/ 619 w 1921"/>
              <ns1:gd name="T57" fmla="*/ 957 h 1516"/>
              <ns1:gd name="T58" fmla="*/ 506 w 1921"/>
              <ns1:gd name="T59" fmla="*/ 888 h 1516"/>
              <ns1:gd name="T60" fmla="*/ 417 w 1921"/>
              <ns1:gd name="T61" fmla="*/ 806 h 1516"/>
              <ns1:gd name="T62" fmla="*/ 348 w 1921"/>
              <ns1:gd name="T63" fmla="*/ 708 h 1516"/>
              <ns1:gd name="T64" fmla="*/ 319 w 1921"/>
              <ns1:gd name="T65" fmla="*/ 610 h 1516"/>
              <ns1:gd name="T66" fmla="*/ 321 w 1921"/>
              <ns1:gd name="T67" fmla="*/ 522 h 1516"/>
              <ns1:gd name="T68" fmla="*/ 348 w 1921"/>
              <ns1:gd name="T69" fmla="*/ 437 h 1516"/>
              <ns1:gd name="T70" fmla="*/ 401 w 1921"/>
              <ns1:gd name="T71" fmla="*/ 351 h 1516"/>
              <ns1:gd name="T72" fmla="*/ 509 w 1921"/>
              <ns1:gd name="T73" fmla="*/ 251 h 1516"/>
              <ns1:gd name="T74" fmla="*/ 643 w 1921"/>
              <ns1:gd name="T75" fmla="*/ 169 h 1516"/>
              <ns1:gd name="T76" fmla="*/ 778 w 1921"/>
              <ns1:gd name="T77" fmla="*/ 110 h 1516"/>
              <ns1:gd name="T78" fmla="*/ 913 w 1921"/>
              <ns1:gd name="T79" fmla="*/ 68 h 1516"/>
              <ns1:gd name="T80" fmla="*/ 1021 w 1921"/>
              <ns1:gd name="T81" fmla="*/ 42 h 1516"/>
              <ns1:gd name="T82" fmla="*/ 1150 w 1921"/>
              <ns1:gd name="T83" fmla="*/ 25 h 1516"/>
              <ns1:gd name="T84" fmla="*/ 1446 w 1921"/>
              <ns1:gd name="T85" fmla="*/ 0 h 151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</ns1:cxnLst>
            <ns1:rect l="0" t="0" r="r" b="b"/>
            <ns1:pathLst>
              <ns1:path w="1921" h="1516">
                <ns1:moveTo>
                  <ns1:pt x="1446" y="0"/>
                </ns1:moveTo>
                <ns1:lnTo>
                  <ns1:pt x="1219" y="3"/>
                </ns1:lnTo>
                <ns1:lnTo>
                  <ns1:pt x="1142" y="9"/>
                </ns1:lnTo>
                <ns1:lnTo>
                  <ns1:pt x="1047" y="20"/>
                </ns1:lnTo>
                <ns1:lnTo>
                  <ns1:pt x="974" y="29"/>
                </ns1:lnTo>
                <ns1:lnTo>
                  <ns1:pt x="900" y="43"/>
                </ns1:lnTo>
                <ns1:lnTo>
                  <ns1:pt x="828" y="59"/>
                </ns1:lnTo>
                <ns1:lnTo>
                  <ns1:pt x="763" y="76"/>
                </ns1:lnTo>
                <ns1:lnTo>
                  <ns1:pt x="686" y="97"/>
                </ns1:lnTo>
                <ns1:lnTo>
                  <ns1:pt x="593" y="128"/>
                </ns1:lnTo>
                <ns1:lnTo>
                  <ns1:pt x="520" y="156"/>
                </ns1:lnTo>
                <ns1:lnTo>
                  <ns1:pt x="449" y="187"/>
                </ns1:lnTo>
                <ns1:lnTo>
                  <ns1:pt x="401" y="213"/>
                </ns1:lnTo>
                <ns1:lnTo>
                  <ns1:pt x="345" y="244"/>
                </ns1:lnTo>
                <ns1:lnTo>
                  <ns1:pt x="304" y="268"/>
                </ns1:lnTo>
                <ns1:lnTo>
                  <ns1:pt x="261" y="301"/>
                </ns1:lnTo>
                <ns1:lnTo>
                  <ns1:pt x="222" y="332"/>
                </ns1:lnTo>
                <ns1:lnTo>
                  <ns1:pt x="184" y="366"/>
                </ns1:lnTo>
                <ns1:lnTo>
                  <ns1:pt x="155" y="393"/>
                </ns1:lnTo>
                <ns1:lnTo>
                  <ns1:pt x="118" y="431"/>
                </ns1:lnTo>
                <ns1:lnTo>
                  <ns1:pt x="82" y="474"/>
                </ns1:lnTo>
                <ns1:lnTo>
                  <ns1:pt x="58" y="516"/>
                </ns1:lnTo>
                <ns1:lnTo>
                  <ns1:pt x="39" y="552"/>
                </ns1:lnTo>
                <ns1:lnTo>
                  <ns1:pt x="21" y="594"/>
                </ns1:lnTo>
                <ns1:lnTo>
                  <ns1:pt x="6" y="638"/>
                </ns1:lnTo>
                <ns1:lnTo>
                  <ns1:pt x="0" y="695"/>
                </ns1:lnTo>
                <ns1:lnTo>
                  <ns1:pt x="5" y="744"/>
                </ns1:lnTo>
                <ns1:lnTo>
                  <ns1:pt x="14" y="785"/>
                </ns1:lnTo>
                <ns1:lnTo>
                  <ns1:pt x="26" y="826"/>
                </ns1:lnTo>
                <ns1:lnTo>
                  <ns1:pt x="47" y="872"/>
                </ns1:lnTo>
                <ns1:lnTo>
                  <ns1:pt x="66" y="911"/>
                </ns1:lnTo>
                <ns1:lnTo>
                  <ns1:pt x="92" y="946"/>
                </ns1:lnTo>
                <ns1:lnTo>
                  <ns1:pt x="130" y="991"/>
                </ns1:lnTo>
                <ns1:lnTo>
                  <ns1:pt x="179" y="1041"/>
                </ns1:lnTo>
                <ns1:lnTo>
                  <ns1:pt x="229" y="1081"/>
                </ns1:lnTo>
                <ns1:lnTo>
                  <ns1:pt x="271" y="1115"/>
                </ns1:lnTo>
                <ns1:lnTo>
                  <ns1:pt x="325" y="1149"/>
                </ns1:lnTo>
                <ns1:lnTo>
                  <ns1:pt x="377" y="1176"/>
                </ns1:lnTo>
                <ns1:lnTo>
                  <ns1:pt x="437" y="1207"/>
                </ns1:lnTo>
                <ns1:lnTo>
                  <ns1:pt x="512" y="1244"/>
                </ns1:lnTo>
                <ns1:lnTo>
                  <ns1:pt x="585" y="1271"/>
                </ns1:lnTo>
                <ns1:lnTo>
                  <ns1:pt x="667" y="1302"/>
                </ns1:lnTo>
                <ns1:lnTo>
                  <ns1:pt x="836" y="1346"/>
                </ns1:lnTo>
                <ns1:lnTo>
                  <ns1:pt x="978" y="1373"/>
                </ns1:lnTo>
                <ns1:lnTo>
                  <ns1:pt x="1128" y="1393"/>
                </ns1:lnTo>
                <ns1:lnTo>
                  <ns1:pt x="1248" y="1403"/>
                </ns1:lnTo>
                <ns1:lnTo>
                  <ns1:pt x="1403" y="1410"/>
                </ns1:lnTo>
                <ns1:lnTo>
                  <ns1:pt x="1403" y="1515"/>
                </ns1:lnTo>
                <ns1:lnTo>
                  <ns1:pt x="1920" y="1275"/>
                </ns1:lnTo>
                <ns1:lnTo>
                  <ns1:pt x="1397" y="1031"/>
                </ns1:lnTo>
                <ns1:lnTo>
                  <ns1:pt x="1398" y="1139"/>
                </ns1:lnTo>
                <ns1:lnTo>
                  <ns1:pt x="1243" y="1132"/>
                </ns1:lnTo>
                <ns1:lnTo>
                  <ns1:pt x="1128" y="1119"/>
                </ns1:lnTo>
                <ns1:lnTo>
                  <ns1:pt x="1007" y="1098"/>
                </ns1:lnTo>
                <ns1:lnTo>
                  <ns1:pt x="836" y="1054"/>
                </ns1:lnTo>
                <ns1:lnTo>
                  <ns1:pt x="757" y="1025"/>
                </ns1:lnTo>
                <ns1:lnTo>
                  <ns1:pt x="681" y="993"/>
                </ns1:lnTo>
                <ns1:lnTo>
                  <ns1:pt x="619" y="957"/>
                </ns1:lnTo>
                <ns1:lnTo>
                  <ns1:pt x="556" y="922"/>
                </ns1:lnTo>
                <ns1:lnTo>
                  <ns1:pt x="506" y="888"/>
                </ns1:lnTo>
                <ns1:lnTo>
                  <ns1:pt x="464" y="850"/>
                </ns1:lnTo>
                <ns1:lnTo>
                  <ns1:pt x="417" y="806"/>
                </ns1:lnTo>
                <ns1:lnTo>
                  <ns1:pt x="377" y="755"/>
                </ns1:lnTo>
                <ns1:lnTo>
                  <ns1:pt x="348" y="708"/>
                </ns1:lnTo>
                <ns1:lnTo>
                  <ns1:pt x="333" y="664"/>
                </ns1:lnTo>
                <ns1:lnTo>
                  <ns1:pt x="319" y="610"/>
                </ns1:lnTo>
                <ns1:lnTo>
                  <ns1:pt x="317" y="558"/>
                </ns1:lnTo>
                <ns1:lnTo>
                  <ns1:pt x="321" y="522"/>
                </ns1:lnTo>
                <ns1:lnTo>
                  <ns1:pt x="329" y="483"/>
                </ns1:lnTo>
                <ns1:lnTo>
                  <ns1:pt x="348" y="437"/>
                </ns1:lnTo>
                <ns1:lnTo>
                  <ns1:pt x="372" y="393"/>
                </ns1:lnTo>
                <ns1:lnTo>
                  <ns1:pt x="401" y="351"/>
                </ns1:lnTo>
                <ns1:lnTo>
                  <ns1:pt x="440" y="310"/>
                </ns1:lnTo>
                <ns1:lnTo>
                  <ns1:pt x="509" y="251"/>
                </ns1:lnTo>
                <ns1:lnTo>
                  <ns1:pt x="567" y="211"/>
                </ns1:lnTo>
                <ns1:lnTo>
                  <ns1:pt x="643" y="169"/>
                </ns1:lnTo>
                <ns1:lnTo>
                  <ns1:pt x="720" y="133"/>
                </ns1:lnTo>
                <ns1:lnTo>
                  <ns1:pt x="778" y="110"/>
                </ns1:lnTo>
                <ns1:lnTo>
                  <ns1:pt x="847" y="86"/>
                </ns1:lnTo>
                <ns1:lnTo>
                  <ns1:pt x="913" y="68"/>
                </ns1:lnTo>
                <ns1:lnTo>
                  <ns1:pt x="966" y="54"/>
                </ns1:lnTo>
                <ns1:lnTo>
                  <ns1:pt x="1021" y="42"/>
                </ns1:lnTo>
                <ns1:lnTo>
                  <ns1:pt x="1089" y="32"/>
                </ns1:lnTo>
                <ns1:lnTo>
                  <ns1:pt x="1150" y="25"/>
                </ns1:lnTo>
                <ns1:lnTo>
                  <ns1:pt x="1234" y="15"/>
                </ns1:lnTo>
                <ns1:lnTo>
                  <ns1:pt x="1446" y="0"/>
                </ns1:lnTo>
              </ns1:path>
            </ns1:pathLst>
          </ns1:cu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 wrap="square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endParaRPr kumimoji="0" lang="zh-CN" altLang="en-US" sz="1350" b="0" i="0" u="none" strike="noStrike" kern="1200" cap="none" spc="0" normalizeH="0" baseline="0" noProof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+mn-lt"/>
              <ns1:ea typeface="+mn-ea"/>
              <ns1:cs typeface="+mn-cs"/>
            </ns1:endParaRPr>
          </ns1:p>
        </ns0:txBody>
      </ns0:sp>
      <ns0:sp>
        <ns0:nvSpPr>
          <ns0:cNvPr id="68" name="Oval 5"/>
          <ns0:cNvSpPr>
            <ns1:spLocks noChangeArrowheads="1"/>
          </ns0:cNvSpPr>
          <ns0:nvPr/>
        </ns0:nvSpPr>
        <ns0:spPr bwMode="gray">
          <ns1:xfrm>
            <ns1:off x="3133725" y="1862138"/>
            <ns1:ext cx="1184275" cy="1182688"/>
          </ns1:xfrm>
          <ns1:prstGeom prst="ellipse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>
                    <ns1:lumMod val="95000"/>
                  </ns1:schemeClr>
                </ns1:solidFill>
                <ns1:effectLst/>
                <ns1:uLnTx/>
                <ns1:uFillTx/>
                <ns1:latin typeface="TeXGyreAdventor" pitchFamily="50" charset="0"/>
                <ns1:ea typeface="+mn-ea"/>
                <ns1:cs typeface="+mn-cs"/>
              </ns1:rPr>
              <ns1:t/>
            </ns1:r>
            <ns1:endParaRPr kumimoji="0" lang="zh-CN" altLang="en-US" sz="1350" b="0" i="0" u="none" strike="noStrike" kern="1200" cap="none" spc="0" normalizeH="0" baseline="-3000" noProof="0" dirty="0">
              <ns1:ln>
                <ns1:noFill/>
              </ns1:ln>
              <ns1:solidFill>
                <ns1:schemeClr val="bg1">
                  <ns1:lumMod val="95000"/>
                </ns1:schemeClr>
              </ns1:solidFill>
              <ns1:effectLst/>
              <ns1:uLnTx/>
              <ns1:uFillTx/>
              <ns1:latin typeface="TeXGyreAdventor" pitchFamily="50" charset="0"/>
              <ns1:ea typeface="+mn-ea"/>
              <ns1:cs typeface="+mn-cs"/>
            </ns1:endParaRPr>
          </ns1:p>
        </ns0:txBody>
      </ns0:sp>
      <ns0:sp>
        <ns0:nvSpPr>
          <ns0:cNvPr id="69" name="Oval 6"/>
          <ns0:cNvSpPr>
            <ns1:spLocks noChangeArrowheads="1"/>
          </ns0:cNvSpPr>
          <ns0:nvPr/>
        </ns0:nvSpPr>
        <ns0:spPr bwMode="gray">
          <ns1:xfrm>
            <ns1:off x="4546600" y="2687638"/>
            <ns1:ext cx="1184275" cy="1182688"/>
          </ns1:xfrm>
          <ns1:prstGeom prst="ellipse">
            <ns1:avLst/>
          </ns1:prstGeom>
          <ns1:solidFill>
            <ns1:schemeClr val="bg1">
              <ns1:alpha val="20000"/>
            </ns1:schemeClr>
          </ns1:solidFill>
          <ns1:ln>
            <ns1:noFill/>
          </ns1:ln>
          <ns1:effectLst/>
        </ns0:spPr>
        <ns0:txBody>
          <ns1:bodyPr lIns="45712" tIns="44442" rIns="45712" bIns="44442" anchor="ctr" anchorCtr="1"/>
          <ns1:lstStyle/>
          <ns1:p>
            <ns1:pPr marL="0" marR="0" lvl="0" indent="0" algn="l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kumimoji="0" lang="zh-CN" altLang="en-US" sz="2000" b="0" i="0" u="none" strike="noStrike" kern="1200" cap="none" spc="0" normalizeH="0" baseline="-3000" noProof="0" dirty="0">
                <ns1:ln>
                  <ns1:noFill/>
                </ns1:ln>
                <ns1:solidFill>
                  <ns1:schemeClr val="bg1">
                    <ns1:lumMod val="95000"/>
                  </ns1:schemeClr>
                </ns1:solidFill>
                <ns1:effectLst/>
                <ns1:uLnTx/>
                <ns1:uFillTx/>
                <ns1:latin typeface="TeXGyreAdventor" pitchFamily="50" charset="0"/>
                <ns1:ea typeface="+mn-ea"/>
                <ns1:cs typeface="+mn-cs"/>
              </ns1:rPr>
              <ns1:t/>
            </ns1:r>
          </ns1:p>
        </ns0:txBody>
      </ns0:sp>
      <ns0:sp>
        <ns0:nvSpPr>
          <ns0:cNvPr id="70" name="TextBox 7"/>
          <ns0:cNvSpPr txBox="1"/>
          <ns0:nvPr/>
        </ns0:nvSpPr>
        <ns0:spPr>
          <ns1:xfrm>
            <ns1:off x="468313" y="1962150"/>
            <ns1:ext cx="2351088" cy="1197610"/>
          </ns1:xfrm>
          <ns1:prstGeom prst="rect">
            <ns1:avLst/>
          </ns1:prstGeom>
          <ns1:noFill/>
        </ns0:spPr>
        <ns0:txBody>
          <ns1:bodyPr lIns="91425" tIns="45712" rIns="91425" bIns="45712" wrap="square">
            <ns1:spAutoFit/>
          </ns1:bodyPr>
          <ns1:lstStyle/>
          <ns1:p>
            <ns1:pPr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defRPr/>
            </ns1:pPr>
            <ns1:endParaRPr kumimoji="0" lang="zh-CN" altLang="en-US" sz="12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</ns0:txBody>
      </ns0:sp>
      <ns0:grpSp>
        <ns0:nvGrpSpPr>
          <ns0:cNvPr id="71" name="组合 70"/>
          <ns0:cNvGrpSpPr/>
          <ns0:nvPr/>
        </ns0:nvGrpSpPr>
        <ns0:grpSpPr>
          <ns1:xfrm>
            <ns1:off x="469900" y="1400175"/>
            <ns1:ext cx="3300413" cy="461963"/>
            <ns1:chOff x="469900" y="1057571"/>
            <ns1:chExt cx="3299884" cy="461665"/>
          </ns1:xfrm>
        </ns0:grpSpPr>
        <ns0:sp>
          <ns0:nvSpPr>
            <ns0:cNvPr id="72" name="TextBox 6"/>
            <ns0:cNvSpPr txBox="1"/>
            <ns0:nvPr/>
          </ns0:nvSpPr>
          <ns0:spPr>
            <ns1:xfrm>
              <ns1:off x="554025" y="1057571"/>
              <ns1:ext cx="869811" cy="298257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R="0" defTabSz="685800" rtl="0" fontAlgn="auto"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defRPr/>
              </ns1:pPr>
              <ns1:r>
                <ns1:rPr kumimoji="0" lang="zh-CN" altLang="en-US" sz="2000" kern="1200" cap="none" spc="0" normalizeH="0" baseline="-3000" noProof="0" dirty="0">
                  <ns1:solidFill>
                    <ns1:schemeClr val="bg1">
                      <ns1:lumMod val="95000"/>
                    </ns1:schemeClr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  <ns0:cxnSp>
          <ns0:nvCxnSpPr>
            <ns0:cNvPr id="73" name="直接连接符 72"/>
            <ns0:cNvCxnSpPr/>
            <ns0:nvPr/>
          </ns0:nvCxnSpPr>
          <ns0:spPr>
            <ns1:xfrm>
              <ns1:off x="469900" y="1519236"/>
              <ns1:ext cx="3299884" cy="0"/>
            </ns1:xfrm>
            <ns1:prstGeom prst="line">
              <ns1:avLst/>
            </ns1:prstGeom>
            <ns1:noFill/>
            <ns1:ln>
              <ns1:solidFill>
                <ns1:schemeClr val="bg1">
                  <ns1:lumMod val="75000"/>
                </ns1:schemeClr>
              </ns1:solidFill>
              <ns1:prstDash val="sysDot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</ns0:cxnSp>
      </ns0:grpSp>
      <ns0:sp>
        <ns0:nvSpPr>
          <ns0:cNvPr id="74" name="TextBox 10"/>
          <ns0:cNvSpPr txBox="1"/>
          <ns0:nvPr/>
        </ns0:nvSpPr>
        <ns0:spPr>
          <ns1:xfrm>
            <ns1:off x="6169025" y="1995488"/>
            <ns1:ext cx="2454275" cy="1754188"/>
          </ns1:xfrm>
          <ns1:prstGeom prst="rect">
            <ns1:avLst/>
          </ns1:prstGeom>
          <ns1:noFill/>
        </ns0:spPr>
        <ns0:txBody>
          <ns1:bodyPr lIns="91425" tIns="45712" rIns="91425" bIns="45712" wrap="square">
            <ns1:normAutofit/>
          </ns1:bodyPr>
          <ns1:lstStyle/>
          <ns1:p>
            <ns1:pPr marR="0" defTabSz="685800" rtl="0" fontAlgn="auto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结论：释义防御：对目标问题多轮释义后检索，无法有效降低PoisonedRAG攻击成功率</ns1:t>
            </ns1:r>
            <ns1:endParaRPr kumimoji="0" lang="zh-CN" altLang="en-US" sz="1200" kern="1200" cap="none" spc="0" normalizeH="0" baseline="0" noProof="0" dirty="0">
              <ns1:solidFill>
                <ns1:schemeClr val="bg1">
                  <ns1:lumMod val="95000"/>
                </ns1:schemeClr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Arial" panose="020B0604020202020204" pitchFamily="34" charset="0"/>
            </ns1:endParaRPr>
          </ns1:p>
          <ns1:p>
            <ns1:pPr/>
            <ns1:r>
              <ns1:t>重复文本过滤：因PoisonedRAG生成的恶意文本天然具备多样性，防御无效</ns1:t>
            </ns1:r>
          </ns1:p>
          <ns1:p>
            <ns1:pPr/>
            <ns1:r>
              <ns1:t>困惑度检测：恶意文本质量与干净文本无显著差异，误检率高导致实用性差</ns1:t>
            </ns1:r>
          </ns1:p>
        </ns0:txBody>
      </ns0:sp>
      <ns0:grpSp>
        <ns0:nvGrpSpPr>
          <ns0:cNvPr id="75" name="组合 74"/>
          <ns0:cNvGrpSpPr/>
          <ns0:nvPr/>
        </ns0:nvGrpSpPr>
        <ns0:grpSpPr>
          <ns1:xfrm>
            <ns1:off x="5257800" y="3870325"/>
            <ns1:ext cx="3441700" cy="333375"/>
            <ns1:chOff x="5257195" y="3528519"/>
            <ns1:chExt cx="3442305" cy="333179"/>
          </ns1:xfrm>
        </ns0:grpSpPr>
        <ns0:sp>
          <ns0:nvSpPr>
            <ns0:cNvPr id="76" name="TextBox 9"/>
            <ns0:cNvSpPr txBox="1"/>
            <ns0:nvPr/>
          </ns0:nvSpPr>
          <ns0:spPr>
            <ns1:xfrm>
              <ns1:off x="5976459" y="3563423"/>
              <ns1:ext cx="870103" cy="298275"/>
            </ns1:xfrm>
            <ns1:prstGeom prst="rect">
              <ns1:avLst/>
            </ns1:prstGeom>
            <ns1:noFill/>
          </ns0:spPr>
          <ns0:txBody>
            <ns1:bodyPr wrap="none">
              <ns1:spAutoFit/>
            </ns1:bodyPr>
            <ns1:lstStyle/>
            <ns1:p>
              <ns1:pPr marR="0" defTabSz="685800" rtl="0" fontAlgn="auto"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defRPr/>
              </ns1:pPr>
              <ns1:r>
                <ns1:rPr kumimoji="0" lang="zh-CN" altLang="en-US" sz="2000" kern="1200" cap="none" spc="0" normalizeH="0" baseline="-3000" noProof="0" dirty="0">
                  <ns1:solidFill>
                    <ns1:schemeClr val="bg1">
                      <ns1:lumMod val="95000"/>
                    </ns1:schemeClr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</ns1:p>
          </ns0:txBody>
        </ns0:sp>
        <ns0:cxnSp>
          <ns0:nvCxnSpPr>
            <ns0:cNvPr id="77" name="直接连接符 76"/>
            <ns0:cNvCxnSpPr/>
            <ns0:nvPr/>
          </ns0:nvCxnSpPr>
          <ns0:spPr>
            <ns1:xfrm>
              <ns1:off x="5257195" y="3528519"/>
              <ns1:ext cx="3442305" cy="0"/>
            </ns1:xfrm>
            <ns1:prstGeom prst="line">
              <ns1:avLst/>
            </ns1:prstGeom>
            <ns1:noFill/>
            <ns1:ln>
              <ns1:solidFill>
                <ns1:schemeClr val="bg1">
                  <ns1:lumMod val="75000"/>
                </ns1:schemeClr>
              </ns1:solidFill>
              <ns1:prstDash val="sysDot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</ns0:cxnSp>
      </ns0:grp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4" presetClass="entr" presetSubtype="1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7" dur="500"/>
                                        <ns0:tgtEl>
                                          <ns0:spTgt spid="6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8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9" presetID="2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11" dur="500"/>
                                        <ns0:tgtEl>
                                          <ns0:spTgt spid="6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2" fill="hold">
                      <ns0:stCondLst>
                        <ns0:cond delay="indefinite"/>
                      </ns0:stCondLst>
                      <ns0:childTnLst>
                        <ns0:par>
                          <ns0:cTn id="13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4" presetID="14" presetClass="entr" presetSubtype="1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randombar(horizontal)">
                                      <ns0:cBhvr>
                                        <ns0:cTn id="16" dur="500"/>
                                        <ns0:tgtEl>
                                          <ns0:spTgt spid="6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17" fill="hold">
                            <ns0:stCondLst>
                              <ns0:cond delay="500"/>
                            </ns0:stCondLst>
                            <ns0:childTnLst>
                              <ns0:par>
                                <ns0:cTn id="18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0" dur="500"/>
                                        <ns0:tgtEl>
                                          <ns0:spTgt spid="6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1" fill="hold">
                            <ns0:stCondLst>
                              <ns0:cond delay="1000"/>
                            </ns0:stCondLst>
                            <ns0:childTnLst>
                              <ns0:par>
                                <ns0:cTn id="22" presetID="22" presetClass="entr" presetSubtype="2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right)">
                                      <ns0:cBhvr>
                                        <ns0:cTn id="24" dur="500"/>
                                        <ns0:tgtEl>
                                          <ns0:spTgt spid="7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25" presetID="18" presetClass="entr" presetSubtype="6" fill="hold" grpId="0" nodeType="with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27" dur="750"/>
                                        <ns0:tgtEl>
                                          <ns0:spTgt spid="7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28" fill="hold">
                            <ns0:stCondLst>
                              <ns0:cond delay="1500"/>
                            </ns0:stCondLst>
                            <ns0:childTnLst>
                              <ns0:par>
                                <ns0:cTn id="29" presetID="22" presetClass="entr" presetSubtype="8" fill="hold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0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31" dur="500"/>
                                        <ns0:tgtEl>
                                          <ns0:spTgt spid="7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  <ns0:par>
                          <ns0:cTn id="32" fill="hold">
                            <ns0:stCondLst>
                              <ns0:cond delay="2000"/>
                            </ns0:stCondLst>
                            <ns0:childTnLst>
                              <ns0:par>
                                <ns0:cTn id="33" presetID="18" presetClass="entr" presetSubtype="6" fill="hold" grpId="0" nodeType="after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4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strips(downRight)">
                                      <ns0:cBhvr>
                                        <ns0:cTn id="35" dur="750"/>
                                        <ns0:tgtEl>
                                          <ns0:spTgt spid="7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68" grpId="0" animBg="1"/>
      <ns0:bldP spid="69" grpId="0" animBg="1"/>
      <ns0:bldP spid="70" grpId="0"/>
      <ns0:bldP spid="74" grpId="0"/>
    </ns0:bldLst>
  </ns0:timing>
</ns0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研究总结与未来展望：PoisonedRAG的核心贡献与后续研究方向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884363"/>
            <a:ext cx="6435725" cy="203041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结论：提出PoisonedRAG：首个针对RAG系统的知识投毒攻击，突破现有LLM攻击在RAG场景的局限性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构建带约束的优化框架生成恶意文本，同时满足检索相关性与LLM误导性，实现高攻击成功率与鲁棒性</a:t>
            </a:r>
          </a:p>
          <a:p>
            <a:pPr/>
            <a:r>
              <a:t>全面验证攻击有效性，覆盖多数据集、检索器、先进RAG方案及真实大规模知识库</a:t>
            </a:r>
          </a:p>
        </p:txBody>
      </p:sp>
      <p:sp>
        <p:nvSpPr>
          <p:cNvPr id="6" name="矩形 5"/>
          <p:cNvSpPr/>
          <p:nvPr/>
        </p:nvSpPr>
        <p:spPr>
          <a:xfrm>
            <a:off x="3070225" y="3976688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8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2529</Words>
  <Application>Microsoft Office PowerPoint</Application>
  <PresentationFormat>全屏显示(16:9)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FontAwesome</vt:lpstr>
      <vt:lpstr>Calibri</vt:lpstr>
      <vt:lpstr>方正正黑简体</vt:lpstr>
      <vt:lpstr>TeXGyreAdventor</vt:lpstr>
      <vt:lpstr>Arial</vt:lpstr>
      <vt:lpstr>Segoe UI Semilight</vt:lpstr>
      <vt:lpstr>宋体</vt:lpstr>
      <vt:lpstr>方正正纤黑简体</vt:lpstr>
      <vt:lpstr>微软雅黑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上海维湾3号机</cp:lastModifiedBy>
  <cp:revision>7</cp:revision>
  <dcterms:created xsi:type="dcterms:W3CDTF">2015-03-31T05:49:00Z</dcterms:created>
  <dcterms:modified xsi:type="dcterms:W3CDTF">2019-10-08T06:19:39Z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