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42" r:id="rId2"/>
    <p:sldId id="325" r:id="rId3"/>
    <p:sldId id="341" r:id="rId8"/>
    <p:sldId id="308" r:id="rId11"/>
    <p:sldId id="323" r:id="rId15"/>
    <p:sldId id="333" r:id="rId19"/>
    <p:sldId id="334" r:id="rId20"/>
    <p:sldId id="345" r:id="rId25"/>
    <p:sldId id="338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方正正黑简体" panose="02010600030101010101" charset="-122"/>
      <p:regular r:id="rId36"/>
    </p:embeddedFont>
    <p:embeddedFont>
      <p:font typeface="Segoe UI Semilight" panose="020B0402040204020203" pitchFamily="34" charset="0"/>
      <p:regular r:id="rId37"/>
      <p:italic r:id="rId38"/>
    </p:embeddedFont>
    <p:embeddedFont>
      <p:font typeface="方正正纤黑简体" panose="02010600030101010101" charset="-122"/>
      <p:regular r:id="rId39"/>
    </p:embeddedFont>
    <p:embeddedFont>
      <p:font typeface="微软雅黑" panose="020B0503020204020204" pitchFamily="34" charset="-122"/>
      <p:regular r:id="rId40"/>
      <p:bold r:id="rId41"/>
    </p:embeddedFont>
  </p:embeddedFontLst>
  <p:defaultTextStyle>
    <a:defPPr>
      <a:defRPr lang="zh-CN"/>
    </a:defPPr>
    <a:lvl1pPr marL="0" lvl="0" indent="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1pPr>
    <a:lvl2pPr marL="342900" lvl="1" indent="1143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2pPr>
    <a:lvl3pPr marL="685800" lvl="2" indent="2286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3pPr>
    <a:lvl4pPr marL="1028700" lvl="3" indent="3429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4pPr>
    <a:lvl5pPr marL="1371600" lvl="4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5pPr>
    <a:lvl6pPr marL="2286000" lvl="5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6pPr>
    <a:lvl7pPr marL="2743200" lvl="6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7pPr>
    <a:lvl8pPr marL="3200400" lvl="7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8pPr>
    <a:lvl9pPr marL="3657600" lvl="8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7703" autoAdjust="0"/>
  </p:normalViewPr>
  <p:slideViewPr>
    <p:cSldViewPr snapToGrid="0" showGuides="1">
      <p:cViewPr varScale="1">
        <p:scale>
          <a:sx n="136" d="100"/>
          <a:sy n="136" d="100"/>
        </p:scale>
        <p:origin x="120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8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76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119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 smtClean="0"/>
              <a:t> 猪七爷旗舰店</a:t>
            </a:r>
            <a:r>
              <a:rPr lang="en-US" altLang="zh-CN" dirty="0" smtClean="0"/>
              <a:t>猪七爷</a:t>
            </a:r>
            <a:endParaRPr lang="en-US" altLang="zh-CN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1608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900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答辩讲解重点：1. 结合RAG“检索-生成”流程图，强调知识库作为核心组件的脆弱性；2. 对比现有攻击在RAG场景下的不可行细节，如提示注入因未适配检索环节导致恶意指令无法进入上下文；3. 突出PoisonedRAG无需污染LLM/检索器训练数据的创新性，明确其针对知识库投毒的必要性。</a:t>
            </a:r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116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本页详细阐述PoisonedRAG攻击的核心构造逻辑，通过形式化约束明确攻击目标，针对黑盒（无检索器访问权限）和白盒（有检索器访问权限）场景分别设计适配的恶意文本生成流程，确保投毒文本同时满足被目标问题检索到、操控LLM输出两个核心要求。实验表明该机制在百万级知识库中注入5条恶意文本即可实现高攻击成功率。</a:t>
            </a:r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323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从各数据集随机选取100个封闭式目标问题（分10轮实验，每轮10个不重复问题）；2. ASR采用子串匹配而非精确匹配，降低评估严苛性；3. 后续将开展超参数敏感性分析（k值、V值等）验证方法鲁棒性</a:t>
            </a:r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289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81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攻击成功率（ASR）采用子串匹配计算，衡量目标答案与预设结果的匹配比例；F1分数反映恶意文本被目标问题检索到的有效性，多数场景超90%；2. 基线攻击中，提示注入仅实现有限ASR（因部分恶意文本可被检索），朴素攻击等因无法满足检索/生成条件效果极差；3. 实验为每个目标问题注入5条恶意文本，在百万级知识库中仍能稳定生效</a:t>
            </a:r>
          </a:p>
        </p:txBody>
      </p:sp>
      <p:sp>
        <p:nvSpPr>
          <p:cNvPr id="481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9593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本页系统验证了PoisonedRAG在超参数波动、不同对抗构造方法下的鲁棒性，以及在大规模真实知识库中的攻击有效性。核心结论包括：检索Top-k数量直接影响攻击效果，而恶意文本长度对攻击性能无显著影响；白盒场景下不同对抗文本生成方法各有优劣，需在计算开销与隐蔽性间权衡；即使在千万级维基百科知识库中，少量恶意文本注入仍能实现有效操控。</a:t>
            </a:r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626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本页针对三类主流防御机制开展抗御有效性测试，验证PoisonedRAG的强抗防御能力： 1. 释义防御通过重述目标问题干扰检索匹配，但PoisonedRAG构造的恶意文本与目标问题语义强关联，仍能被高概率检索到； 2. 困惑度防御依赖文本质量区分恶意样本，然而PoisonedRAG生成的恶意文本由正常问题+高质量构造文本拼接而成，与干净文本质量差异极小，导致大量干净文本被误判； 3. 知识扩展通过增大检索文本数量引入更多干净上下文，但即使k=50（仅约10%检索文本为恶意），HotpotQA数据集上黑盒/白盒场景攻击成功率仍达41%/43%，且注入更多恶意文本时防御效果进一步下降。</a:t>
            </a:r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502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演讲时需重点强调PoisonedRAG填补了RAG系统知识层攻击的空白，对比现有攻击的核心差异；未来方向可结合当前防御的局限性展开，突出研究的延续性与学术价值</a:t>
            </a:r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573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文本框 213"/>
          <p:cNvSpPr txBox="1"/>
          <p:nvPr/>
        </p:nvSpPr>
        <p:spPr>
          <a:xfrm>
            <a:off x="1757363" y="1968500"/>
            <a:ext cx="5529262" cy="768350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t>AI generated deck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2873375" y="2944813"/>
            <a:ext cx="34131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800" kern="1200" cap="none" spc="0" normalizeH="0" baseline="0" noProof="0" dirty="0">
                <a:solidFill>
                  <a:schemeClr val="bg1"/>
                </a:solidFill>
                <a:latin typeface="+mn-ea"/>
                <a:ea typeface="+mn-ea"/>
                <a:cs typeface="+mn-cs"/>
              </a:rPr>
              <a:t>请填写论文副标题或补充内容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2147888" y="3765550"/>
            <a:ext cx="2370138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答辩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学生</a:t>
            </a:r>
            <a:r>
              <a:rPr lang="zh-CN" altLang="en-US" sz="135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4656138" y="3765550"/>
            <a:ext cx="2371725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指导老师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2727325" y="2787650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624263" y="2787650"/>
            <a:ext cx="896938" cy="825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521200" y="2792413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5418138" y="2794000"/>
            <a:ext cx="896938" cy="8413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22" name="组合 221"/>
          <p:cNvGrpSpPr/>
          <p:nvPr/>
        </p:nvGrpSpPr>
        <p:grpSpPr>
          <a:xfrm>
            <a:off x="3954463" y="708025"/>
            <a:ext cx="1128712" cy="1130300"/>
            <a:chOff x="1928879" y="1944350"/>
            <a:chExt cx="1129689" cy="1129689"/>
          </a:xfrm>
        </p:grpSpPr>
        <p:sp>
          <p:nvSpPr>
            <p:cNvPr id="223" name="椭圆 2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4" name="Freeform 7"/>
            <p:cNvSpPr>
              <a:spLocks noEditPoints="1"/>
            </p:cNvSpPr>
            <p:nvPr/>
          </p:nvSpPr>
          <p:spPr bwMode="auto">
            <a:xfrm>
              <a:off x="2108421" y="2226772"/>
              <a:ext cx="751538" cy="61561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49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449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949"/>
                            </p:stCondLst>
                            <p:childTnLst>
                              <p:par>
                                <p:cTn id="4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/>
      <p:bldP spid="216" grpId="0"/>
      <p:bldP spid="217" grpId="0"/>
      <p:bldP spid="218" grpId="0" animBg="1"/>
      <p:bldP spid="219" grpId="0" animBg="1"/>
      <p:bldP spid="220" grpId="0" animBg="1"/>
      <p:bldP spid="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4338" name="文本框 38"/>
            <p:cNvSpPr txBox="1"/>
            <p:nvPr/>
          </p:nvSpPr>
          <p:spPr>
            <a:xfrm>
              <a:off x="219753" y="2417307"/>
              <a:ext cx="274115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39" name="文本框 11"/>
            <p:cNvSpPr txBox="1"/>
            <p:nvPr/>
          </p:nvSpPr>
          <p:spPr>
            <a:xfrm>
              <a:off x="1979712" y="1976522"/>
              <a:ext cx="1005403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/>
          <p:nvPr/>
        </p:nvSpPr>
        <p:spPr>
          <a:xfrm>
            <a:off x="4052888" y="189071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t>目录</a:t>
            </a:r>
          </a:p>
        </p:txBody>
      </p:sp>
      <p:grpSp>
        <p:nvGrpSpPr>
          <p:cNvPr id="72" name="组合 71"/>
          <p:cNvGrpSpPr/>
          <p:nvPr/>
        </p:nvGrpSpPr>
        <p:grpSpPr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4342" name="文本框 16"/>
            <p:cNvSpPr txBox="1"/>
            <p:nvPr/>
          </p:nvSpPr>
          <p:spPr>
            <a:xfrm>
              <a:off x="3516783" y="20477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21"/>
          <p:cNvSpPr txBox="1"/>
          <p:nvPr/>
        </p:nvSpPr>
        <p:spPr>
          <a:xfrm>
            <a:off x="6638925" y="1916113"/>
            <a:ext cx="110807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6135688" y="1827213"/>
            <a:ext cx="496887" cy="523875"/>
            <a:chOff x="6073087" y="2057986"/>
            <a:chExt cx="497639" cy="523220"/>
          </a:xfrm>
        </p:grpSpPr>
        <p:sp>
          <p:nvSpPr>
            <p:cNvPr id="14346" name="文本框 20"/>
            <p:cNvSpPr txBox="1"/>
            <p:nvPr/>
          </p:nvSpPr>
          <p:spPr>
            <a:xfrm>
              <a:off x="6073087" y="2057986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 flipH="1">
              <a:off x="6324292" y="2227636"/>
              <a:ext cx="246434" cy="24575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/>
          <p:nvPr/>
        </p:nvSpPr>
        <p:spPr>
          <a:xfrm>
            <a:off x="4052888" y="2470150"/>
            <a:ext cx="1108075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t>1. 第1页：封面 - PoisonedRAG：针对RAG系统的知识库投毒攻击研究（含答辩人、日期、所属单位）</a:t>
            </a:r>
          </a:p>
          <a:p>
            <a:pPr/>
            <a:r>
              <a:t>2. 第2页：研究背景与动机 - RAG系统局限性与现有攻击的不足（详述RAG架构、提示注入/越狱攻击在RAG中的缺陷，引出知识库投毒的必要性）</a:t>
            </a:r>
          </a:p>
          <a:p>
            <a:pPr/>
            <a:r>
              <a:t>3. 第3页：PoisonedRAG攻击框架设计 - 黑盒/白盒场景下的恶意文本构造方法（形式化优化问题定义、GPT-4生成恶意文本I的流程、HotFlip对抗文本构造逻辑）</a:t>
            </a:r>
          </a:p>
          <a:p>
            <a:pPr/>
            <a:r>
              <a:t>4. 第4页：实验设置与评估指标 - 数据集/模型/检索器配置+核心量化指标（明确NQ/HotpotQA/MS-MARCO数据集、Contriever检索器、ASR/F1/计算效率等指标定义，列出超参数默认值）</a:t>
            </a:r>
          </a:p>
          <a:p>
            <a:pPr/>
            <a:r>
              <a:t>5. 第5页：核心攻击效果验证 - 黑盒/白盒场景下的ASR与F1分析（展示跨数据集/模型的攻击成功率，对比基线攻击（提示注入/朴素攻击等）的性能优势）</a:t>
            </a:r>
          </a:p>
          <a:p>
            <a:pPr/>
            <a:r>
              <a:t>6. 第6页：鲁棒性与场景泛化性测试 - 超参数影响与真实场景验证（分析k值/V值/对抗生成方法对攻击的影响，展示维基百科大型知识库的攻击效果）</a:t>
            </a:r>
          </a:p>
          <a:p>
            <a:pPr/>
            <a:r>
              <a:t>7. 第7页：现有防御机制的有效性评估 - 释义/困惑度/知识扩展等防御的失效分析（逐条展示各防御方法下的攻击成功率，说明PoisonedRAG的抗防御能力）</a:t>
            </a:r>
          </a:p>
          <a:p>
            <a:pPr/>
            <a:r>
              <a:t>8. 第8页：结论与未来工作 - PoisonedRAG的核心贡献+研究展望（总结攻击创新性，提出隐蔽性投毒、针对性防御、多模态RAG攻击等未来方向）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4350" name="文本框 23"/>
            <p:cNvSpPr txBox="1"/>
            <p:nvPr/>
          </p:nvSpPr>
          <p:spPr>
            <a:xfrm>
              <a:off x="3516783" y="2627150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27"/>
          <p:cNvSpPr txBox="1"/>
          <p:nvPr/>
        </p:nvSpPr>
        <p:spPr>
          <a:xfrm>
            <a:off x="6638925" y="249396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6135688" y="2406650"/>
            <a:ext cx="496887" cy="523875"/>
            <a:chOff x="6073087" y="2637368"/>
            <a:chExt cx="497639" cy="523220"/>
          </a:xfrm>
        </p:grpSpPr>
        <p:sp>
          <p:nvSpPr>
            <p:cNvPr id="14354" name="文本框 26"/>
            <p:cNvSpPr txBox="1"/>
            <p:nvPr/>
          </p:nvSpPr>
          <p:spPr>
            <a:xfrm>
              <a:off x="6073087" y="26373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>
            <a:xfrm flipH="1">
              <a:off x="6324292" y="2807019"/>
              <a:ext cx="246434" cy="2457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30"/>
          <p:cNvSpPr txBox="1"/>
          <p:nvPr/>
        </p:nvSpPr>
        <p:spPr>
          <a:xfrm>
            <a:off x="4052888" y="30432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3578225" y="2970213"/>
            <a:ext cx="466725" cy="523875"/>
            <a:chOff x="3516783" y="3200893"/>
            <a:chExt cx="466304" cy="523220"/>
          </a:xfrm>
        </p:grpSpPr>
        <p:sp>
          <p:nvSpPr>
            <p:cNvPr id="14358" name="文本框 29"/>
            <p:cNvSpPr txBox="1"/>
            <p:nvPr/>
          </p:nvSpPr>
          <p:spPr>
            <a:xfrm>
              <a:off x="3516783" y="3200893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3737247" y="3380056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33"/>
          <p:cNvSpPr txBox="1"/>
          <p:nvPr/>
        </p:nvSpPr>
        <p:spPr>
          <a:xfrm>
            <a:off x="6638925" y="30686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6135688" y="2981325"/>
            <a:ext cx="496887" cy="522288"/>
            <a:chOff x="6073087" y="3211111"/>
            <a:chExt cx="497639" cy="523220"/>
          </a:xfrm>
        </p:grpSpPr>
        <p:sp>
          <p:nvSpPr>
            <p:cNvPr id="14362" name="文本框 32"/>
            <p:cNvSpPr txBox="1"/>
            <p:nvPr/>
          </p:nvSpPr>
          <p:spPr>
            <a:xfrm>
              <a:off x="6073087" y="3211111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>
            <a:xfrm flipH="1">
              <a:off x="6324292" y="3381277"/>
              <a:ext cx="246434" cy="2449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3 0.04104 L 2.22222E-6 4.93827E-6 " pathEditMode="relative" rAng="0" ptsTypes="AA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3 0.04136 L 2.22222E-6 -2.83951E-6 " pathEditMode="relative" rAng="0" ptsTypes="AA">
                                      <p:cBhvr>
                                        <p:cTn id="43" dur="7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6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03733 0.04105 L 2.22222E-6 2.83951E-6 " pathEditMode="relative" rAng="0" ptsTypes="AA">
                                      <p:cBhvr>
                                        <p:cTn id="51" dur="7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6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3733 0.04105 L 2.22222E-6 3.08642E-6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5" grpId="0"/>
      <p:bldP spid="79" grpId="0"/>
      <p:bldP spid="83" grpId="0"/>
      <p:bldP spid="87" grpId="0"/>
      <p:bldP spid="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3349625" y="1535113"/>
            <a:ext cx="2400300" cy="2400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984500" y="1169988"/>
            <a:ext cx="3130550" cy="3130550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结论：阶段1：LLM固有局限性（滞后知识、幻觉、领域缺口）催生RAG技术，明确RAG三大组件（知识库/检索器/LLM）与“检索-生成”双流程</a:t>
            </a: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  <a:p>
            <a:pPr/>
            <a:r>
              <a:t>阶段2：现有LLM攻击（提示注入/越狱等）适配RAG时存在缺陷：提示注入未考虑检索环节、越狱攻击目标正交，其他攻击无法满足RAG的检索+生成双重约束</a:t>
            </a:r>
          </a:p>
          <a:p>
            <a:pPr/>
            <a:r>
              <a:t>阶段3：瞄准RAG知识库漏洞，提出PoisonedRAG：通过注入少量恶意文本操控LLM输出，开辟RAG全新攻击面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6172200" y="1319213"/>
            <a:ext cx="2863850" cy="1157287"/>
            <a:chOff x="544923" y="2418093"/>
            <a:chExt cx="3820097" cy="1542263"/>
          </a:xfrm>
        </p:grpSpPr>
        <p:sp>
          <p:nvSpPr>
            <p:cNvPr id="24580" name="矩形 17"/>
            <p:cNvSpPr/>
            <p:nvPr/>
          </p:nvSpPr>
          <p:spPr>
            <a:xfrm>
              <a:off x="544923" y="2729244"/>
              <a:ext cx="3820097" cy="12311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81" name="文本框 17"/>
            <p:cNvSpPr txBox="1"/>
            <p:nvPr/>
          </p:nvSpPr>
          <p:spPr>
            <a:xfrm>
              <a:off x="544923" y="2418093"/>
              <a:ext cx="1272143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8100" y="2478088"/>
            <a:ext cx="2865438" cy="1127125"/>
            <a:chOff x="449775" y="2458453"/>
            <a:chExt cx="3820096" cy="1501900"/>
          </a:xfrm>
        </p:grpSpPr>
        <p:sp>
          <p:nvSpPr>
            <p:cNvPr id="24583" name="矩形 21"/>
            <p:cNvSpPr/>
            <p:nvPr/>
          </p:nvSpPr>
          <p:spPr>
            <a:xfrm>
              <a:off x="449775" y="2729361"/>
              <a:ext cx="3820096" cy="12309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84" name="文本框 24"/>
            <p:cNvSpPr txBox="1"/>
            <p:nvPr/>
          </p:nvSpPr>
          <p:spPr>
            <a:xfrm>
              <a:off x="2512785" y="2458453"/>
              <a:ext cx="1272143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706813" y="1892300"/>
            <a:ext cx="1685925" cy="1685925"/>
            <a:chOff x="4862685" y="2533650"/>
            <a:chExt cx="2247900" cy="2247900"/>
          </a:xfrm>
        </p:grpSpPr>
        <p:sp>
          <p:nvSpPr>
            <p:cNvPr id="26" name="椭圆 25"/>
            <p:cNvSpPr/>
            <p:nvPr/>
          </p:nvSpPr>
          <p:spPr>
            <a:xfrm>
              <a:off x="4862685" y="2533650"/>
              <a:ext cx="2247900" cy="22479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27" name="Freeform 7"/>
            <p:cNvSpPr>
              <a:spLocks noChangeAspect="1" noEditPoints="1"/>
            </p:cNvSpPr>
            <p:nvPr/>
          </p:nvSpPr>
          <p:spPr bwMode="auto">
            <a:xfrm>
              <a:off x="5599285" y="3172883"/>
              <a:ext cx="774700" cy="575733"/>
            </a:xfrm>
            <a:custGeom>
              <a:avLst/>
              <a:gdLst>
                <a:gd name="T0" fmla="*/ 485 w 527"/>
                <a:gd name="T1" fmla="*/ 294 h 394"/>
                <a:gd name="T2" fmla="*/ 42 w 527"/>
                <a:gd name="T3" fmla="*/ 294 h 394"/>
                <a:gd name="T4" fmla="*/ 9 w 527"/>
                <a:gd name="T5" fmla="*/ 359 h 394"/>
                <a:gd name="T6" fmla="*/ 518 w 527"/>
                <a:gd name="T7" fmla="*/ 359 h 394"/>
                <a:gd name="T8" fmla="*/ 485 w 527"/>
                <a:gd name="T9" fmla="*/ 294 h 394"/>
                <a:gd name="T10" fmla="*/ 208 w 527"/>
                <a:gd name="T11" fmla="*/ 343 h 394"/>
                <a:gd name="T12" fmla="*/ 222 w 527"/>
                <a:gd name="T13" fmla="*/ 317 h 394"/>
                <a:gd name="T14" fmla="*/ 307 w 527"/>
                <a:gd name="T15" fmla="*/ 317 h 394"/>
                <a:gd name="T16" fmla="*/ 319 w 527"/>
                <a:gd name="T17" fmla="*/ 343 h 394"/>
                <a:gd name="T18" fmla="*/ 208 w 527"/>
                <a:gd name="T19" fmla="*/ 343 h 394"/>
                <a:gd name="T20" fmla="*/ 478 w 527"/>
                <a:gd name="T21" fmla="*/ 280 h 394"/>
                <a:gd name="T22" fmla="*/ 478 w 527"/>
                <a:gd name="T23" fmla="*/ 278 h 394"/>
                <a:gd name="T24" fmla="*/ 478 w 527"/>
                <a:gd name="T25" fmla="*/ 277 h 394"/>
                <a:gd name="T26" fmla="*/ 478 w 527"/>
                <a:gd name="T27" fmla="*/ 12 h 394"/>
                <a:gd name="T28" fmla="*/ 465 w 527"/>
                <a:gd name="T29" fmla="*/ 0 h 394"/>
                <a:gd name="T30" fmla="*/ 62 w 527"/>
                <a:gd name="T31" fmla="*/ 0 h 394"/>
                <a:gd name="T32" fmla="*/ 49 w 527"/>
                <a:gd name="T33" fmla="*/ 12 h 394"/>
                <a:gd name="T34" fmla="*/ 49 w 527"/>
                <a:gd name="T35" fmla="*/ 277 h 394"/>
                <a:gd name="T36" fmla="*/ 50 w 527"/>
                <a:gd name="T37" fmla="*/ 278 h 394"/>
                <a:gd name="T38" fmla="*/ 49 w 527"/>
                <a:gd name="T39" fmla="*/ 280 h 394"/>
                <a:gd name="T40" fmla="*/ 49 w 527"/>
                <a:gd name="T41" fmla="*/ 280 h 394"/>
                <a:gd name="T42" fmla="*/ 478 w 527"/>
                <a:gd name="T43" fmla="*/ 280 h 394"/>
                <a:gd name="T44" fmla="*/ 447 w 527"/>
                <a:gd name="T45" fmla="*/ 259 h 394"/>
                <a:gd name="T46" fmla="*/ 80 w 527"/>
                <a:gd name="T47" fmla="*/ 259 h 394"/>
                <a:gd name="T48" fmla="*/ 80 w 527"/>
                <a:gd name="T49" fmla="*/ 30 h 394"/>
                <a:gd name="T50" fmla="*/ 447 w 527"/>
                <a:gd name="T51" fmla="*/ 30 h 394"/>
                <a:gd name="T52" fmla="*/ 447 w 527"/>
                <a:gd name="T53" fmla="*/ 259 h 394"/>
                <a:gd name="T54" fmla="*/ 526 w 527"/>
                <a:gd name="T55" fmla="*/ 373 h 394"/>
                <a:gd name="T56" fmla="*/ 1 w 527"/>
                <a:gd name="T57" fmla="*/ 373 h 394"/>
                <a:gd name="T58" fmla="*/ 0 w 527"/>
                <a:gd name="T59" fmla="*/ 376 h 394"/>
                <a:gd name="T60" fmla="*/ 12 w 527"/>
                <a:gd name="T61" fmla="*/ 394 h 394"/>
                <a:gd name="T62" fmla="*/ 515 w 527"/>
                <a:gd name="T63" fmla="*/ 394 h 394"/>
                <a:gd name="T64" fmla="*/ 527 w 527"/>
                <a:gd name="T65" fmla="*/ 376 h 394"/>
                <a:gd name="T66" fmla="*/ 526 w 527"/>
                <a:gd name="T67" fmla="*/ 37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7" h="394">
                  <a:moveTo>
                    <a:pt x="485" y="294"/>
                  </a:moveTo>
                  <a:cubicBezTo>
                    <a:pt x="42" y="294"/>
                    <a:pt x="42" y="294"/>
                    <a:pt x="42" y="294"/>
                  </a:cubicBezTo>
                  <a:cubicBezTo>
                    <a:pt x="9" y="359"/>
                    <a:pt x="9" y="359"/>
                    <a:pt x="9" y="359"/>
                  </a:cubicBezTo>
                  <a:cubicBezTo>
                    <a:pt x="518" y="359"/>
                    <a:pt x="518" y="359"/>
                    <a:pt x="518" y="359"/>
                  </a:cubicBezTo>
                  <a:lnTo>
                    <a:pt x="485" y="294"/>
                  </a:lnTo>
                  <a:close/>
                  <a:moveTo>
                    <a:pt x="208" y="343"/>
                  </a:moveTo>
                  <a:cubicBezTo>
                    <a:pt x="222" y="317"/>
                    <a:pt x="222" y="317"/>
                    <a:pt x="222" y="317"/>
                  </a:cubicBezTo>
                  <a:cubicBezTo>
                    <a:pt x="307" y="317"/>
                    <a:pt x="307" y="317"/>
                    <a:pt x="307" y="317"/>
                  </a:cubicBezTo>
                  <a:cubicBezTo>
                    <a:pt x="319" y="343"/>
                    <a:pt x="319" y="343"/>
                    <a:pt x="319" y="343"/>
                  </a:cubicBezTo>
                  <a:lnTo>
                    <a:pt x="208" y="343"/>
                  </a:lnTo>
                  <a:close/>
                  <a:moveTo>
                    <a:pt x="478" y="280"/>
                  </a:moveTo>
                  <a:cubicBezTo>
                    <a:pt x="478" y="279"/>
                    <a:pt x="478" y="279"/>
                    <a:pt x="478" y="278"/>
                  </a:cubicBezTo>
                  <a:cubicBezTo>
                    <a:pt x="478" y="278"/>
                    <a:pt x="478" y="278"/>
                    <a:pt x="478" y="277"/>
                  </a:cubicBezTo>
                  <a:cubicBezTo>
                    <a:pt x="478" y="12"/>
                    <a:pt x="478" y="12"/>
                    <a:pt x="478" y="12"/>
                  </a:cubicBezTo>
                  <a:cubicBezTo>
                    <a:pt x="478" y="5"/>
                    <a:pt x="472" y="0"/>
                    <a:pt x="465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5" y="0"/>
                    <a:pt x="49" y="5"/>
                    <a:pt x="49" y="12"/>
                  </a:cubicBezTo>
                  <a:cubicBezTo>
                    <a:pt x="49" y="277"/>
                    <a:pt x="49" y="277"/>
                    <a:pt x="49" y="277"/>
                  </a:cubicBezTo>
                  <a:cubicBezTo>
                    <a:pt x="49" y="278"/>
                    <a:pt x="50" y="278"/>
                    <a:pt x="50" y="278"/>
                  </a:cubicBezTo>
                  <a:cubicBezTo>
                    <a:pt x="50" y="279"/>
                    <a:pt x="49" y="279"/>
                    <a:pt x="49" y="280"/>
                  </a:cubicBezTo>
                  <a:cubicBezTo>
                    <a:pt x="49" y="280"/>
                    <a:pt x="49" y="280"/>
                    <a:pt x="49" y="280"/>
                  </a:cubicBezTo>
                  <a:cubicBezTo>
                    <a:pt x="478" y="280"/>
                    <a:pt x="478" y="280"/>
                    <a:pt x="478" y="280"/>
                  </a:cubicBezTo>
                  <a:close/>
                  <a:moveTo>
                    <a:pt x="447" y="259"/>
                  </a:moveTo>
                  <a:cubicBezTo>
                    <a:pt x="80" y="259"/>
                    <a:pt x="80" y="259"/>
                    <a:pt x="80" y="25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447" y="30"/>
                    <a:pt x="447" y="30"/>
                    <a:pt x="447" y="30"/>
                  </a:cubicBezTo>
                  <a:lnTo>
                    <a:pt x="447" y="259"/>
                  </a:lnTo>
                  <a:close/>
                  <a:moveTo>
                    <a:pt x="526" y="373"/>
                  </a:moveTo>
                  <a:cubicBezTo>
                    <a:pt x="1" y="373"/>
                    <a:pt x="1" y="373"/>
                    <a:pt x="1" y="373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82"/>
                    <a:pt x="6" y="394"/>
                    <a:pt x="12" y="394"/>
                  </a:cubicBezTo>
                  <a:cubicBezTo>
                    <a:pt x="515" y="394"/>
                    <a:pt x="515" y="394"/>
                    <a:pt x="515" y="394"/>
                  </a:cubicBezTo>
                  <a:cubicBezTo>
                    <a:pt x="521" y="394"/>
                    <a:pt x="527" y="382"/>
                    <a:pt x="527" y="376"/>
                  </a:cubicBezTo>
                  <a:lnTo>
                    <a:pt x="526" y="37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txBody>
            <a:bodyPr/>
            <a:lstStyle/>
            <a:p>
              <a:pPr marL="0" marR="0" lvl="0" indent="0" algn="l" defTabSz="7835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49170" name="文本框 27"/>
            <p:cNvSpPr txBox="1">
              <a:spLocks noChangeArrowheads="1"/>
            </p:cNvSpPr>
            <p:nvPr/>
          </p:nvSpPr>
          <p:spPr bwMode="auto">
            <a:xfrm>
              <a:off x="5345272" y="3939754"/>
              <a:ext cx="1340537" cy="4514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研究目标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62286" y="910809"/>
            <a:ext cx="594066" cy="694438"/>
            <a:chOff x="7181637" y="1258060"/>
            <a:chExt cx="792088" cy="925917"/>
          </a:xfrm>
          <a:solidFill>
            <a:schemeClr val="accent6">
              <a:lumMod val="75000"/>
            </a:schemeClr>
          </a:solidFill>
        </p:grpSpPr>
        <p:grpSp>
          <p:nvGrpSpPr>
            <p:cNvPr id="30" name="组合 29"/>
            <p:cNvGrpSpPr/>
            <p:nvPr/>
          </p:nvGrpSpPr>
          <p:grpSpPr>
            <a:xfrm rot="1291582">
              <a:off x="7181637" y="1258060"/>
              <a:ext cx="792088" cy="925917"/>
              <a:chOff x="6744072" y="893003"/>
              <a:chExt cx="792088" cy="925917"/>
            </a:xfrm>
            <a:grpFill/>
          </p:grpSpPr>
          <p:sp>
            <p:nvSpPr>
              <p:cNvPr id="32" name="流程图: 联系 31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sp>
            <p:nvSpPr>
              <p:cNvPr id="33" name="等腰三角形 32"/>
              <p:cNvSpPr/>
              <p:nvPr/>
            </p:nvSpPr>
            <p:spPr>
              <a:xfrm rot="11236714">
                <a:off x="6940431" y="1651076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31" name="文本框 28"/>
            <p:cNvSpPr txBox="1"/>
            <p:nvPr/>
          </p:nvSpPr>
          <p:spPr>
            <a:xfrm>
              <a:off x="7423168" y="1475477"/>
              <a:ext cx="438581" cy="43088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A</a:t>
              </a:r>
              <a:endPara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777028" y="1899722"/>
            <a:ext cx="704169" cy="594066"/>
            <a:chOff x="3794408" y="2708245"/>
            <a:chExt cx="938886" cy="792088"/>
          </a:xfrm>
          <a:solidFill>
            <a:schemeClr val="accent6">
              <a:lumMod val="75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 rot="18172526">
              <a:off x="3867807" y="2634846"/>
              <a:ext cx="792088" cy="938886"/>
              <a:chOff x="6744072" y="893003"/>
              <a:chExt cx="792088" cy="938886"/>
            </a:xfrm>
            <a:grpFill/>
          </p:grpSpPr>
          <p:sp>
            <p:nvSpPr>
              <p:cNvPr id="37" name="流程图: 联系 36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sp>
            <p:nvSpPr>
              <p:cNvPr id="38" name="等腰三角形 37"/>
              <p:cNvSpPr/>
              <p:nvPr/>
            </p:nvSpPr>
            <p:spPr>
              <a:xfrm rot="11236714">
                <a:off x="6980835" y="1664045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36" name="文本框 29"/>
            <p:cNvSpPr txBox="1"/>
            <p:nvPr/>
          </p:nvSpPr>
          <p:spPr>
            <a:xfrm>
              <a:off x="3975023" y="2864393"/>
              <a:ext cx="406522" cy="430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B</a:t>
              </a:r>
              <a:endPara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00113" y="4151313"/>
            <a:ext cx="7632700" cy="1200150"/>
            <a:chOff x="544923" y="2418093"/>
            <a:chExt cx="6674776" cy="1599480"/>
          </a:xfrm>
        </p:grpSpPr>
        <p:sp>
          <p:nvSpPr>
            <p:cNvPr id="24592" name="矩形 39"/>
            <p:cNvSpPr/>
            <p:nvPr/>
          </p:nvSpPr>
          <p:spPr>
            <a:xfrm>
              <a:off x="544923" y="2786410"/>
              <a:ext cx="6674776" cy="123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93" name="文本框 32"/>
            <p:cNvSpPr txBox="1"/>
            <p:nvPr/>
          </p:nvSpPr>
          <p:spPr>
            <a:xfrm>
              <a:off x="544923" y="2418093"/>
              <a:ext cx="834364" cy="4309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pic>
        <p:nvPicPr>
          <p:cNvPr id="24594" name="图片 4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" name="文本框 42"/>
          <p:cNvSpPr txBox="1"/>
          <p:nvPr/>
        </p:nvSpPr>
        <p:spPr>
          <a:xfrm>
            <a:off x="411163" y="371475"/>
            <a:ext cx="1760538" cy="33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RAG系统局限性与现有攻击短板：知识库投毒的必要性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722313" y="1693863"/>
            <a:ext cx="1603375" cy="1219200"/>
            <a:chOff x="910361" y="1498145"/>
            <a:chExt cx="1604239" cy="1219655"/>
          </a:xfrm>
        </p:grpSpPr>
        <p:sp>
          <p:nvSpPr>
            <p:cNvPr id="21" name="任意多边形 20"/>
            <p:cNvSpPr/>
            <p:nvPr/>
          </p:nvSpPr>
          <p:spPr>
            <a:xfrm>
              <a:off x="1587000" y="1853878"/>
              <a:ext cx="927600" cy="863922"/>
            </a:xfrm>
            <a:custGeom>
              <a:avLst/>
              <a:gdLst>
                <a:gd name="connsiteX0" fmla="*/ 0 w 927100"/>
                <a:gd name="connsiteY0" fmla="*/ 279400 h 863600"/>
                <a:gd name="connsiteX1" fmla="*/ 215900 w 927100"/>
                <a:gd name="connsiteY1" fmla="*/ 0 h 863600"/>
                <a:gd name="connsiteX2" fmla="*/ 927100 w 927100"/>
                <a:gd name="connsiteY2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100" h="863600">
                  <a:moveTo>
                    <a:pt x="0" y="279400"/>
                  </a:moveTo>
                  <a:lnTo>
                    <a:pt x="215900" y="0"/>
                  </a:lnTo>
                  <a:lnTo>
                    <a:pt x="927100" y="8636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723" name="矩形 21"/>
            <p:cNvSpPr/>
            <p:nvPr/>
          </p:nvSpPr>
          <p:spPr>
            <a:xfrm>
              <a:off x="910361" y="1498145"/>
              <a:ext cx="1213794" cy="2976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2000" baseline="-3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208463" y="1481138"/>
            <a:ext cx="1711325" cy="1749425"/>
            <a:chOff x="4396710" y="1284513"/>
            <a:chExt cx="1711990" cy="1750787"/>
          </a:xfrm>
        </p:grpSpPr>
        <p:sp>
          <p:nvSpPr>
            <p:cNvPr id="24" name="任意多边形 23"/>
            <p:cNvSpPr/>
            <p:nvPr/>
          </p:nvSpPr>
          <p:spPr>
            <a:xfrm>
              <a:off x="5054190" y="1613381"/>
              <a:ext cx="1054510" cy="1421919"/>
            </a:xfrm>
            <a:custGeom>
              <a:avLst/>
              <a:gdLst>
                <a:gd name="connsiteX0" fmla="*/ 152400 w 889000"/>
                <a:gd name="connsiteY0" fmla="*/ 1016000 h 1016000"/>
                <a:gd name="connsiteX1" fmla="*/ 0 w 889000"/>
                <a:gd name="connsiteY1" fmla="*/ 0 h 1016000"/>
                <a:gd name="connsiteX2" fmla="*/ 889000 w 889000"/>
                <a:gd name="connsiteY2" fmla="*/ 292100 h 1016000"/>
                <a:gd name="connsiteX0-1" fmla="*/ 317500 w 1054100"/>
                <a:gd name="connsiteY0-2" fmla="*/ 1422400 h 1422400"/>
                <a:gd name="connsiteX1-3" fmla="*/ 0 w 1054100"/>
                <a:gd name="connsiteY1-4" fmla="*/ 0 h 1422400"/>
                <a:gd name="connsiteX2-5" fmla="*/ 1054100 w 1054100"/>
                <a:gd name="connsiteY2-6" fmla="*/ 698500 h 1422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54100" h="1422400">
                  <a:moveTo>
                    <a:pt x="317500" y="1422400"/>
                  </a:moveTo>
                  <a:lnTo>
                    <a:pt x="0" y="0"/>
                  </a:lnTo>
                  <a:lnTo>
                    <a:pt x="1054100" y="6985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726" name="矩形 24"/>
            <p:cNvSpPr/>
            <p:nvPr/>
          </p:nvSpPr>
          <p:spPr>
            <a:xfrm>
              <a:off x="4396710" y="1284513"/>
              <a:ext cx="1261885" cy="3079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sp>
        <p:nvSpPr>
          <p:cNvPr id="26" name="任意多边形 25"/>
          <p:cNvSpPr/>
          <p:nvPr/>
        </p:nvSpPr>
        <p:spPr>
          <a:xfrm>
            <a:off x="325438" y="2000250"/>
            <a:ext cx="7940675" cy="1765300"/>
          </a:xfrm>
          <a:custGeom>
            <a:avLst/>
            <a:gdLst>
              <a:gd name="connsiteX0" fmla="*/ 0 w 7941502"/>
              <a:gd name="connsiteY0" fmla="*/ 1252603 h 1766170"/>
              <a:gd name="connsiteX1" fmla="*/ 0 w 7941502"/>
              <a:gd name="connsiteY1" fmla="*/ 1252603 h 1766170"/>
              <a:gd name="connsiteX2" fmla="*/ 1077239 w 7941502"/>
              <a:gd name="connsiteY2" fmla="*/ 313151 h 1766170"/>
              <a:gd name="connsiteX3" fmla="*/ 1979113 w 7941502"/>
              <a:gd name="connsiteY3" fmla="*/ 951978 h 1766170"/>
              <a:gd name="connsiteX4" fmla="*/ 2780779 w 7941502"/>
              <a:gd name="connsiteY4" fmla="*/ 162838 h 1766170"/>
              <a:gd name="connsiteX5" fmla="*/ 3306872 w 7941502"/>
              <a:gd name="connsiteY5" fmla="*/ 676405 h 1766170"/>
              <a:gd name="connsiteX6" fmla="*/ 4885151 w 7941502"/>
              <a:gd name="connsiteY6" fmla="*/ 1202498 h 1766170"/>
              <a:gd name="connsiteX7" fmla="*/ 5586609 w 7941502"/>
              <a:gd name="connsiteY7" fmla="*/ 488515 h 1766170"/>
              <a:gd name="connsiteX8" fmla="*/ 6263014 w 7941502"/>
              <a:gd name="connsiteY8" fmla="*/ 300624 h 1766170"/>
              <a:gd name="connsiteX9" fmla="*/ 6601217 w 7941502"/>
              <a:gd name="connsiteY9" fmla="*/ 1766170 h 1766170"/>
              <a:gd name="connsiteX10" fmla="*/ 7177414 w 7941502"/>
              <a:gd name="connsiteY10" fmla="*/ 0 h 1766170"/>
              <a:gd name="connsiteX11" fmla="*/ 7941502 w 7941502"/>
              <a:gd name="connsiteY11" fmla="*/ 701457 h 176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941502" h="1766170">
                <a:moveTo>
                  <a:pt x="0" y="1252603"/>
                </a:moveTo>
                <a:lnTo>
                  <a:pt x="0" y="1252603"/>
                </a:lnTo>
                <a:lnTo>
                  <a:pt x="1077239" y="313151"/>
                </a:lnTo>
                <a:lnTo>
                  <a:pt x="1979113" y="951978"/>
                </a:lnTo>
                <a:lnTo>
                  <a:pt x="2780779" y="162838"/>
                </a:lnTo>
                <a:lnTo>
                  <a:pt x="3306872" y="676405"/>
                </a:lnTo>
                <a:lnTo>
                  <a:pt x="4885151" y="1202498"/>
                </a:lnTo>
                <a:lnTo>
                  <a:pt x="5586609" y="488515"/>
                </a:lnTo>
                <a:lnTo>
                  <a:pt x="6263014" y="300624"/>
                </a:lnTo>
                <a:lnTo>
                  <a:pt x="6601217" y="1766170"/>
                </a:lnTo>
                <a:lnTo>
                  <a:pt x="7177414" y="0"/>
                </a:lnTo>
                <a:lnTo>
                  <a:pt x="7941502" y="701457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09" rIns="91418" bIns="45709"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结论：形式化优化问题定义：以“检索条件+生成条件”为约束，构造恶意文本使RAG系统针对目标问题生成预设答案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黑盒场景：基于GPT-4迭代生成满足生成条件的恶意文本I，直接拼接目标问题构造投毒文本</a:t>
            </a:r>
          </a:p>
          <a:p>
            <a:pPr/>
            <a:r>
              <a:t>白盒场景：采用HotFlip对抗文本构造方法，优化满足检索条件的文本S，结合GPT-4生成的I构造投毒文本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286000" y="2216150"/>
            <a:ext cx="1222375" cy="1728788"/>
            <a:chOff x="2473526" y="2425699"/>
            <a:chExt cx="1223413" cy="1730280"/>
          </a:xfrm>
        </p:grpSpPr>
        <p:sp>
          <p:nvSpPr>
            <p:cNvPr id="28" name="任意多边形 27"/>
            <p:cNvSpPr/>
            <p:nvPr/>
          </p:nvSpPr>
          <p:spPr>
            <a:xfrm>
              <a:off x="3301316" y="2425699"/>
              <a:ext cx="46076" cy="1374373"/>
            </a:xfrm>
            <a:custGeom>
              <a:avLst/>
              <a:gdLst>
                <a:gd name="connsiteX0" fmla="*/ 0 w 0"/>
                <a:gd name="connsiteY0" fmla="*/ 0 h 1193800"/>
                <a:gd name="connsiteX1" fmla="*/ 0 w 0"/>
                <a:gd name="connsiteY1" fmla="*/ 119380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193800">
                  <a:moveTo>
                    <a:pt x="0" y="0"/>
                  </a:moveTo>
                  <a:lnTo>
                    <a:pt x="0" y="11938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473526" y="3855682"/>
              <a:ext cx="1223413" cy="3002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点击添加标题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077913" y="2268538"/>
            <a:ext cx="683895" cy="513080"/>
            <a:chOff x="1266729" y="2071701"/>
            <a:chExt cx="682936" cy="514396"/>
          </a:xfrm>
        </p:grpSpPr>
        <p:sp>
          <p:nvSpPr>
            <p:cNvPr id="31" name="椭圆 30"/>
            <p:cNvSpPr/>
            <p:nvPr/>
          </p:nvSpPr>
          <p:spPr>
            <a:xfrm>
              <a:off x="1499764" y="2071701"/>
              <a:ext cx="163284" cy="1623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266729" y="2332719"/>
              <a:ext cx="682936" cy="2533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2015.06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925638" y="2854325"/>
            <a:ext cx="683895" cy="451167"/>
            <a:chOff x="2113346" y="3064841"/>
            <a:chExt cx="684514" cy="451696"/>
          </a:xfrm>
        </p:grpSpPr>
        <p:sp>
          <p:nvSpPr>
            <p:cNvPr id="34" name="椭圆 33"/>
            <p:cNvSpPr/>
            <p:nvPr/>
          </p:nvSpPr>
          <p:spPr>
            <a:xfrm>
              <a:off x="2407299" y="3064841"/>
              <a:ext cx="162072" cy="16211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113346" y="3263511"/>
              <a:ext cx="684514" cy="2530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2015.09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790825" y="1854200"/>
            <a:ext cx="683895" cy="415925"/>
            <a:chOff x="2979182" y="2064744"/>
            <a:chExt cx="684513" cy="416176"/>
          </a:xfrm>
        </p:grpSpPr>
        <p:sp>
          <p:nvSpPr>
            <p:cNvPr id="37" name="椭圆 36"/>
            <p:cNvSpPr/>
            <p:nvPr/>
          </p:nvSpPr>
          <p:spPr>
            <a:xfrm>
              <a:off x="3222289" y="2317309"/>
              <a:ext cx="163660" cy="163611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2979182" y="2064744"/>
              <a:ext cx="684513" cy="2528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2016.01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529013" y="2524125"/>
            <a:ext cx="895031" cy="252730"/>
            <a:chOff x="3717829" y="2733933"/>
            <a:chExt cx="893701" cy="252778"/>
          </a:xfrm>
        </p:grpSpPr>
        <p:sp>
          <p:nvSpPr>
            <p:cNvPr id="40" name="椭圆 39"/>
            <p:cNvSpPr/>
            <p:nvPr/>
          </p:nvSpPr>
          <p:spPr>
            <a:xfrm>
              <a:off x="3717829" y="2791094"/>
              <a:ext cx="163269" cy="161956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3928652" y="2733933"/>
              <a:ext cx="682878" cy="2527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2016.06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959350" y="3135313"/>
            <a:ext cx="690880" cy="430530"/>
            <a:chOff x="5133702" y="3346781"/>
            <a:chExt cx="691839" cy="429733"/>
          </a:xfrm>
        </p:grpSpPr>
        <p:sp>
          <p:nvSpPr>
            <p:cNvPr id="30744" name="椭圆 42"/>
            <p:cNvSpPr/>
            <p:nvPr/>
          </p:nvSpPr>
          <p:spPr>
            <a:xfrm>
              <a:off x="5310409" y="3346781"/>
              <a:ext cx="162839" cy="162839"/>
            </a:xfrm>
            <a:prstGeom prst="ellipse">
              <a:avLst/>
            </a:prstGeom>
            <a:solidFill>
              <a:schemeClr val="bg1">
                <a:alpha val="79999"/>
              </a:schemeClr>
            </a:solidFill>
            <a:ln w="9525">
              <a:noFill/>
            </a:ln>
          </p:spPr>
          <p:txBody>
            <a:bodyPr lIns="68544" tIns="34272" rIns="68544" bIns="34272" anchor="t"/>
            <a:lstStyle/>
            <a:p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133702" y="3524252"/>
              <a:ext cx="691839" cy="2522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201608 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734050" y="2435225"/>
            <a:ext cx="683895" cy="457517"/>
            <a:chOff x="5908402" y="2645741"/>
            <a:chExt cx="684512" cy="457670"/>
          </a:xfrm>
        </p:grpSpPr>
        <p:sp>
          <p:nvSpPr>
            <p:cNvPr id="30747" name="椭圆 45"/>
            <p:cNvSpPr/>
            <p:nvPr/>
          </p:nvSpPr>
          <p:spPr>
            <a:xfrm>
              <a:off x="6026689" y="2645741"/>
              <a:ext cx="162839" cy="162839"/>
            </a:xfrm>
            <a:prstGeom prst="ellipse">
              <a:avLst/>
            </a:prstGeom>
            <a:solidFill>
              <a:schemeClr val="bg1">
                <a:alpha val="79999"/>
              </a:schemeClr>
            </a:solidFill>
            <a:ln w="9525">
              <a:noFill/>
            </a:ln>
          </p:spPr>
          <p:txBody>
            <a:bodyPr lIns="68544" tIns="34272" rIns="68544" bIns="34272" anchor="t"/>
            <a:lstStyle/>
            <a:p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5908402" y="2850597"/>
              <a:ext cx="684512" cy="2528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2016.10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253163" y="1978025"/>
            <a:ext cx="683895" cy="414338"/>
            <a:chOff x="6441129" y="2188789"/>
            <a:chExt cx="684514" cy="414051"/>
          </a:xfrm>
        </p:grpSpPr>
        <p:sp>
          <p:nvSpPr>
            <p:cNvPr id="49" name="椭圆 48"/>
            <p:cNvSpPr/>
            <p:nvPr/>
          </p:nvSpPr>
          <p:spPr>
            <a:xfrm>
              <a:off x="6682647" y="2439440"/>
              <a:ext cx="162072" cy="16340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6441129" y="2188789"/>
              <a:ext cx="684514" cy="252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2017.01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634163" y="3662363"/>
            <a:ext cx="683895" cy="447993"/>
            <a:chOff x="6822054" y="3872561"/>
            <a:chExt cx="684514" cy="449293"/>
          </a:xfrm>
        </p:grpSpPr>
        <p:sp>
          <p:nvSpPr>
            <p:cNvPr id="52" name="椭圆 51"/>
            <p:cNvSpPr/>
            <p:nvPr/>
          </p:nvSpPr>
          <p:spPr>
            <a:xfrm>
              <a:off x="7055627" y="3872561"/>
              <a:ext cx="162072" cy="16239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6822054" y="4068390"/>
              <a:ext cx="684514" cy="2534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2017.02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439025" y="1847850"/>
            <a:ext cx="869633" cy="255588"/>
            <a:chOff x="7626889" y="2058017"/>
            <a:chExt cx="870279" cy="255263"/>
          </a:xfrm>
        </p:grpSpPr>
        <p:sp>
          <p:nvSpPr>
            <p:cNvPr id="55" name="椭圆 54"/>
            <p:cNvSpPr/>
            <p:nvPr/>
          </p:nvSpPr>
          <p:spPr>
            <a:xfrm>
              <a:off x="7626889" y="2149975"/>
              <a:ext cx="162045" cy="16330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7812765" y="2058017"/>
              <a:ext cx="684403" cy="2524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2017.04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7227888" y="2092325"/>
            <a:ext cx="1223962" cy="1474788"/>
            <a:chOff x="7416713" y="2092528"/>
            <a:chExt cx="1223412" cy="1474343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7745177" y="2092528"/>
              <a:ext cx="230085" cy="1115676"/>
            </a:xfrm>
            <a:prstGeom prst="line">
              <a:avLst/>
            </a:prstGeom>
            <a:ln w="127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/>
            <p:cNvSpPr/>
            <p:nvPr/>
          </p:nvSpPr>
          <p:spPr>
            <a:xfrm>
              <a:off x="7416713" y="3266924"/>
              <a:ext cx="1223412" cy="29994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点击添加标题</a:t>
              </a:r>
            </a:p>
          </p:txBody>
        </p:sp>
      </p:grpSp>
      <p:pic>
        <p:nvPicPr>
          <p:cNvPr id="30761" name="图片 5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" name="文本框 60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PoisonedRAG攻击框架：黑盒/白盒场景下的恶意文本构造机制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3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3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3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3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3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3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3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3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3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实验设置与核心评估指标</a:t>
            </a:r>
          </a:p>
        </p:txBody>
      </p:sp>
      <p:sp>
        <p:nvSpPr>
          <p:cNvPr id="4" name="Freeform 2"/>
          <p:cNvSpPr/>
          <p:nvPr/>
        </p:nvSpPr>
        <p:spPr bwMode="auto">
          <a:xfrm>
            <a:off x="941388" y="1884363"/>
            <a:ext cx="7261225" cy="1117600"/>
          </a:xfrm>
          <a:custGeom>
            <a:avLst/>
            <a:gdLst>
              <a:gd name="T0" fmla="*/ 2134 w 2522"/>
              <a:gd name="T1" fmla="*/ 0 h 388"/>
              <a:gd name="T2" fmla="*/ 1749 w 2522"/>
              <a:gd name="T3" fmla="*/ 341 h 388"/>
              <a:gd name="T4" fmla="*/ 0 w 2522"/>
              <a:gd name="T5" fmla="*/ 341 h 388"/>
              <a:gd name="T6" fmla="*/ 0 w 2522"/>
              <a:gd name="T7" fmla="*/ 388 h 388"/>
              <a:gd name="T8" fmla="*/ 1746 w 2522"/>
              <a:gd name="T9" fmla="*/ 388 h 388"/>
              <a:gd name="T10" fmla="*/ 1803 w 2522"/>
              <a:gd name="T11" fmla="*/ 388 h 388"/>
              <a:gd name="T12" fmla="*/ 2522 w 2522"/>
              <a:gd name="T13" fmla="*/ 388 h 388"/>
              <a:gd name="T14" fmla="*/ 2134 w 2522"/>
              <a:gd name="T15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0"/>
                </a:moveTo>
                <a:cubicBezTo>
                  <a:pt x="1936" y="0"/>
                  <a:pt x="1772" y="149"/>
                  <a:pt x="1749" y="341"/>
                </a:cubicBezTo>
                <a:cubicBezTo>
                  <a:pt x="0" y="341"/>
                  <a:pt x="0" y="341"/>
                  <a:pt x="0" y="341"/>
                </a:cubicBezTo>
                <a:cubicBezTo>
                  <a:pt x="0" y="388"/>
                  <a:pt x="0" y="388"/>
                  <a:pt x="0" y="388"/>
                </a:cubicBezTo>
                <a:cubicBezTo>
                  <a:pt x="1746" y="388"/>
                  <a:pt x="1746" y="388"/>
                  <a:pt x="1746" y="388"/>
                </a:cubicBezTo>
                <a:cubicBezTo>
                  <a:pt x="1803" y="388"/>
                  <a:pt x="1803" y="388"/>
                  <a:pt x="1803" y="388"/>
                </a:cubicBezTo>
                <a:cubicBezTo>
                  <a:pt x="2522" y="388"/>
                  <a:pt x="2522" y="388"/>
                  <a:pt x="2522" y="388"/>
                </a:cubicBezTo>
                <a:cubicBezTo>
                  <a:pt x="2522" y="174"/>
                  <a:pt x="2348" y="0"/>
                  <a:pt x="2134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结论：数据集与组件配置：采用NQ/HotpotQA/MS-MARCO数据集，默认使用Contriever检索器、PaLM 2 LLM，检索Top-5相关文本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核心量化指标：攻击成功率(ASR，子串匹配目标答案一致比例)、F1分数(精确率与召回率平衡)、计算效率(恶意文本生成查询次数/耗时)</a:t>
            </a:r>
          </a:p>
          <a:p>
            <a:pPr/>
            <a:r>
              <a:t>关键超参数默认值：单目标问题注入5条恶意文本(I长度V=30，生成最大尝试次数L=50)，白盒场景用HotFlip构造对抗文本</a:t>
            </a:r>
          </a:p>
        </p:txBody>
      </p:sp>
      <p:sp>
        <p:nvSpPr>
          <p:cNvPr id="5" name="Freeform 3"/>
          <p:cNvSpPr/>
          <p:nvPr/>
        </p:nvSpPr>
        <p:spPr bwMode="auto">
          <a:xfrm>
            <a:off x="941388" y="3044825"/>
            <a:ext cx="7261225" cy="1117600"/>
          </a:xfrm>
          <a:custGeom>
            <a:avLst/>
            <a:gdLst>
              <a:gd name="T0" fmla="*/ 2134 w 2522"/>
              <a:gd name="T1" fmla="*/ 388 h 388"/>
              <a:gd name="T2" fmla="*/ 1749 w 2522"/>
              <a:gd name="T3" fmla="*/ 48 h 388"/>
              <a:gd name="T4" fmla="*/ 0 w 2522"/>
              <a:gd name="T5" fmla="*/ 48 h 388"/>
              <a:gd name="T6" fmla="*/ 0 w 2522"/>
              <a:gd name="T7" fmla="*/ 0 h 388"/>
              <a:gd name="T8" fmla="*/ 1746 w 2522"/>
              <a:gd name="T9" fmla="*/ 0 h 388"/>
              <a:gd name="T10" fmla="*/ 1803 w 2522"/>
              <a:gd name="T11" fmla="*/ 0 h 388"/>
              <a:gd name="T12" fmla="*/ 2522 w 2522"/>
              <a:gd name="T13" fmla="*/ 0 h 388"/>
              <a:gd name="T14" fmla="*/ 2134 w 2522"/>
              <a:gd name="T15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388"/>
                </a:moveTo>
                <a:cubicBezTo>
                  <a:pt x="1936" y="388"/>
                  <a:pt x="1772" y="240"/>
                  <a:pt x="1749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0"/>
                  <a:pt x="0" y="0"/>
                  <a:pt x="0" y="0"/>
                </a:cubicBezTo>
                <a:cubicBezTo>
                  <a:pt x="1746" y="0"/>
                  <a:pt x="1746" y="0"/>
                  <a:pt x="1746" y="0"/>
                </a:cubicBezTo>
                <a:cubicBezTo>
                  <a:pt x="1803" y="0"/>
                  <a:pt x="1803" y="0"/>
                  <a:pt x="1803" y="0"/>
                </a:cubicBezTo>
                <a:cubicBezTo>
                  <a:pt x="2522" y="0"/>
                  <a:pt x="2522" y="0"/>
                  <a:pt x="2522" y="0"/>
                </a:cubicBezTo>
                <a:cubicBezTo>
                  <a:pt x="2522" y="215"/>
                  <a:pt x="2348" y="388"/>
                  <a:pt x="2134" y="388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reeform 4"/>
          <p:cNvSpPr/>
          <p:nvPr/>
        </p:nvSpPr>
        <p:spPr bwMode="auto">
          <a:xfrm>
            <a:off x="941388" y="1603375"/>
            <a:ext cx="6164263" cy="280988"/>
          </a:xfrm>
          <a:custGeom>
            <a:avLst/>
            <a:gdLst>
              <a:gd name="T0" fmla="*/ 0 w 3883"/>
              <a:gd name="T1" fmla="*/ 0 h 177"/>
              <a:gd name="T2" fmla="*/ 3883 w 3883"/>
              <a:gd name="T3" fmla="*/ 0 h 177"/>
              <a:gd name="T4" fmla="*/ 3883 w 3883"/>
              <a:gd name="T5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7">
                <a:moveTo>
                  <a:pt x="0" y="0"/>
                </a:moveTo>
                <a:lnTo>
                  <a:pt x="3883" y="0"/>
                </a:lnTo>
                <a:lnTo>
                  <a:pt x="3883" y="177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Freeform 5"/>
          <p:cNvSpPr/>
          <p:nvPr/>
        </p:nvSpPr>
        <p:spPr bwMode="auto">
          <a:xfrm>
            <a:off x="941388" y="4162425"/>
            <a:ext cx="6164263" cy="279400"/>
          </a:xfrm>
          <a:custGeom>
            <a:avLst/>
            <a:gdLst>
              <a:gd name="T0" fmla="*/ 0 w 3883"/>
              <a:gd name="T1" fmla="*/ 176 h 176"/>
              <a:gd name="T2" fmla="*/ 3883 w 3883"/>
              <a:gd name="T3" fmla="*/ 176 h 176"/>
              <a:gd name="T4" fmla="*/ 3883 w 3883"/>
              <a:gd name="T5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6">
                <a:moveTo>
                  <a:pt x="0" y="176"/>
                </a:moveTo>
                <a:lnTo>
                  <a:pt x="3883" y="176"/>
                </a:lnTo>
                <a:lnTo>
                  <a:pt x="388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523038" y="2184400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523038" y="3262313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 Box 65"/>
          <p:cNvSpPr txBox="1"/>
          <p:nvPr/>
        </p:nvSpPr>
        <p:spPr>
          <a:xfrm>
            <a:off x="877888" y="1751013"/>
            <a:ext cx="3670300" cy="8683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单击添加标题</a:t>
            </a:r>
          </a:p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 Box 65"/>
          <p:cNvSpPr txBox="1"/>
          <p:nvPr/>
        </p:nvSpPr>
        <p:spPr>
          <a:xfrm>
            <a:off x="877888" y="3405188"/>
            <a:ext cx="3670300" cy="68199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单击添加标题</a:t>
            </a:r>
          </a:p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</a:t>
            </a:r>
            <a:r>
              <a:rPr lang="zh-CN" altLang="en-US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择猪七爷旗舰店</a:t>
            </a:r>
            <a:r>
              <a:rPr lang="en-US" altLang="zh-CN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猪七爷</a:t>
            </a:r>
            <a:r>
              <a:rPr lang="zh-CN" altLang="en-US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Freeform 103"/>
          <p:cNvSpPr>
            <a:spLocks noEditPoints="1" noChangeArrowheads="1"/>
          </p:cNvSpPr>
          <p:nvPr/>
        </p:nvSpPr>
        <p:spPr bwMode="auto">
          <a:xfrm>
            <a:off x="6838950" y="2533650"/>
            <a:ext cx="465138" cy="358775"/>
          </a:xfrm>
          <a:custGeom>
            <a:avLst/>
            <a:gdLst>
              <a:gd name="T0" fmla="*/ 33 w 97"/>
              <a:gd name="T1" fmla="*/ 75 h 75"/>
              <a:gd name="T2" fmla="*/ 44 w 97"/>
              <a:gd name="T3" fmla="*/ 75 h 75"/>
              <a:gd name="T4" fmla="*/ 47 w 97"/>
              <a:gd name="T5" fmla="*/ 73 h 75"/>
              <a:gd name="T6" fmla="*/ 47 w 97"/>
              <a:gd name="T7" fmla="*/ 49 h 75"/>
              <a:gd name="T8" fmla="*/ 39 w 97"/>
              <a:gd name="T9" fmla="*/ 45 h 75"/>
              <a:gd name="T10" fmla="*/ 30 w 97"/>
              <a:gd name="T11" fmla="*/ 50 h 75"/>
              <a:gd name="T12" fmla="*/ 30 w 97"/>
              <a:gd name="T13" fmla="*/ 73 h 75"/>
              <a:gd name="T14" fmla="*/ 33 w 97"/>
              <a:gd name="T15" fmla="*/ 75 h 75"/>
              <a:gd name="T16" fmla="*/ 0 w 97"/>
              <a:gd name="T17" fmla="*/ 49 h 75"/>
              <a:gd name="T18" fmla="*/ 37 w 97"/>
              <a:gd name="T19" fmla="*/ 28 h 75"/>
              <a:gd name="T20" fmla="*/ 39 w 97"/>
              <a:gd name="T21" fmla="*/ 26 h 75"/>
              <a:gd name="T22" fmla="*/ 41 w 97"/>
              <a:gd name="T23" fmla="*/ 28 h 75"/>
              <a:gd name="T24" fmla="*/ 52 w 97"/>
              <a:gd name="T25" fmla="*/ 34 h 75"/>
              <a:gd name="T26" fmla="*/ 81 w 97"/>
              <a:gd name="T27" fmla="*/ 9 h 75"/>
              <a:gd name="T28" fmla="*/ 77 w 97"/>
              <a:gd name="T29" fmla="*/ 4 h 75"/>
              <a:gd name="T30" fmla="*/ 87 w 97"/>
              <a:gd name="T31" fmla="*/ 2 h 75"/>
              <a:gd name="T32" fmla="*/ 97 w 97"/>
              <a:gd name="T33" fmla="*/ 0 h 75"/>
              <a:gd name="T34" fmla="*/ 94 w 97"/>
              <a:gd name="T35" fmla="*/ 10 h 75"/>
              <a:gd name="T36" fmla="*/ 91 w 97"/>
              <a:gd name="T37" fmla="*/ 19 h 75"/>
              <a:gd name="T38" fmla="*/ 87 w 97"/>
              <a:gd name="T39" fmla="*/ 15 h 75"/>
              <a:gd name="T40" fmla="*/ 55 w 97"/>
              <a:gd name="T41" fmla="*/ 42 h 75"/>
              <a:gd name="T42" fmla="*/ 53 w 97"/>
              <a:gd name="T43" fmla="*/ 44 h 75"/>
              <a:gd name="T44" fmla="*/ 50 w 97"/>
              <a:gd name="T45" fmla="*/ 43 h 75"/>
              <a:gd name="T46" fmla="*/ 39 w 97"/>
              <a:gd name="T47" fmla="*/ 36 h 75"/>
              <a:gd name="T48" fmla="*/ 5 w 97"/>
              <a:gd name="T49" fmla="*/ 57 h 75"/>
              <a:gd name="T50" fmla="*/ 0 w 97"/>
              <a:gd name="T51" fmla="*/ 49 h 75"/>
              <a:gd name="T52" fmla="*/ 10 w 97"/>
              <a:gd name="T53" fmla="*/ 75 h 75"/>
              <a:gd name="T54" fmla="*/ 21 w 97"/>
              <a:gd name="T55" fmla="*/ 75 h 75"/>
              <a:gd name="T56" fmla="*/ 23 w 97"/>
              <a:gd name="T57" fmla="*/ 73 h 75"/>
              <a:gd name="T58" fmla="*/ 23 w 97"/>
              <a:gd name="T59" fmla="*/ 54 h 75"/>
              <a:gd name="T60" fmla="*/ 7 w 97"/>
              <a:gd name="T61" fmla="*/ 64 h 75"/>
              <a:gd name="T62" fmla="*/ 7 w 97"/>
              <a:gd name="T63" fmla="*/ 73 h 75"/>
              <a:gd name="T64" fmla="*/ 10 w 97"/>
              <a:gd name="T65" fmla="*/ 75 h 75"/>
              <a:gd name="T66" fmla="*/ 56 w 97"/>
              <a:gd name="T67" fmla="*/ 75 h 75"/>
              <a:gd name="T68" fmla="*/ 67 w 97"/>
              <a:gd name="T69" fmla="*/ 75 h 75"/>
              <a:gd name="T70" fmla="*/ 70 w 97"/>
              <a:gd name="T71" fmla="*/ 73 h 75"/>
              <a:gd name="T72" fmla="*/ 70 w 97"/>
              <a:gd name="T73" fmla="*/ 39 h 75"/>
              <a:gd name="T74" fmla="*/ 70 w 97"/>
              <a:gd name="T75" fmla="*/ 39 h 75"/>
              <a:gd name="T76" fmla="*/ 54 w 97"/>
              <a:gd name="T77" fmla="*/ 53 h 75"/>
              <a:gd name="T78" fmla="*/ 53 w 97"/>
              <a:gd name="T79" fmla="*/ 52 h 75"/>
              <a:gd name="T80" fmla="*/ 53 w 97"/>
              <a:gd name="T81" fmla="*/ 73 h 75"/>
              <a:gd name="T82" fmla="*/ 56 w 97"/>
              <a:gd name="T83" fmla="*/ 75 h 75"/>
              <a:gd name="T84" fmla="*/ 79 w 97"/>
              <a:gd name="T85" fmla="*/ 75 h 75"/>
              <a:gd name="T86" fmla="*/ 90 w 97"/>
              <a:gd name="T87" fmla="*/ 75 h 75"/>
              <a:gd name="T88" fmla="*/ 93 w 97"/>
              <a:gd name="T89" fmla="*/ 73 h 75"/>
              <a:gd name="T90" fmla="*/ 93 w 97"/>
              <a:gd name="T91" fmla="*/ 32 h 75"/>
              <a:gd name="T92" fmla="*/ 86 w 97"/>
              <a:gd name="T93" fmla="*/ 24 h 75"/>
              <a:gd name="T94" fmla="*/ 77 w 97"/>
              <a:gd name="T95" fmla="*/ 33 h 75"/>
              <a:gd name="T96" fmla="*/ 77 w 97"/>
              <a:gd name="T97" fmla="*/ 73 h 75"/>
              <a:gd name="T98" fmla="*/ 79 w 97"/>
              <a:gd name="T99" fmla="*/ 75 h 7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97"/>
              <a:gd name="T151" fmla="*/ 0 h 75"/>
              <a:gd name="T152" fmla="*/ 97 w 97"/>
              <a:gd name="T153" fmla="*/ 75 h 75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97" h="75">
                <a:moveTo>
                  <a:pt x="33" y="75"/>
                </a:moveTo>
                <a:cubicBezTo>
                  <a:pt x="37" y="75"/>
                  <a:pt x="40" y="75"/>
                  <a:pt x="44" y="75"/>
                </a:cubicBezTo>
                <a:cubicBezTo>
                  <a:pt x="45" y="75"/>
                  <a:pt x="47" y="74"/>
                  <a:pt x="47" y="73"/>
                </a:cubicBezTo>
                <a:cubicBezTo>
                  <a:pt x="47" y="49"/>
                  <a:pt x="47" y="49"/>
                  <a:pt x="47" y="49"/>
                </a:cubicBezTo>
                <a:cubicBezTo>
                  <a:pt x="39" y="45"/>
                  <a:pt x="39" y="45"/>
                  <a:pt x="39" y="45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73"/>
                  <a:pt x="30" y="73"/>
                  <a:pt x="30" y="73"/>
                </a:cubicBezTo>
                <a:cubicBezTo>
                  <a:pt x="30" y="74"/>
                  <a:pt x="31" y="75"/>
                  <a:pt x="33" y="75"/>
                </a:cubicBezTo>
                <a:close/>
                <a:moveTo>
                  <a:pt x="0" y="49"/>
                </a:moveTo>
                <a:cubicBezTo>
                  <a:pt x="37" y="28"/>
                  <a:pt x="37" y="28"/>
                  <a:pt x="37" y="28"/>
                </a:cubicBezTo>
                <a:cubicBezTo>
                  <a:pt x="39" y="26"/>
                  <a:pt x="39" y="26"/>
                  <a:pt x="39" y="26"/>
                </a:cubicBezTo>
                <a:cubicBezTo>
                  <a:pt x="41" y="28"/>
                  <a:pt x="41" y="28"/>
                  <a:pt x="41" y="28"/>
                </a:cubicBezTo>
                <a:cubicBezTo>
                  <a:pt x="52" y="34"/>
                  <a:pt x="52" y="34"/>
                  <a:pt x="52" y="34"/>
                </a:cubicBezTo>
                <a:cubicBezTo>
                  <a:pt x="81" y="9"/>
                  <a:pt x="81" y="9"/>
                  <a:pt x="81" y="9"/>
                </a:cubicBezTo>
                <a:cubicBezTo>
                  <a:pt x="77" y="4"/>
                  <a:pt x="77" y="4"/>
                  <a:pt x="77" y="4"/>
                </a:cubicBezTo>
                <a:cubicBezTo>
                  <a:pt x="87" y="2"/>
                  <a:pt x="87" y="2"/>
                  <a:pt x="87" y="2"/>
                </a:cubicBezTo>
                <a:cubicBezTo>
                  <a:pt x="97" y="0"/>
                  <a:pt x="97" y="0"/>
                  <a:pt x="97" y="0"/>
                </a:cubicBezTo>
                <a:cubicBezTo>
                  <a:pt x="94" y="10"/>
                  <a:pt x="94" y="10"/>
                  <a:pt x="94" y="10"/>
                </a:cubicBezTo>
                <a:cubicBezTo>
                  <a:pt x="91" y="19"/>
                  <a:pt x="91" y="19"/>
                  <a:pt x="91" y="19"/>
                </a:cubicBezTo>
                <a:cubicBezTo>
                  <a:pt x="87" y="15"/>
                  <a:pt x="87" y="15"/>
                  <a:pt x="87" y="15"/>
                </a:cubicBezTo>
                <a:cubicBezTo>
                  <a:pt x="55" y="42"/>
                  <a:pt x="55" y="42"/>
                  <a:pt x="55" y="42"/>
                </a:cubicBezTo>
                <a:cubicBezTo>
                  <a:pt x="53" y="44"/>
                  <a:pt x="53" y="44"/>
                  <a:pt x="53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39" y="36"/>
                  <a:pt x="39" y="36"/>
                  <a:pt x="39" y="36"/>
                </a:cubicBezTo>
                <a:cubicBezTo>
                  <a:pt x="5" y="57"/>
                  <a:pt x="5" y="57"/>
                  <a:pt x="5" y="57"/>
                </a:cubicBezTo>
                <a:cubicBezTo>
                  <a:pt x="0" y="49"/>
                  <a:pt x="0" y="49"/>
                  <a:pt x="0" y="49"/>
                </a:cubicBezTo>
                <a:close/>
                <a:moveTo>
                  <a:pt x="10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2" y="75"/>
                  <a:pt x="23" y="74"/>
                  <a:pt x="23" y="73"/>
                </a:cubicBezTo>
                <a:cubicBezTo>
                  <a:pt x="23" y="54"/>
                  <a:pt x="23" y="54"/>
                  <a:pt x="23" y="54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73"/>
                  <a:pt x="7" y="73"/>
                  <a:pt x="7" y="73"/>
                </a:cubicBezTo>
                <a:cubicBezTo>
                  <a:pt x="7" y="74"/>
                  <a:pt x="8" y="75"/>
                  <a:pt x="10" y="75"/>
                </a:cubicBezTo>
                <a:close/>
                <a:moveTo>
                  <a:pt x="56" y="75"/>
                </a:moveTo>
                <a:cubicBezTo>
                  <a:pt x="60" y="75"/>
                  <a:pt x="63" y="75"/>
                  <a:pt x="67" y="75"/>
                </a:cubicBezTo>
                <a:cubicBezTo>
                  <a:pt x="69" y="75"/>
                  <a:pt x="70" y="74"/>
                  <a:pt x="70" y="73"/>
                </a:cubicBezTo>
                <a:cubicBezTo>
                  <a:pt x="70" y="62"/>
                  <a:pt x="70" y="50"/>
                  <a:pt x="70" y="39"/>
                </a:cubicBezTo>
                <a:cubicBezTo>
                  <a:pt x="70" y="39"/>
                  <a:pt x="70" y="39"/>
                  <a:pt x="70" y="39"/>
                </a:cubicBezTo>
                <a:cubicBezTo>
                  <a:pt x="54" y="53"/>
                  <a:pt x="54" y="53"/>
                  <a:pt x="54" y="53"/>
                </a:cubicBezTo>
                <a:cubicBezTo>
                  <a:pt x="53" y="52"/>
                  <a:pt x="53" y="52"/>
                  <a:pt x="53" y="52"/>
                </a:cubicBezTo>
                <a:cubicBezTo>
                  <a:pt x="53" y="73"/>
                  <a:pt x="53" y="73"/>
                  <a:pt x="53" y="73"/>
                </a:cubicBezTo>
                <a:cubicBezTo>
                  <a:pt x="53" y="74"/>
                  <a:pt x="55" y="75"/>
                  <a:pt x="56" y="75"/>
                </a:cubicBezTo>
                <a:close/>
                <a:moveTo>
                  <a:pt x="79" y="75"/>
                </a:moveTo>
                <a:cubicBezTo>
                  <a:pt x="90" y="75"/>
                  <a:pt x="90" y="75"/>
                  <a:pt x="90" y="75"/>
                </a:cubicBezTo>
                <a:cubicBezTo>
                  <a:pt x="92" y="75"/>
                  <a:pt x="93" y="74"/>
                  <a:pt x="93" y="73"/>
                </a:cubicBezTo>
                <a:cubicBezTo>
                  <a:pt x="93" y="32"/>
                  <a:pt x="93" y="32"/>
                  <a:pt x="93" y="32"/>
                </a:cubicBezTo>
                <a:cubicBezTo>
                  <a:pt x="86" y="24"/>
                  <a:pt x="86" y="24"/>
                  <a:pt x="86" y="24"/>
                </a:cubicBezTo>
                <a:cubicBezTo>
                  <a:pt x="77" y="33"/>
                  <a:pt x="77" y="33"/>
                  <a:pt x="77" y="3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4"/>
                  <a:pt x="78" y="75"/>
                  <a:pt x="79" y="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3" name="Freeform 33"/>
          <p:cNvSpPr>
            <a:spLocks noEditPoints="1" noChangeArrowheads="1"/>
          </p:cNvSpPr>
          <p:nvPr/>
        </p:nvSpPr>
        <p:spPr bwMode="auto">
          <a:xfrm>
            <a:off x="6899275" y="3673475"/>
            <a:ext cx="412750" cy="266700"/>
          </a:xfrm>
          <a:custGeom>
            <a:avLst/>
            <a:gdLst>
              <a:gd name="T0" fmla="*/ 13 w 94"/>
              <a:gd name="T1" fmla="*/ 0 h 61"/>
              <a:gd name="T2" fmla="*/ 82 w 94"/>
              <a:gd name="T3" fmla="*/ 0 h 61"/>
              <a:gd name="T4" fmla="*/ 89 w 94"/>
              <a:gd name="T5" fmla="*/ 2 h 61"/>
              <a:gd name="T6" fmla="*/ 47 w 94"/>
              <a:gd name="T7" fmla="*/ 33 h 61"/>
              <a:gd name="T8" fmla="*/ 6 w 94"/>
              <a:gd name="T9" fmla="*/ 2 h 61"/>
              <a:gd name="T10" fmla="*/ 13 w 94"/>
              <a:gd name="T11" fmla="*/ 0 h 61"/>
              <a:gd name="T12" fmla="*/ 94 w 94"/>
              <a:gd name="T13" fmla="*/ 9 h 61"/>
              <a:gd name="T14" fmla="*/ 67 w 94"/>
              <a:gd name="T15" fmla="*/ 29 h 61"/>
              <a:gd name="T16" fmla="*/ 93 w 94"/>
              <a:gd name="T17" fmla="*/ 53 h 61"/>
              <a:gd name="T18" fmla="*/ 94 w 94"/>
              <a:gd name="T19" fmla="*/ 48 h 61"/>
              <a:gd name="T20" fmla="*/ 94 w 94"/>
              <a:gd name="T21" fmla="*/ 12 h 61"/>
              <a:gd name="T22" fmla="*/ 94 w 94"/>
              <a:gd name="T23" fmla="*/ 9 h 61"/>
              <a:gd name="T24" fmla="*/ 87 w 94"/>
              <a:gd name="T25" fmla="*/ 60 h 61"/>
              <a:gd name="T26" fmla="*/ 82 w 94"/>
              <a:gd name="T27" fmla="*/ 61 h 61"/>
              <a:gd name="T28" fmla="*/ 13 w 94"/>
              <a:gd name="T29" fmla="*/ 61 h 61"/>
              <a:gd name="T30" fmla="*/ 6 w 94"/>
              <a:gd name="T31" fmla="*/ 59 h 61"/>
              <a:gd name="T32" fmla="*/ 34 w 94"/>
              <a:gd name="T33" fmla="*/ 34 h 61"/>
              <a:gd name="T34" fmla="*/ 44 w 94"/>
              <a:gd name="T35" fmla="*/ 42 h 61"/>
              <a:gd name="T36" fmla="*/ 47 w 94"/>
              <a:gd name="T37" fmla="*/ 44 h 61"/>
              <a:gd name="T38" fmla="*/ 50 w 94"/>
              <a:gd name="T39" fmla="*/ 42 h 61"/>
              <a:gd name="T40" fmla="*/ 60 w 94"/>
              <a:gd name="T41" fmla="*/ 35 h 61"/>
              <a:gd name="T42" fmla="*/ 87 w 94"/>
              <a:gd name="T43" fmla="*/ 60 h 61"/>
              <a:gd name="T44" fmla="*/ 1 w 94"/>
              <a:gd name="T45" fmla="*/ 52 h 61"/>
              <a:gd name="T46" fmla="*/ 27 w 94"/>
              <a:gd name="T47" fmla="*/ 29 h 61"/>
              <a:gd name="T48" fmla="*/ 1 w 94"/>
              <a:gd name="T49" fmla="*/ 9 h 61"/>
              <a:gd name="T50" fmla="*/ 0 w 94"/>
              <a:gd name="T51" fmla="*/ 12 h 61"/>
              <a:gd name="T52" fmla="*/ 0 w 94"/>
              <a:gd name="T53" fmla="*/ 48 h 61"/>
              <a:gd name="T54" fmla="*/ 1 w 94"/>
              <a:gd name="T55" fmla="*/ 52 h 61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94"/>
              <a:gd name="T85" fmla="*/ 0 h 61"/>
              <a:gd name="T86" fmla="*/ 94 w 94"/>
              <a:gd name="T87" fmla="*/ 61 h 61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94" h="61">
                <a:moveTo>
                  <a:pt x="13" y="0"/>
                </a:moveTo>
                <a:cubicBezTo>
                  <a:pt x="82" y="0"/>
                  <a:pt x="82" y="0"/>
                  <a:pt x="82" y="0"/>
                </a:cubicBezTo>
                <a:cubicBezTo>
                  <a:pt x="84" y="0"/>
                  <a:pt x="87" y="1"/>
                  <a:pt x="89" y="2"/>
                </a:cubicBezTo>
                <a:cubicBezTo>
                  <a:pt x="47" y="33"/>
                  <a:pt x="47" y="33"/>
                  <a:pt x="47" y="33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3" y="0"/>
                </a:cubicBezTo>
                <a:close/>
                <a:moveTo>
                  <a:pt x="94" y="9"/>
                </a:moveTo>
                <a:cubicBezTo>
                  <a:pt x="67" y="29"/>
                  <a:pt x="67" y="29"/>
                  <a:pt x="67" y="29"/>
                </a:cubicBezTo>
                <a:cubicBezTo>
                  <a:pt x="93" y="53"/>
                  <a:pt x="93" y="53"/>
                  <a:pt x="93" y="53"/>
                </a:cubicBezTo>
                <a:cubicBezTo>
                  <a:pt x="94" y="52"/>
                  <a:pt x="94" y="50"/>
                  <a:pt x="94" y="48"/>
                </a:cubicBezTo>
                <a:cubicBezTo>
                  <a:pt x="94" y="12"/>
                  <a:pt x="94" y="12"/>
                  <a:pt x="94" y="12"/>
                </a:cubicBezTo>
                <a:cubicBezTo>
                  <a:pt x="94" y="11"/>
                  <a:pt x="94" y="10"/>
                  <a:pt x="94" y="9"/>
                </a:cubicBezTo>
                <a:close/>
                <a:moveTo>
                  <a:pt x="87" y="60"/>
                </a:moveTo>
                <a:cubicBezTo>
                  <a:pt x="85" y="60"/>
                  <a:pt x="84" y="61"/>
                  <a:pt x="82" y="61"/>
                </a:cubicBezTo>
                <a:cubicBezTo>
                  <a:pt x="13" y="61"/>
                  <a:pt x="13" y="61"/>
                  <a:pt x="13" y="61"/>
                </a:cubicBezTo>
                <a:cubicBezTo>
                  <a:pt x="10" y="61"/>
                  <a:pt x="8" y="60"/>
                  <a:pt x="6" y="59"/>
                </a:cubicBezTo>
                <a:cubicBezTo>
                  <a:pt x="34" y="34"/>
                  <a:pt x="34" y="34"/>
                  <a:pt x="34" y="34"/>
                </a:cubicBezTo>
                <a:cubicBezTo>
                  <a:pt x="44" y="42"/>
                  <a:pt x="44" y="42"/>
                  <a:pt x="44" y="42"/>
                </a:cubicBezTo>
                <a:cubicBezTo>
                  <a:pt x="47" y="44"/>
                  <a:pt x="47" y="44"/>
                  <a:pt x="47" y="44"/>
                </a:cubicBezTo>
                <a:cubicBezTo>
                  <a:pt x="50" y="42"/>
                  <a:pt x="50" y="42"/>
                  <a:pt x="50" y="42"/>
                </a:cubicBezTo>
                <a:cubicBezTo>
                  <a:pt x="60" y="35"/>
                  <a:pt x="60" y="35"/>
                  <a:pt x="60" y="35"/>
                </a:cubicBezTo>
                <a:cubicBezTo>
                  <a:pt x="87" y="60"/>
                  <a:pt x="87" y="60"/>
                  <a:pt x="87" y="60"/>
                </a:cubicBezTo>
                <a:close/>
                <a:moveTo>
                  <a:pt x="1" y="52"/>
                </a:moveTo>
                <a:cubicBezTo>
                  <a:pt x="27" y="29"/>
                  <a:pt x="27" y="29"/>
                  <a:pt x="27" y="29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9"/>
                  <a:pt x="0" y="51"/>
                  <a:pt x="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5"/>
          <p:cNvCxnSpPr/>
          <p:nvPr/>
        </p:nvCxnSpPr>
        <p:spPr>
          <a:xfrm>
            <a:off x="37798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3" name="直接箭头连接符 6"/>
          <p:cNvCxnSpPr/>
          <p:nvPr/>
        </p:nvCxnSpPr>
        <p:spPr>
          <a:xfrm>
            <a:off x="69421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4" name="直接箭头连接符 7"/>
          <p:cNvCxnSpPr/>
          <p:nvPr/>
        </p:nvCxnSpPr>
        <p:spPr>
          <a:xfrm>
            <a:off x="21986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5" name="直接箭头连接符 8"/>
          <p:cNvCxnSpPr/>
          <p:nvPr/>
        </p:nvCxnSpPr>
        <p:spPr>
          <a:xfrm>
            <a:off x="53609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sp>
        <p:nvSpPr>
          <p:cNvPr id="6" name="环形箭头 5"/>
          <p:cNvSpPr/>
          <p:nvPr/>
        </p:nvSpPr>
        <p:spPr>
          <a:xfrm flipH="1">
            <a:off x="156051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结论：PoisonedRAG在黑盒/白盒场景下，跨NQ、HotpotQA、MS-MARCO数据集及不同LLM均实现高攻击成功率（ASR）与F1分数</a:t>
            </a:r>
          </a:p>
          <a:p>
            <a:pPr/>
            <a:r>
              <a:t>白盒场景下性能整体更优（利用检索器知识提升恶意文本检索相关性），部分场景黑盒表现反超（语义完整性/目标问题关联度优势）</a:t>
            </a:r>
          </a:p>
          <a:p>
            <a:pPr/>
            <a:r>
              <a:t>相较于提示注入、朴素攻击等基线方法，PoisonedRAG展现出显著的性能碾压优势</a:t>
            </a:r>
          </a:p>
        </p:txBody>
      </p:sp>
      <p:sp>
        <p:nvSpPr>
          <p:cNvPr id="7" name="TextBox 31"/>
          <p:cNvSpPr txBox="1"/>
          <p:nvPr/>
        </p:nvSpPr>
        <p:spPr>
          <a:xfrm>
            <a:off x="1477963" y="3021013"/>
            <a:ext cx="1409700" cy="1084263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1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</a:t>
            </a: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环形箭头 7"/>
          <p:cNvSpPr/>
          <p:nvPr/>
        </p:nvSpPr>
        <p:spPr>
          <a:xfrm flipH="1">
            <a:off x="314166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  <a:miter lim="800000"/>
          </a:ln>
          <a:effectLst/>
        </p:spPr>
        <p:txBody>
          <a:bodyPr wrap="none"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9" name="TextBox 31"/>
          <p:cNvSpPr txBox="1"/>
          <p:nvPr/>
        </p:nvSpPr>
        <p:spPr>
          <a:xfrm>
            <a:off x="3059113" y="3021013"/>
            <a:ext cx="1408113" cy="1044575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1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</a:t>
            </a: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环形箭头 9"/>
          <p:cNvSpPr/>
          <p:nvPr/>
        </p:nvSpPr>
        <p:spPr>
          <a:xfrm flipH="1">
            <a:off x="4722813" y="1262063"/>
            <a:ext cx="1276350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1" name="TextBox 31"/>
          <p:cNvSpPr txBox="1"/>
          <p:nvPr/>
        </p:nvSpPr>
        <p:spPr>
          <a:xfrm>
            <a:off x="463867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1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</a:t>
            </a: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环形箭头 11"/>
          <p:cNvSpPr/>
          <p:nvPr/>
        </p:nvSpPr>
        <p:spPr>
          <a:xfrm flipH="1">
            <a:off x="6302375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3" name="TextBox 31"/>
          <p:cNvSpPr txBox="1"/>
          <p:nvPr/>
        </p:nvSpPr>
        <p:spPr>
          <a:xfrm>
            <a:off x="621982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1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</a:t>
            </a: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7117" name="图片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核心攻击效果验证：黑盒/白盒场景下ASR与F1分析（跨数据集/模型对比）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36"/>
          <p:cNvSpPr/>
          <p:nvPr/>
        </p:nvSpPr>
        <p:spPr>
          <a:xfrm>
            <a:off x="3878263" y="1122363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等腰三角形 36"/>
          <p:cNvSpPr/>
          <p:nvPr/>
        </p:nvSpPr>
        <p:spPr>
          <a:xfrm rot="7176392">
            <a:off x="4723606" y="2607469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8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等腰三角形 36"/>
          <p:cNvSpPr/>
          <p:nvPr/>
        </p:nvSpPr>
        <p:spPr>
          <a:xfrm rot="14423608" flipH="1">
            <a:off x="2982119" y="2624931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60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4525" y="1895475"/>
            <a:ext cx="2579688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 </a:t>
            </a: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说明性文字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550" y="1895475"/>
            <a:ext cx="2581275" cy="123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结论：超参数敏感性分析：k≤恶意文本数N时攻击成功率（ASR）高位稳定，k&gt;N时ASR随k增大下降；对恶意文本长度V鲁棒性强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对抗生成方法对比：HotFlip与TextFooler均实现高ASR，前者计算开销低，后者通过同义词替换提升隐蔽性</a:t>
            </a:r>
          </a:p>
          <a:p>
            <a:pPr/>
            <a:r>
              <a:t>真实场景有效性：在含2100万条文本的维基百科知识库中，PoisonedRAG仍保持稳定高攻击成功率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1363" y="3598863"/>
            <a:ext cx="2581275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 </a:t>
            </a: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说明性文字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54488" y="2095500"/>
            <a:ext cx="849312" cy="1147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60" name="图片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鲁棒性与场景泛化性测试：超参数及对抗方法影响与真实场景验证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现有防御机制下PoisonedRAG的攻击有效性分析</a:t>
            </a:r>
          </a:p>
        </p:txBody>
      </p:sp>
      <p:sp>
        <p:nvSpPr>
          <p:cNvPr id="66" name="Freeform 3"/>
          <p:cNvSpPr/>
          <p:nvPr/>
        </p:nvSpPr>
        <p:spPr bwMode="gray">
          <a:xfrm rot="19490962">
            <a:off x="2981325" y="2695575"/>
            <a:ext cx="1365250" cy="1649413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Freeform 4"/>
          <p:cNvSpPr/>
          <p:nvPr/>
        </p:nvSpPr>
        <p:spPr bwMode="gray">
          <a:xfrm rot="19490962" flipH="1" flipV="1">
            <a:off x="4479925" y="1046163"/>
            <a:ext cx="1363663" cy="1647825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" name="Oval 5"/>
          <p:cNvSpPr>
            <a:spLocks noChangeArrowheads="1"/>
          </p:cNvSpPr>
          <p:nvPr/>
        </p:nvSpPr>
        <p:spPr bwMode="gray">
          <a:xfrm>
            <a:off x="3133725" y="18621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eXGyreAdventor" pitchFamily="50" charset="0"/>
                <a:ea typeface="+mn-ea"/>
                <a:cs typeface="+mn-cs"/>
              </a:rPr>
              <a:t>添加标题</a:t>
            </a:r>
            <a:endParaRPr kumimoji="0" lang="zh-CN" altLang="en-US" sz="1350" b="0" i="0" u="none" strike="noStrike" kern="1200" cap="none" spc="0" normalizeH="0" baseline="-300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eXGyreAdventor" pitchFamily="50" charset="0"/>
              <a:ea typeface="+mn-ea"/>
              <a:cs typeface="+mn-cs"/>
            </a:endParaRPr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gray">
          <a:xfrm>
            <a:off x="4546600" y="26876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-300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eXGyreAdventor" pitchFamily="50" charset="0"/>
                <a:ea typeface="+mn-ea"/>
                <a:cs typeface="+mn-cs"/>
              </a:rPr>
              <a:t>添加标题</a:t>
            </a:r>
          </a:p>
        </p:txBody>
      </p:sp>
      <p:sp>
        <p:nvSpPr>
          <p:cNvPr id="70" name="TextBox 7"/>
          <p:cNvSpPr txBox="1"/>
          <p:nvPr/>
        </p:nvSpPr>
        <p:spPr>
          <a:xfrm>
            <a:off x="468313" y="1962150"/>
            <a:ext cx="2351088" cy="1197610"/>
          </a:xfrm>
          <a:prstGeom prst="rect">
            <a:avLst/>
          </a:prstGeom>
          <a:noFill/>
        </p:spPr>
        <p:txBody>
          <a:bodyPr lIns="91425" tIns="45712" rIns="91425" bIns="45712">
            <a:spAutoFit/>
          </a:bodyPr>
          <a:lstStyle/>
          <a:p>
            <a:pPr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  <a:r>
              <a:rPr kumimoji="0" lang="zh-CN" altLang="en-US" sz="1200" kern="1200" cap="none" spc="0" normalizeH="0" baseline="0" noProof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algn="just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69900" y="1400175"/>
            <a:ext cx="3300413" cy="461963"/>
            <a:chOff x="469900" y="1057571"/>
            <a:chExt cx="3299884" cy="461665"/>
          </a:xfrm>
        </p:grpSpPr>
        <p:sp>
          <p:nvSpPr>
            <p:cNvPr id="72" name="TextBox 6"/>
            <p:cNvSpPr txBox="1"/>
            <p:nvPr/>
          </p:nvSpPr>
          <p:spPr>
            <a:xfrm>
              <a:off x="554025" y="1057571"/>
              <a:ext cx="869811" cy="2982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469900" y="1519236"/>
              <a:ext cx="3299884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4" name="TextBox 10"/>
          <p:cNvSpPr txBox="1"/>
          <p:nvPr/>
        </p:nvSpPr>
        <p:spPr>
          <a:xfrm>
            <a:off x="6169025" y="1995488"/>
            <a:ext cx="2454275" cy="1754188"/>
          </a:xfrm>
          <a:prstGeom prst="rect">
            <a:avLst/>
          </a:prstGeom>
          <a:noFill/>
        </p:spPr>
        <p:txBody>
          <a:bodyPr lIns="91425" tIns="45712" rIns="91425" bIns="45712" wrap="square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结论：释义防御：对目标问题重述后，PoisonedRAG仍保持高攻击成功率与F1分数</a:t>
            </a: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/>
            <a:r>
              <a:t>困惑度防御：基于文本质量检测恶意文本，存在高误检率，无法有效过滤恶意样本</a:t>
            </a:r>
          </a:p>
          <a:p>
            <a:pPr/>
            <a:r>
              <a:t>知识扩展防御：增大检索文本量至k=50时，PoisonedRAG仍维持40%+攻击成功率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5257800" y="3870325"/>
            <a:ext cx="3441700" cy="333375"/>
            <a:chOff x="5257195" y="3528519"/>
            <a:chExt cx="3442305" cy="333179"/>
          </a:xfrm>
        </p:grpSpPr>
        <p:sp>
          <p:nvSpPr>
            <p:cNvPr id="76" name="TextBox 9"/>
            <p:cNvSpPr txBox="1"/>
            <p:nvPr/>
          </p:nvSpPr>
          <p:spPr>
            <a:xfrm>
              <a:off x="5976459" y="3563423"/>
              <a:ext cx="870103" cy="2982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5257195" y="3528519"/>
              <a:ext cx="3442305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PoisonedRAG：核心贡献与研究展望</a:t>
            </a:r>
          </a:p>
        </p:txBody>
      </p:sp>
      <p:sp>
        <p:nvSpPr>
          <p:cNvPr id="4" name="矩形 3"/>
          <p:cNvSpPr/>
          <p:nvPr/>
        </p:nvSpPr>
        <p:spPr>
          <a:xfrm>
            <a:off x="2735263" y="866775"/>
            <a:ext cx="3957637" cy="1062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913" y="1884363"/>
            <a:ext cx="6435725" cy="2030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结论：核心贡献：提出首个针对RAG系统的知识投毒攻击PoisonedRAG，通过向知识库注入少量恶意文本操控LLM输出，突破现有提示注入、越狱等攻击在RAG场景的局限性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攻击有效性：实验验证在黑盒/白盒场景、多数据集/检索器/LLM上均实现高攻击成功率（多数场景&gt;90%），且性能优于各类基线攻击，对系统参数（如k、V）鲁棒性强</a:t>
            </a:r>
          </a:p>
          <a:p>
            <a:pPr/>
            <a:r>
              <a:t>未来研究方向：探索更高隐蔽性的知识投毒方法、针对PoisonedRAG的针对性防御机制、扩展攻击至多模态RAG系统</a:t>
            </a:r>
          </a:p>
        </p:txBody>
      </p:sp>
      <p:sp>
        <p:nvSpPr>
          <p:cNvPr id="6" name="矩形 5"/>
          <p:cNvSpPr/>
          <p:nvPr/>
        </p:nvSpPr>
        <p:spPr>
          <a:xfrm>
            <a:off x="3070225" y="3976688"/>
            <a:ext cx="3048000" cy="5000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恳请各位老师批评指正！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6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8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</p:bldLst>
  </p:timing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2529</Words>
  <Application>Microsoft Office PowerPoint</Application>
  <PresentationFormat>全屏显示(16:9)</PresentationFormat>
  <Paragraphs>291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FontAwesome</vt:lpstr>
      <vt:lpstr>Calibri</vt:lpstr>
      <vt:lpstr>方正正黑简体</vt:lpstr>
      <vt:lpstr>TeXGyreAdventor</vt:lpstr>
      <vt:lpstr>Arial</vt:lpstr>
      <vt:lpstr>Segoe UI Semilight</vt:lpstr>
      <vt:lpstr>宋体</vt:lpstr>
      <vt:lpstr>方正正纤黑简体</vt:lpstr>
      <vt:lpstr>微软雅黑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/>
  <dc:description>1</dc:description>
  <cp:lastModifiedBy>上海维湾3号机</cp:lastModifiedBy>
  <cp:revision>7</cp:revision>
  <dcterms:created xsi:type="dcterms:W3CDTF">2015-03-31T05:49:00Z</dcterms:created>
  <dcterms:modified xsi:type="dcterms:W3CDTF">2019-10-08T06:19:39Z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