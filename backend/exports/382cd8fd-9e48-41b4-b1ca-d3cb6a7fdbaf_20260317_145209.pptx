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6.xml"/><Relationship Id="rId7" Type="http://schemas.openxmlformats.org/officeDocument/2006/relationships/slide" Target="slide7.xml"/><Relationship Id="rId8" Type="http://schemas.openxmlformats.org/officeDocument/2006/relationships/slide" Target="slide8.xml"/><Relationship Id="rId9" Type="http://schemas.openxmlformats.org/officeDocument/2006/relationships/slide" Target="slide9.xml"/><Relationship Id="rId10" Type="http://schemas.openxmlformats.org/officeDocument/2006/relationships/slide" Target="slide1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nufacturing_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94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005840"/>
            <a:ext cx="10607040" cy="4754880"/>
          </a:xfrm>
          <a:prstGeom prst="roundRect">
            <a:avLst/>
          </a:prstGeom>
          <a:solidFill>
            <a:srgbClr val="E7F5F1"/>
          </a:solidFill>
          <a:ln w="15240">
            <a:solidFill>
              <a:srgbClr val="BFD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828800"/>
            <a:ext cx="9784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B3D37"/>
                </a:solidFill>
              </a:defRPr>
            </a:pPr>
            <a:r>
              <a:t>刘金阳汇报</a:t>
            </a:r>
          </a:p>
          <a:p>
            <a:pPr>
              <a:spcBef>
                <a:spcPts val="1200"/>
              </a:spcBef>
              <a:defRPr sz="2000">
                <a:solidFill>
                  <a:srgbClr val="436861"/>
                </a:solidFill>
              </a:defRPr>
            </a:pPr>
            <a:r>
              <a:t>AI generated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nufacturing_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11480" y="228600"/>
            <a:ext cx="11338560" cy="822960"/>
          </a:xfrm>
          <a:prstGeom prst="roundRect">
            <a:avLst/>
          </a:prstGeom>
          <a:solidFill>
            <a:srgbClr val="194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493776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2400" b="1">
                <a:solidFill>
                  <a:srgbClr val="F4FCFA"/>
                </a:solidFill>
              </a:defRPr>
            </a:pPr>
            <a:r>
              <a:t>刘金阳汇报 | Agenda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789920" cy="5212080"/>
          </a:xfrm>
          <a:prstGeom prst="roundRect">
            <a:avLst/>
          </a:prstGeom>
          <a:solidFill>
            <a:srgbClr val="FAFFFE"/>
          </a:solidFill>
          <a:ln w="15240">
            <a:solidFill>
              <a:srgbClr val="BFD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1691640"/>
            <a:ext cx="320040" cy="320040"/>
          </a:xfrm>
          <a:prstGeom prst="ellipse">
            <a:avLst/>
          </a:prstGeom>
          <a:solidFill>
            <a:srgbClr val="2E9B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1709928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>
            <a:hlinkClick action="ppaction://hlinksldjump" r:id="rId3"/>
          </p:cNvPr>
          <p:cNvSpPr txBox="1"/>
          <p:nvPr/>
        </p:nvSpPr>
        <p:spPr>
          <a:xfrm>
            <a:off x="1463040" y="1645920"/>
            <a:ext cx="93268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B3D37"/>
                </a:solidFill>
              </a:defRPr>
            </a:pPr>
            <a:r>
              <a:t>第1页：刘金阳优秀团员竞选汇报封面页</a:t>
            </a:r>
          </a:p>
        </p:txBody>
      </p:sp>
      <p:sp>
        <p:nvSpPr>
          <p:cNvPr id="9" name="Oval 8"/>
          <p:cNvSpPr/>
          <p:nvPr/>
        </p:nvSpPr>
        <p:spPr>
          <a:xfrm>
            <a:off x="1051560" y="2267712"/>
            <a:ext cx="320040" cy="320040"/>
          </a:xfrm>
          <a:prstGeom prst="ellipse">
            <a:avLst/>
          </a:prstGeom>
          <a:solidFill>
            <a:srgbClr val="2E9B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2286000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>
            <a:hlinkClick action="ppaction://hlinksldjump" r:id="rId4"/>
          </p:cNvPr>
          <p:cNvSpPr txBox="1"/>
          <p:nvPr/>
        </p:nvSpPr>
        <p:spPr>
          <a:xfrm>
            <a:off x="1463040" y="2221992"/>
            <a:ext cx="93268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B3D37"/>
                </a:solidFill>
              </a:defRPr>
            </a:pPr>
            <a:r>
              <a:t>第2页：个人基本信息与团员身份核心信息说明</a:t>
            </a:r>
          </a:p>
        </p:txBody>
      </p:sp>
      <p:sp>
        <p:nvSpPr>
          <p:cNvPr id="12" name="Oval 11"/>
          <p:cNvSpPr/>
          <p:nvPr/>
        </p:nvSpPr>
        <p:spPr>
          <a:xfrm>
            <a:off x="1051560" y="2843784"/>
            <a:ext cx="320040" cy="320040"/>
          </a:xfrm>
          <a:prstGeom prst="ellipse">
            <a:avLst/>
          </a:prstGeom>
          <a:solidFill>
            <a:srgbClr val="2E9B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2862072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>
            <a:hlinkClick action="ppaction://hlinksldjump" r:id="rId5"/>
          </p:cNvPr>
          <p:cNvSpPr txBox="1"/>
          <p:nvPr/>
        </p:nvSpPr>
        <p:spPr>
          <a:xfrm>
            <a:off x="1463040" y="2798064"/>
            <a:ext cx="93268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B3D37"/>
                </a:solidFill>
              </a:defRPr>
            </a:pPr>
            <a:r>
              <a:t>第3页：团的理论知识学习实践与思想觉悟提升路径</a:t>
            </a:r>
          </a:p>
        </p:txBody>
      </p:sp>
      <p:sp>
        <p:nvSpPr>
          <p:cNvPr id="15" name="Oval 14"/>
          <p:cNvSpPr/>
          <p:nvPr/>
        </p:nvSpPr>
        <p:spPr>
          <a:xfrm>
            <a:off x="1051560" y="3419856"/>
            <a:ext cx="320040" cy="320040"/>
          </a:xfrm>
          <a:prstGeom prst="ellipse">
            <a:avLst/>
          </a:prstGeom>
          <a:solidFill>
            <a:srgbClr val="2E9B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3438144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>
            <a:hlinkClick action="ppaction://hlinksldjump" r:id="rId6"/>
          </p:cNvPr>
          <p:cNvSpPr txBox="1"/>
          <p:nvPr/>
        </p:nvSpPr>
        <p:spPr>
          <a:xfrm>
            <a:off x="1463040" y="3374136"/>
            <a:ext cx="93268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B3D37"/>
                </a:solidFill>
              </a:defRPr>
            </a:pPr>
            <a:r>
              <a:t>第4页：专业课程学习表现与基础能力夯实情况分析</a:t>
            </a:r>
          </a:p>
        </p:txBody>
      </p:sp>
      <p:sp>
        <p:nvSpPr>
          <p:cNvPr id="18" name="Oval 17"/>
          <p:cNvSpPr/>
          <p:nvPr/>
        </p:nvSpPr>
        <p:spPr>
          <a:xfrm>
            <a:off x="1051560" y="3995928"/>
            <a:ext cx="320040" cy="320040"/>
          </a:xfrm>
          <a:prstGeom prst="ellipse">
            <a:avLst/>
          </a:prstGeom>
          <a:solidFill>
            <a:srgbClr val="2E9B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" y="4014216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0" name="TextBox 19">
            <a:hlinkClick action="ppaction://hlinksldjump" r:id="rId7"/>
          </p:cNvPr>
          <p:cNvSpPr txBox="1"/>
          <p:nvPr/>
        </p:nvSpPr>
        <p:spPr>
          <a:xfrm>
            <a:off x="1463040" y="3950208"/>
            <a:ext cx="93268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B3D37"/>
                </a:solidFill>
              </a:defRPr>
            </a:pPr>
            <a:r>
              <a:t>第5页：课后集体活动参与案例与同学互助行动记录</a:t>
            </a:r>
          </a:p>
        </p:txBody>
      </p:sp>
      <p:sp>
        <p:nvSpPr>
          <p:cNvPr id="21" name="Oval 20"/>
          <p:cNvSpPr/>
          <p:nvPr/>
        </p:nvSpPr>
        <p:spPr>
          <a:xfrm>
            <a:off x="1051560" y="4572000"/>
            <a:ext cx="320040" cy="320040"/>
          </a:xfrm>
          <a:prstGeom prst="ellipse">
            <a:avLst/>
          </a:prstGeom>
          <a:solidFill>
            <a:srgbClr val="2E9B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" y="4590288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3" name="TextBox 22">
            <a:hlinkClick action="ppaction://hlinksldjump" r:id="rId8"/>
          </p:cNvPr>
          <p:cNvSpPr txBox="1"/>
          <p:nvPr/>
        </p:nvSpPr>
        <p:spPr>
          <a:xfrm>
            <a:off x="1463040" y="4526280"/>
            <a:ext cx="93268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B3D37"/>
                </a:solidFill>
              </a:defRPr>
            </a:pPr>
            <a:r>
              <a:t>第6页：班级/支部服务工作实例与同学需求响应措施</a:t>
            </a:r>
          </a:p>
        </p:txBody>
      </p:sp>
      <p:sp>
        <p:nvSpPr>
          <p:cNvPr id="24" name="Oval 23"/>
          <p:cNvSpPr/>
          <p:nvPr/>
        </p:nvSpPr>
        <p:spPr>
          <a:xfrm>
            <a:off x="1051560" y="5148072"/>
            <a:ext cx="320040" cy="320040"/>
          </a:xfrm>
          <a:prstGeom prst="ellipse">
            <a:avLst/>
          </a:prstGeom>
          <a:solidFill>
            <a:srgbClr val="2E9B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568" y="5166360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463040" y="5102352"/>
            <a:ext cx="93268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B3D37"/>
                </a:solidFill>
              </a:defRPr>
            </a:pPr>
            <a:r>
              <a:t>第7页：团员身份下的个人成长历程与核心收获总结</a:t>
            </a:r>
          </a:p>
        </p:txBody>
      </p:sp>
      <p:sp>
        <p:nvSpPr>
          <p:cNvPr id="27" name="Oval 26"/>
          <p:cNvSpPr/>
          <p:nvPr/>
        </p:nvSpPr>
        <p:spPr>
          <a:xfrm>
            <a:off x="1051560" y="5724144"/>
            <a:ext cx="320040" cy="320040"/>
          </a:xfrm>
          <a:prstGeom prst="ellipse">
            <a:avLst/>
          </a:prstGeom>
          <a:solidFill>
            <a:srgbClr val="2E9B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5568" y="5742432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29" name="TextBox 28">
            <a:hlinkClick action="ppaction://hlinksldjump" r:id="rId10"/>
          </p:cNvPr>
          <p:cNvSpPr txBox="1"/>
          <p:nvPr/>
        </p:nvSpPr>
        <p:spPr>
          <a:xfrm>
            <a:off x="1463040" y="5678424"/>
            <a:ext cx="93268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B3D37"/>
                </a:solidFill>
              </a:defRPr>
            </a:pPr>
            <a:r>
              <a:t>第8页：优秀团员职责认知与自身能力匹配度分析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nufacturing_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11480" y="228600"/>
            <a:ext cx="11338560" cy="822960"/>
          </a:xfrm>
          <a:prstGeom prst="roundRect">
            <a:avLst/>
          </a:prstGeom>
          <a:solidFill>
            <a:srgbClr val="194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493776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2400" b="1">
                <a:solidFill>
                  <a:srgbClr val="F4FCFA"/>
                </a:solidFill>
              </a:defRPr>
            </a:pPr>
            <a:r>
              <a:t>个人基本信息与团员身份核心信息说明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10607040" cy="5257800"/>
          </a:xfrm>
          <a:prstGeom prst="roundRect">
            <a:avLst/>
          </a:prstGeom>
          <a:solidFill>
            <a:srgbClr val="FAFFFE"/>
          </a:solidFill>
          <a:ln w="15240">
            <a:solidFill>
              <a:srgbClr val="BFD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1892807"/>
            <a:ext cx="201168" cy="201168"/>
          </a:xfrm>
          <a:prstGeom prst="ellipse">
            <a:avLst/>
          </a:prstGeom>
          <a:solidFill>
            <a:srgbClr val="2E9B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99032" y="1783080"/>
            <a:ext cx="9646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436861"/>
                </a:solidFill>
              </a:defRPr>
            </a:pPr>
            <a:r>
              <a:t>结论：牢记入团誓言，在学习与生活中严格自我要求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761488"/>
            <a:ext cx="201168" cy="201168"/>
          </a:xfrm>
          <a:prstGeom prst="rect">
            <a:avLst/>
          </a:prstGeom>
          <a:solidFill>
            <a:srgbClr val="2E9B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99032" y="2651760"/>
            <a:ext cx="9646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436861"/>
                </a:solidFill>
              </a:defRPr>
            </a:pPr>
            <a:r>
              <a:t>学习上夯实专业基础，课后积极参与集体活动并互帮互助</a:t>
            </a:r>
          </a:p>
        </p:txBody>
      </p:sp>
      <p:sp>
        <p:nvSpPr>
          <p:cNvPr id="10" name="Diamond 9"/>
          <p:cNvSpPr/>
          <p:nvPr/>
        </p:nvSpPr>
        <p:spPr>
          <a:xfrm>
            <a:off x="1097280" y="3630168"/>
            <a:ext cx="201168" cy="201168"/>
          </a:xfrm>
          <a:prstGeom prst="diamond">
            <a:avLst/>
          </a:prstGeom>
          <a:solidFill>
            <a:srgbClr val="2E9B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99032" y="3520439"/>
            <a:ext cx="9646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436861"/>
                </a:solidFill>
              </a:defRPr>
            </a:pPr>
            <a:r>
              <a:t>主动学习团知识提升思想觉悟，明确优秀团员的责任与使命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nufacturing_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11480" y="228600"/>
            <a:ext cx="11338560" cy="822960"/>
          </a:xfrm>
          <a:prstGeom prst="roundRect">
            <a:avLst/>
          </a:prstGeom>
          <a:solidFill>
            <a:srgbClr val="194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493776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2400" b="1">
                <a:solidFill>
                  <a:srgbClr val="F4FCFA"/>
                </a:solidFill>
              </a:defRPr>
            </a:pPr>
            <a:r>
              <a:t>团的理论知识学习实践与思想觉悟提升路径总结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10607040" cy="5257800"/>
          </a:xfrm>
          <a:prstGeom prst="roundRect">
            <a:avLst/>
          </a:prstGeom>
          <a:solidFill>
            <a:srgbClr val="FAFFFE"/>
          </a:solidFill>
          <a:ln w="15240">
            <a:solidFill>
              <a:srgbClr val="BFD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1892807"/>
            <a:ext cx="201168" cy="201168"/>
          </a:xfrm>
          <a:prstGeom prst="ellipse">
            <a:avLst/>
          </a:prstGeom>
          <a:solidFill>
            <a:srgbClr val="2E9B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99032" y="1783080"/>
            <a:ext cx="9646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436861"/>
                </a:solidFill>
              </a:defRPr>
            </a:pPr>
            <a:r>
              <a:t>结论：1. 主动学习团的理论知识，筑牢思想根基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761488"/>
            <a:ext cx="201168" cy="201168"/>
          </a:xfrm>
          <a:prstGeom prst="rect">
            <a:avLst/>
          </a:prstGeom>
          <a:solidFill>
            <a:srgbClr val="2E9B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99032" y="2651760"/>
            <a:ext cx="9646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436861"/>
                </a:solidFill>
              </a:defRPr>
            </a:pPr>
            <a:r>
              <a:t>2. 结合专业学习（课堂认真听讲、夯实基础）深化理论实践</a:t>
            </a:r>
          </a:p>
        </p:txBody>
      </p:sp>
      <p:sp>
        <p:nvSpPr>
          <p:cNvPr id="10" name="Diamond 9"/>
          <p:cNvSpPr/>
          <p:nvPr/>
        </p:nvSpPr>
        <p:spPr>
          <a:xfrm>
            <a:off x="1097280" y="3630168"/>
            <a:ext cx="201168" cy="201168"/>
          </a:xfrm>
          <a:prstGeom prst="diamond">
            <a:avLst/>
          </a:prstGeom>
          <a:solidFill>
            <a:srgbClr val="2E9B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99032" y="3520439"/>
            <a:ext cx="9646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436861"/>
                </a:solidFill>
              </a:defRPr>
            </a:pPr>
            <a:r>
              <a:t>3. 参与集体活动与互助行为，将团员使命融入日常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nufacturing_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11480" y="228600"/>
            <a:ext cx="11338560" cy="822960"/>
          </a:xfrm>
          <a:prstGeom prst="roundRect">
            <a:avLst/>
          </a:prstGeom>
          <a:solidFill>
            <a:srgbClr val="194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493776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2400" b="1">
                <a:solidFill>
                  <a:srgbClr val="F4FCFA"/>
                </a:solidFill>
              </a:defRPr>
            </a:pPr>
            <a:r>
              <a:t>专业课程学习表现与基础能力夯实情况分析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10607040" cy="5257800"/>
          </a:xfrm>
          <a:prstGeom prst="roundRect">
            <a:avLst/>
          </a:prstGeom>
          <a:solidFill>
            <a:srgbClr val="FAFFFE"/>
          </a:solidFill>
          <a:ln w="15240">
            <a:solidFill>
              <a:srgbClr val="BFD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1892807"/>
            <a:ext cx="201168" cy="201168"/>
          </a:xfrm>
          <a:prstGeom prst="ellipse">
            <a:avLst/>
          </a:prstGeom>
          <a:solidFill>
            <a:srgbClr val="2E9B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99032" y="1783080"/>
            <a:ext cx="9646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436861"/>
                </a:solidFill>
              </a:defRPr>
            </a:pPr>
            <a:r>
              <a:t>结论：课堂专注度高：全程认真听讲，积极参与思考与互动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761488"/>
            <a:ext cx="201168" cy="201168"/>
          </a:xfrm>
          <a:prstGeom prst="rect">
            <a:avLst/>
          </a:prstGeom>
          <a:solidFill>
            <a:srgbClr val="2E9B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99032" y="2651760"/>
            <a:ext cx="9646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436861"/>
                </a:solidFill>
              </a:defRPr>
            </a:pPr>
            <a:r>
              <a:t>专业基础扎实：核心课程知识点掌握牢固，作业完成质量优异</a:t>
            </a:r>
          </a:p>
        </p:txBody>
      </p:sp>
      <p:sp>
        <p:nvSpPr>
          <p:cNvPr id="10" name="Diamond 9"/>
          <p:cNvSpPr/>
          <p:nvPr/>
        </p:nvSpPr>
        <p:spPr>
          <a:xfrm>
            <a:off x="1097280" y="3630168"/>
            <a:ext cx="201168" cy="201168"/>
          </a:xfrm>
          <a:prstGeom prst="diamond">
            <a:avLst/>
          </a:prstGeom>
          <a:solidFill>
            <a:srgbClr val="2E9B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99032" y="3520439"/>
            <a:ext cx="9646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436861"/>
                </a:solidFill>
              </a:defRPr>
            </a:pPr>
            <a:r>
              <a:t>自主能力提升：主动拓展相关领域知识，夯实综合学习能力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nufacturing_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11480" y="228600"/>
            <a:ext cx="11338560" cy="822960"/>
          </a:xfrm>
          <a:prstGeom prst="roundRect">
            <a:avLst/>
          </a:prstGeom>
          <a:solidFill>
            <a:srgbClr val="194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493776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2400" b="1">
                <a:solidFill>
                  <a:srgbClr val="F4FCFA"/>
                </a:solidFill>
              </a:defRPr>
            </a:pPr>
            <a:r>
              <a:t>课后集体活动参与与同学互助行动总结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10607040" cy="5257800"/>
          </a:xfrm>
          <a:prstGeom prst="roundRect">
            <a:avLst/>
          </a:prstGeom>
          <a:solidFill>
            <a:srgbClr val="FAFFFE"/>
          </a:solidFill>
          <a:ln w="15240">
            <a:solidFill>
              <a:srgbClr val="BFD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1892807"/>
            <a:ext cx="201168" cy="201168"/>
          </a:xfrm>
          <a:prstGeom prst="ellipse">
            <a:avLst/>
          </a:prstGeom>
          <a:solidFill>
            <a:srgbClr val="2E9B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99032" y="1783080"/>
            <a:ext cx="9646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436861"/>
                </a:solidFill>
              </a:defRPr>
            </a:pPr>
            <a:r>
              <a:t>结论：主动参与课后集体活动（学习小组、文体活动等）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761488"/>
            <a:ext cx="201168" cy="201168"/>
          </a:xfrm>
          <a:prstGeom prst="rect">
            <a:avLst/>
          </a:prstGeom>
          <a:solidFill>
            <a:srgbClr val="2E9B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99032" y="2651760"/>
            <a:ext cx="9646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436861"/>
                </a:solidFill>
              </a:defRPr>
            </a:pPr>
            <a:r>
              <a:t>开展同学互助行动，助力共同进步</a:t>
            </a:r>
          </a:p>
        </p:txBody>
      </p:sp>
      <p:sp>
        <p:nvSpPr>
          <p:cNvPr id="10" name="Diamond 9"/>
          <p:cNvSpPr/>
          <p:nvPr/>
        </p:nvSpPr>
        <p:spPr>
          <a:xfrm>
            <a:off x="1097280" y="3630168"/>
            <a:ext cx="201168" cy="201168"/>
          </a:xfrm>
          <a:prstGeom prst="diamond">
            <a:avLst/>
          </a:prstGeom>
          <a:solidFill>
            <a:srgbClr val="2E9B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99032" y="3520439"/>
            <a:ext cx="9646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436861"/>
                </a:solidFill>
              </a:defRPr>
            </a:pPr>
            <a:r>
              <a:t>践行团员责任，增强集体凝聚力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nufacturing_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11480" y="228600"/>
            <a:ext cx="11338560" cy="822960"/>
          </a:xfrm>
          <a:prstGeom prst="roundRect">
            <a:avLst/>
          </a:prstGeom>
          <a:solidFill>
            <a:srgbClr val="194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493776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2400" b="1">
                <a:solidFill>
                  <a:srgbClr val="F4FCFA"/>
                </a:solidFill>
              </a:defRPr>
            </a:pPr>
            <a:r>
              <a:t>班级/支部服务工作实例与同学需求响应措施总结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10607040" cy="5257800"/>
          </a:xfrm>
          <a:prstGeom prst="roundRect">
            <a:avLst/>
          </a:prstGeom>
          <a:solidFill>
            <a:srgbClr val="FAFFFE"/>
          </a:solidFill>
          <a:ln w="15240">
            <a:solidFill>
              <a:srgbClr val="BFD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1892807"/>
            <a:ext cx="201168" cy="201168"/>
          </a:xfrm>
          <a:prstGeom prst="ellipse">
            <a:avLst/>
          </a:prstGeom>
          <a:solidFill>
            <a:srgbClr val="2E9B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99032" y="1783080"/>
            <a:ext cx="9646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436861"/>
                </a:solidFill>
              </a:defRPr>
            </a:pPr>
            <a:r>
              <a:t>结论：集体活动组织：主动策划并参与课后集体学习、文体活动，搭建同学互动平台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761488"/>
            <a:ext cx="201168" cy="201168"/>
          </a:xfrm>
          <a:prstGeom prst="rect">
            <a:avLst/>
          </a:prstGeom>
          <a:solidFill>
            <a:srgbClr val="2E9B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99032" y="2651760"/>
            <a:ext cx="9646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436861"/>
                </a:solidFill>
              </a:defRPr>
            </a:pPr>
            <a:r>
              <a:t>学业互助响应：针对学业困难同学建立一对一帮扶机制，共享学习资料与笔记</a:t>
            </a:r>
          </a:p>
        </p:txBody>
      </p:sp>
      <p:sp>
        <p:nvSpPr>
          <p:cNvPr id="10" name="Diamond 9"/>
          <p:cNvSpPr/>
          <p:nvPr/>
        </p:nvSpPr>
        <p:spPr>
          <a:xfrm>
            <a:off x="1097280" y="3630168"/>
            <a:ext cx="201168" cy="201168"/>
          </a:xfrm>
          <a:prstGeom prst="diamond">
            <a:avLst/>
          </a:prstGeom>
          <a:solidFill>
            <a:srgbClr val="2E9B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99032" y="3520439"/>
            <a:ext cx="9646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436861"/>
                </a:solidFill>
              </a:defRPr>
            </a:pPr>
            <a:r>
              <a:t>需求反馈机制：通过日常交流收集同学诉求，及时向班委/支部传递并协助解决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nufacturing_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11480" y="228600"/>
            <a:ext cx="11338560" cy="822960"/>
          </a:xfrm>
          <a:prstGeom prst="roundRect">
            <a:avLst/>
          </a:prstGeom>
          <a:solidFill>
            <a:srgbClr val="194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493776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2400" b="1">
                <a:solidFill>
                  <a:srgbClr val="F4FCFA"/>
                </a:solidFill>
              </a:defRPr>
            </a:pPr>
            <a:r>
              <a:t>团员身份下的个人成长历程与核心收获总结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3310128"/>
            <a:ext cx="10058400" cy="73152"/>
          </a:xfrm>
          <a:prstGeom prst="rect">
            <a:avLst/>
          </a:prstGeom>
          <a:solidFill>
            <a:srgbClr val="BFD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3127248"/>
            <a:ext cx="384048" cy="384048"/>
          </a:xfrm>
          <a:prstGeom prst="ellipse">
            <a:avLst/>
          </a:prstGeom>
          <a:solidFill>
            <a:srgbClr val="2E9B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371600" cy="1097280"/>
          </a:xfrm>
          <a:prstGeom prst="roundRect">
            <a:avLst/>
          </a:prstGeom>
          <a:solidFill>
            <a:srgbClr val="FAFFFE"/>
          </a:solidFill>
          <a:ln w="15240">
            <a:solidFill>
              <a:srgbClr val="BFD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36861"/>
                </a:solidFill>
              </a:defRPr>
            </a:pPr>
            <a:r>
              <a:t>Stage 1</a:t>
            </a:r>
          </a:p>
          <a:p>
            <a:pPr>
              <a:defRPr sz="1200">
                <a:solidFill>
                  <a:srgbClr val="1B3D37"/>
                </a:solidFill>
              </a:defRPr>
            </a:pPr>
            <a:r>
              <a:t>结论：入团初期：牢记誓言，建立团员责任认知</a:t>
            </a:r>
          </a:p>
        </p:txBody>
      </p:sp>
      <p:sp>
        <p:nvSpPr>
          <p:cNvPr id="8" name="Oval 7"/>
          <p:cNvSpPr/>
          <p:nvPr/>
        </p:nvSpPr>
        <p:spPr>
          <a:xfrm>
            <a:off x="5943600" y="3127248"/>
            <a:ext cx="384048" cy="384048"/>
          </a:xfrm>
          <a:prstGeom prst="ellipse">
            <a:avLst/>
          </a:prstGeom>
          <a:solidFill>
            <a:srgbClr val="2E9B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0" y="1783080"/>
            <a:ext cx="1371600" cy="1097280"/>
          </a:xfrm>
          <a:prstGeom prst="roundRect">
            <a:avLst/>
          </a:prstGeom>
          <a:solidFill>
            <a:srgbClr val="E7F5F1"/>
          </a:solidFill>
          <a:ln w="15240">
            <a:solidFill>
              <a:srgbClr val="BFD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36861"/>
                </a:solidFill>
              </a:defRPr>
            </a:pPr>
            <a:r>
              <a:t>Stage 2</a:t>
            </a:r>
          </a:p>
          <a:p>
            <a:pPr>
              <a:defRPr sz="1200">
                <a:solidFill>
                  <a:srgbClr val="1B3D37"/>
                </a:solidFill>
              </a:defRPr>
            </a:pPr>
            <a:r>
              <a:t>学习实践：课堂夯实专业基础+课后参与集体互助</a:t>
            </a:r>
          </a:p>
        </p:txBody>
      </p:sp>
      <p:sp>
        <p:nvSpPr>
          <p:cNvPr id="10" name="Oval 9"/>
          <p:cNvSpPr/>
          <p:nvPr/>
        </p:nvSpPr>
        <p:spPr>
          <a:xfrm>
            <a:off x="10789919" y="3127248"/>
            <a:ext cx="384048" cy="384048"/>
          </a:xfrm>
          <a:prstGeom prst="ellipse">
            <a:avLst/>
          </a:prstGeom>
          <a:solidFill>
            <a:srgbClr val="2E9B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332719" y="1783080"/>
            <a:ext cx="1371600" cy="1097280"/>
          </a:xfrm>
          <a:prstGeom prst="roundRect">
            <a:avLst/>
          </a:prstGeom>
          <a:solidFill>
            <a:srgbClr val="FAFFFE"/>
          </a:solidFill>
          <a:ln w="15240">
            <a:solidFill>
              <a:srgbClr val="BFD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36861"/>
                </a:solidFill>
              </a:defRPr>
            </a:pPr>
            <a:r>
              <a:t>Stage 3</a:t>
            </a:r>
          </a:p>
          <a:p>
            <a:pPr>
              <a:defRPr sz="1200">
                <a:solidFill>
                  <a:srgbClr val="1B3D37"/>
                </a:solidFill>
              </a:defRPr>
            </a:pPr>
            <a:r>
              <a:t>思想提升：主动学习团知识，深化觉悟水平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nufacturing_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11480" y="228600"/>
            <a:ext cx="11338560" cy="822960"/>
          </a:xfrm>
          <a:prstGeom prst="roundRect">
            <a:avLst/>
          </a:prstGeom>
          <a:solidFill>
            <a:srgbClr val="194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493776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2400" b="1">
                <a:solidFill>
                  <a:srgbClr val="F4FCFA"/>
                </a:solidFill>
              </a:defRPr>
            </a:pPr>
            <a:r>
              <a:t>优秀团员职责认知与自身能力匹配度分析总结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10607040" cy="5257800"/>
          </a:xfrm>
          <a:prstGeom prst="roundRect">
            <a:avLst/>
          </a:prstGeom>
          <a:solidFill>
            <a:srgbClr val="FAFFFE"/>
          </a:solidFill>
          <a:ln w="15240">
            <a:solidFill>
              <a:srgbClr val="BFD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1892807"/>
            <a:ext cx="201168" cy="201168"/>
          </a:xfrm>
          <a:prstGeom prst="ellipse">
            <a:avLst/>
          </a:prstGeom>
          <a:solidFill>
            <a:srgbClr val="2E9B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99032" y="1783080"/>
            <a:ext cx="9646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436861"/>
                </a:solidFill>
              </a:defRPr>
            </a:pPr>
            <a:r>
              <a:t>结论：职责认知：清晰界定优秀团员“荣誉+责任”的双重属性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761488"/>
            <a:ext cx="201168" cy="201168"/>
          </a:xfrm>
          <a:prstGeom prst="rect">
            <a:avLst/>
          </a:prstGeom>
          <a:solidFill>
            <a:srgbClr val="2E9B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99032" y="2651760"/>
            <a:ext cx="9646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436861"/>
                </a:solidFill>
              </a:defRPr>
            </a:pPr>
            <a:r>
              <a:t>能力匹配：专业学习/集体协作/思想觉悟三维度均满足职责要求</a:t>
            </a:r>
          </a:p>
        </p:txBody>
      </p:sp>
      <p:sp>
        <p:nvSpPr>
          <p:cNvPr id="10" name="Diamond 9"/>
          <p:cNvSpPr/>
          <p:nvPr/>
        </p:nvSpPr>
        <p:spPr>
          <a:xfrm>
            <a:off x="1097280" y="3630168"/>
            <a:ext cx="201168" cy="201168"/>
          </a:xfrm>
          <a:prstGeom prst="diamond">
            <a:avLst/>
          </a:prstGeom>
          <a:solidFill>
            <a:srgbClr val="2E9B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99032" y="3520439"/>
            <a:ext cx="9646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436861"/>
                </a:solidFill>
              </a:defRPr>
            </a:pPr>
            <a:r>
              <a:t>践行规划：以高标准自我约束，落实服务同学的使命承诺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nufacturing_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11480" y="228600"/>
            <a:ext cx="11338560" cy="822960"/>
          </a:xfrm>
          <a:prstGeom prst="roundRect">
            <a:avLst/>
          </a:prstGeom>
          <a:solidFill>
            <a:srgbClr val="194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493776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2400" b="1">
                <a:solidFill>
                  <a:srgbClr val="F4FCFA"/>
                </a:solidFill>
              </a:defRPr>
            </a:pPr>
            <a:r>
              <a:t>当选优秀团员后的自我约束与服务计划总结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10607040" cy="5257800"/>
          </a:xfrm>
          <a:prstGeom prst="roundRect">
            <a:avLst/>
          </a:prstGeom>
          <a:solidFill>
            <a:srgbClr val="FAFFFE"/>
          </a:solidFill>
          <a:ln w="15240">
            <a:solidFill>
              <a:srgbClr val="BFD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1892807"/>
            <a:ext cx="201168" cy="201168"/>
          </a:xfrm>
          <a:prstGeom prst="ellipse">
            <a:avLst/>
          </a:prstGeom>
          <a:solidFill>
            <a:srgbClr val="2E9B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99032" y="1783080"/>
            <a:ext cx="9646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436861"/>
                </a:solidFill>
              </a:defRPr>
            </a:pPr>
            <a:r>
              <a:t>结论：自我约束强化：严格遵守团章团规，持续深化团的理论学习，提升思想觉悟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761488"/>
            <a:ext cx="201168" cy="201168"/>
          </a:xfrm>
          <a:prstGeom prst="rect">
            <a:avLst/>
          </a:prstGeom>
          <a:solidFill>
            <a:srgbClr val="2E9B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99032" y="2651760"/>
            <a:ext cx="9646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436861"/>
                </a:solidFill>
              </a:defRPr>
            </a:pPr>
            <a:r>
              <a:t>学习表率担当：夯实专业基础，主动分享学习经验，带动同学共同进步</a:t>
            </a:r>
          </a:p>
        </p:txBody>
      </p:sp>
      <p:sp>
        <p:nvSpPr>
          <p:cNvPr id="10" name="Diamond 9"/>
          <p:cNvSpPr/>
          <p:nvPr/>
        </p:nvSpPr>
        <p:spPr>
          <a:xfrm>
            <a:off x="1097280" y="3630168"/>
            <a:ext cx="201168" cy="201168"/>
          </a:xfrm>
          <a:prstGeom prst="diamond">
            <a:avLst/>
          </a:prstGeom>
          <a:solidFill>
            <a:srgbClr val="2E9B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99032" y="3520439"/>
            <a:ext cx="9646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436861"/>
                </a:solidFill>
              </a:defRPr>
            </a:pPr>
            <a:r>
              <a:t>服务同学行动：主动关注同学需求，积极参与集体帮扶活动，践行团员服务使命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nufacturing_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11480" y="228600"/>
            <a:ext cx="11338560" cy="822960"/>
          </a:xfrm>
          <a:prstGeom prst="roundRect">
            <a:avLst/>
          </a:prstGeom>
          <a:solidFill>
            <a:srgbClr val="194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493776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2400" b="1">
                <a:solidFill>
                  <a:srgbClr val="F4FCFA"/>
                </a:solidFill>
              </a:defRPr>
            </a:pPr>
            <a:r>
              <a:t>优秀团员竞选支撑材料：刘金阳核心表现数据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846320" cy="5212080"/>
          </a:xfrm>
          <a:prstGeom prst="roundRect">
            <a:avLst/>
          </a:prstGeom>
          <a:solidFill>
            <a:srgbClr val="FAFFFE"/>
          </a:solidFill>
          <a:ln w="15240">
            <a:solidFill>
              <a:srgbClr val="BFD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06440" y="1371600"/>
            <a:ext cx="5486400" cy="5212080"/>
          </a:xfrm>
          <a:prstGeom prst="roundRect">
            <a:avLst/>
          </a:prstGeom>
          <a:solidFill>
            <a:srgbClr val="E7F5F1"/>
          </a:solidFill>
          <a:ln w="15240">
            <a:solidFill>
              <a:srgbClr val="BFD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1892807"/>
            <a:ext cx="201168" cy="201168"/>
          </a:xfrm>
          <a:prstGeom prst="ellipse">
            <a:avLst/>
          </a:prstGeom>
          <a:solidFill>
            <a:srgbClr val="2E9B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07592" y="1783080"/>
            <a:ext cx="3977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436861"/>
                </a:solidFill>
              </a:defRPr>
            </a:pPr>
            <a:r>
              <a:t>结论：学习成绩与专业能力表现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2761488"/>
            <a:ext cx="201168" cy="201168"/>
          </a:xfrm>
          <a:prstGeom prst="rect">
            <a:avLst/>
          </a:prstGeom>
          <a:solidFill>
            <a:srgbClr val="2E9B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07592" y="2651760"/>
            <a:ext cx="3977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436861"/>
                </a:solidFill>
              </a:defRPr>
            </a:pPr>
            <a:r>
              <a:t>集体活动参与及互助贡献</a:t>
            </a:r>
          </a:p>
        </p:txBody>
      </p:sp>
      <p:sp>
        <p:nvSpPr>
          <p:cNvPr id="11" name="Diamond 10"/>
          <p:cNvSpPr/>
          <p:nvPr/>
        </p:nvSpPr>
        <p:spPr>
          <a:xfrm>
            <a:off x="1005840" y="3630168"/>
            <a:ext cx="201168" cy="201168"/>
          </a:xfrm>
          <a:prstGeom prst="diamond">
            <a:avLst/>
          </a:prstGeom>
          <a:solidFill>
            <a:srgbClr val="2E9B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07592" y="3520439"/>
            <a:ext cx="3977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436861"/>
                </a:solidFill>
              </a:defRPr>
            </a:pPr>
            <a:r>
              <a:t>思想觉悟提升与团内表现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965960"/>
            <a:ext cx="1325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36861"/>
                </a:solidFill>
              </a:defRPr>
            </a:pPr>
            <a:r>
              <a:t>学习成绩（平均分）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2020824"/>
            <a:ext cx="4339068" cy="384048"/>
          </a:xfrm>
          <a:prstGeom prst="roundRect">
            <a:avLst/>
          </a:prstGeom>
          <a:solidFill>
            <a:srgbClr val="2E9B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020028" y="1965960"/>
            <a:ext cx="1463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B3D37"/>
                </a:solidFill>
              </a:defRPr>
            </a:pPr>
            <a:r>
              <a:t>92.0分/次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624328"/>
            <a:ext cx="1325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36861"/>
                </a:solidFill>
              </a:defRPr>
            </a:pPr>
            <a:r>
              <a:t>集体活动参与（次）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2679192"/>
            <a:ext cx="565965" cy="384048"/>
          </a:xfrm>
          <a:prstGeom prst="roundRect">
            <a:avLst/>
          </a:prstGeom>
          <a:solidFill>
            <a:srgbClr val="2E9B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6925" y="2624328"/>
            <a:ext cx="1463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B3D37"/>
                </a:solidFill>
              </a:defRPr>
            </a:pPr>
            <a:r>
              <a:t>12.0分/次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3282696"/>
            <a:ext cx="1325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36861"/>
                </a:solidFill>
              </a:defRPr>
            </a:pPr>
            <a:r>
              <a:t>团课考核得分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3337560"/>
            <a:ext cx="4480560" cy="384048"/>
          </a:xfrm>
          <a:prstGeom prst="roundRect">
            <a:avLst/>
          </a:prstGeom>
          <a:solidFill>
            <a:srgbClr val="2E9B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161520" y="3282696"/>
            <a:ext cx="1463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B3D37"/>
                </a:solidFill>
              </a:defRPr>
            </a:pPr>
            <a:r>
              <a:t>95.0分/次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nufacturing_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11480" y="228600"/>
            <a:ext cx="11338560" cy="822960"/>
          </a:xfrm>
          <a:prstGeom prst="roundRect">
            <a:avLst/>
          </a:prstGeom>
          <a:solidFill>
            <a:srgbClr val="194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493776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2400" b="1">
                <a:solidFill>
                  <a:srgbClr val="F4FCFA"/>
                </a:solidFill>
              </a:defRPr>
            </a:pPr>
            <a:r>
              <a:t>优秀团员竞选总结与感谢声明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10607040" cy="5257800"/>
          </a:xfrm>
          <a:prstGeom prst="roundRect">
            <a:avLst/>
          </a:prstGeom>
          <a:solidFill>
            <a:srgbClr val="FAFFFE"/>
          </a:solidFill>
          <a:ln w="15240">
            <a:solidFill>
              <a:srgbClr val="BFD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1892807"/>
            <a:ext cx="201168" cy="201168"/>
          </a:xfrm>
          <a:prstGeom prst="ellipse">
            <a:avLst/>
          </a:prstGeom>
          <a:solidFill>
            <a:srgbClr val="2E9B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99032" y="1783080"/>
            <a:ext cx="9646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436861"/>
                </a:solidFill>
              </a:defRPr>
            </a:pPr>
            <a:r>
              <a:t>结论：1. 团员身份的自我践行：课堂学习夯实基础/课后集体互助进步/思想觉悟主动提升 2. 优秀团员的认知：荣誉与责任并重，以更高标准自我要求 3. 当选承诺与感谢：做学...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761488"/>
            <a:ext cx="201168" cy="201168"/>
          </a:xfrm>
          <a:prstGeom prst="rect">
            <a:avLst/>
          </a:prstGeom>
          <a:solidFill>
            <a:srgbClr val="2E9B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99032" y="2651760"/>
            <a:ext cx="9646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436861"/>
                </a:solidFill>
              </a:defRPr>
            </a:pPr>
            <a:r>
              <a:t>待补充要点</a:t>
            </a:r>
          </a:p>
        </p:txBody>
      </p:sp>
      <p:sp>
        <p:nvSpPr>
          <p:cNvPr id="10" name="Diamond 9"/>
          <p:cNvSpPr/>
          <p:nvPr/>
        </p:nvSpPr>
        <p:spPr>
          <a:xfrm>
            <a:off x="1097280" y="3630168"/>
            <a:ext cx="201168" cy="201168"/>
          </a:xfrm>
          <a:prstGeom prst="diamond">
            <a:avLst/>
          </a:prstGeom>
          <a:solidFill>
            <a:srgbClr val="2E9B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99032" y="3520439"/>
            <a:ext cx="9646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436861"/>
                </a:solidFill>
              </a:defRPr>
            </a:pPr>
            <a:r>
              <a:t>待补充要点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