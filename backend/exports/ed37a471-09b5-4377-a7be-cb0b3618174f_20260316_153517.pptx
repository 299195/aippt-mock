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29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发动机智能平台阶段汇报：PoisonedRAG知识投毒攻击研究进展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554480"/>
            <a:ext cx="10058400" cy="4389120"/>
          </a:xfrm>
          <a:prstGeom prst="roundRect">
            <a:avLst/>
          </a:prstGeom>
          <a:solidFill>
            <a:srgbClr val="394557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2400" b="1">
                <a:solidFill>
                  <a:srgbClr val="F1F5FC"/>
                </a:solidFill>
              </a:defRPr>
            </a:pPr>
            <a:r>
              <a:t>发动机智能平台阶段汇报：PoisonedRAG知识投毒攻击研究进展</a:t>
            </a:r>
          </a:p>
          <a:p>
            <a:pPr algn="l">
              <a:defRPr sz="2400" b="0">
                <a:solidFill>
                  <a:srgbClr val="F1F5FC"/>
                </a:solidFill>
              </a:defRPr>
            </a:pPr>
            <a:r>
              <a:t>- 背景：RAG系统缓解LLM局限性，但知识库存在新攻击面</a:t>
            </a:r>
          </a:p>
          <a:p>
            <a:pPr algn="l">
              <a:defRPr sz="2400" b="0">
                <a:solidFill>
                  <a:srgbClr val="F1F5FC"/>
                </a:solidFill>
              </a:defRPr>
            </a:pPr>
            <a:r>
              <a:t>- 核心：提出PoisonedRAG——首个针对RAG的知识投毒攻击</a:t>
            </a:r>
          </a:p>
          <a:p>
            <a:pPr algn="l">
              <a:defRPr sz="2400" b="0">
                <a:solidFill>
                  <a:srgbClr val="F1F5FC"/>
                </a:solidFill>
              </a:defRPr>
            </a:pPr>
            <a:r>
              <a:t>- 价值：揭示RAG系统脆弱性，为防御机制设计提供依据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29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RAG系统安全挑战：现有攻击局限性与新威胁面分析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4892040"/>
          </a:xfrm>
          <a:prstGeom prst="roundRect">
            <a:avLst/>
          </a:prstGeom>
          <a:solidFill>
            <a:srgbClr val="313A49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F1F5FC"/>
                </a:solidFill>
              </a:defRPr>
            </a:pPr>
            <a:r>
              <a:t>主要风险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现有针对LLM的攻击（提示注入、越狱等）扩展到RAG系统存在局限性（未考虑检索环节、隐蔽性弱）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RAG系统引入新攻击面：知识库可被恶意注入以操控LLM输出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提出PoisonedRAG——首个针对RAG的知识投毒攻击，无需污染LLM/检索器训练数据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417320"/>
            <a:ext cx="5074920" cy="4892040"/>
          </a:xfrm>
          <a:prstGeom prst="roundRect">
            <a:avLst/>
          </a:prstGeom>
          <a:solidFill>
            <a:srgbClr val="394557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F1F5FC"/>
                </a:solidFill>
              </a:defRPr>
            </a:pPr>
            <a:r>
              <a:t>应对措施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提示注入攻击扩展到RAG时，因未考虑检索环节导致性能欠佳（恶意指令与问题相关性低无法进入上下文）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PoisonedRAG是首个针对RAG的知识投毒攻击，注入少量恶意文本即可操控输出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现有防御机制（释义、重复过滤）对PoisonedRAG效果有限，攻击仍保持高成功率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29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PoisonedRAG攻击方案：知识投毒的核心机制与创新点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241280" cy="4892040"/>
          </a:xfrm>
          <a:prstGeom prst="roundRect">
            <a:avLst/>
          </a:prstGeom>
          <a:solidFill>
            <a:srgbClr val="313A49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2200" b="0">
                <a:solidFill>
                  <a:srgbClr val="D5E0EF"/>
                </a:solidFill>
              </a:defRPr>
            </a:pPr>
            <a:r>
              <a:t>- PoisonedRAG是首个针对RAG系统的知识投毒攻击，通过注入少量恶意文本操控LLM输出</a:t>
            </a:r>
          </a:p>
          <a:p>
            <a:pPr algn="l">
              <a:defRPr sz="2200" b="0">
                <a:solidFill>
                  <a:srgbClr val="D5E0EF"/>
                </a:solidFill>
              </a:defRPr>
            </a:pPr>
            <a:r>
              <a:t>- 攻击机制：构造满足检索（与目标问题高相关）和生成（诱导LLM输出目标答案）双条件的恶意文本</a:t>
            </a:r>
          </a:p>
          <a:p>
            <a:pPr algn="l">
              <a:defRPr sz="2200" b="0">
                <a:solidFill>
                  <a:srgbClr val="D5E0EF"/>
                </a:solidFill>
              </a:defRPr>
            </a:pPr>
            <a:r>
              <a:t>- 无需污染LLM/检索器训练数据，黑盒/白盒场景均有效，计算效率高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29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攻击模型与实现：黑盒/白盒场景下恶意文本构造方法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4892040"/>
          </a:xfrm>
          <a:prstGeom prst="roundRect">
            <a:avLst/>
          </a:prstGeom>
          <a:solidFill>
            <a:srgbClr val="313A49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F1F5FC"/>
                </a:solidFill>
              </a:defRPr>
            </a:pPr>
            <a:r>
              <a:t>主要风险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黑盒场景：直接拼接目标问题与LLM生成的恶意文本，无需检索器知识，构造效率极高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白盒场景：利用检索器参数（如HotFlip）优化恶意文本相似度，精准度更高但需权衡开销与隐蔽性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核心共性：均满足"被目标问题检索到+误导LLM输出"双条件，实验验证攻击成功率超90%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417320"/>
            <a:ext cx="5074920" cy="4892040"/>
          </a:xfrm>
          <a:prstGeom prst="roundRect">
            <a:avLst/>
          </a:prstGeom>
          <a:solidFill>
            <a:srgbClr val="394557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F1F5FC"/>
                </a:solidFill>
              </a:defRPr>
            </a:pPr>
            <a:r>
              <a:t>应对措施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黑盒构造：每条恶意文本平均仅需2次GPT-4查询，耗时不足1秒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白盒优化：HotFlip构造的恶意文本F1分数超90%，攻击成功率普遍高于黑盒场景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跨方法验证：TextFooler（白盒）与HotFlip效果相近，但前者计算开销更高（迭代次数多）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29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实验验证：PoisonedRAG在多数据集下的攻击成功率与F1分数评估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241280" cy="4892040"/>
          </a:xfrm>
          <a:prstGeom prst="roundRect">
            <a:avLst/>
          </a:prstGeom>
          <a:solidFill>
            <a:srgbClr val="313A49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2200" b="0">
                <a:solidFill>
                  <a:srgbClr val="D5E0EF"/>
                </a:solidFill>
              </a:defRPr>
            </a:pPr>
            <a:r>
              <a:t>- PoisonedRAG在黑盒/白盒场景下，NQ、HotpotQA、MS-MARCO多数据集均实现高攻击成功率（ASR）及F1分数（多数超90%）</a:t>
            </a:r>
          </a:p>
          <a:p>
            <a:pPr algn="l">
              <a:defRPr sz="2200" b="0">
                <a:solidFill>
                  <a:srgbClr val="D5E0EF"/>
                </a:solidFill>
              </a:defRPr>
            </a:pPr>
            <a:r>
              <a:t>- 白盒场景攻击效果整体优于黑盒，部分情况黑盒更优（HotFlip语义影响、目标问题辅助生成）</a:t>
            </a:r>
          </a:p>
          <a:p>
            <a:pPr algn="l">
              <a:defRPr sz="2200" b="0">
                <a:solidFill>
                  <a:srgbClr val="D5E0EF"/>
                </a:solidFill>
              </a:defRPr>
            </a:pPr>
            <a:r>
              <a:t>- 子串匹配评估指标与人工评估结果相近，验证其可靠性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29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关键参数影响分析：k值、V值及检索器类型对PoisonedRAG攻击效果的影响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4892040"/>
          </a:xfrm>
          <a:prstGeom prst="roundRect">
            <a:avLst/>
          </a:prstGeom>
          <a:solidFill>
            <a:srgbClr val="313A49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F1F5FC"/>
                </a:solidFill>
              </a:defRPr>
            </a:pPr>
            <a:r>
              <a:t>主要风险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k值与攻击成功率负相关：k≤N（默认5）时成功率高，k&gt;N时随干净文本占比增加而下降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V值敏感性低：不同V值下攻击性能（成功率、F1等）表现稳定，无显著差异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检索器类型适应性强：PoisonedRAG在Contriever/TextFooler等多种检索器及相似度指标下均有效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417320"/>
            <a:ext cx="5074920" cy="4892040"/>
          </a:xfrm>
          <a:prstGeom prst="roundRect">
            <a:avLst/>
          </a:prstGeom>
          <a:solidFill>
            <a:srgbClr val="394557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F1F5FC"/>
                </a:solidFill>
              </a:defRPr>
            </a:pPr>
            <a:r>
              <a:t>应对措施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k≤5时攻击成功率维持高位，k=10时成功率较基线下降约30%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不同V值下攻击成功率差异小于5%，F1分数波动不超过4%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Contriever/TextFooler检索器下攻击成功率均超80%，相似度指标变化对效果影响微弱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29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防御挑战与现实场景测试：先进RAG方案的脆弱性验证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5074920" cy="4892040"/>
          </a:xfrm>
          <a:prstGeom prst="roundRect">
            <a:avLst/>
          </a:prstGeom>
          <a:solidFill>
            <a:srgbClr val="313A49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F1F5FC"/>
                </a:solidFill>
              </a:defRPr>
            </a:pPr>
            <a:r>
              <a:t>主要风险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先进RAG方案（Self-RAG/CRAG等）虽提升性能，但仍易受PoisonedRAG知识投毒攻击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现实场景（2100万条文本的维基百科知识库聊天机器人）中PoisonedRAG依然有效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现有防御机制（释义、重复过滤、困惑度检测、知识扩展）难以有效抵御PoisonedRAG攻击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97880" y="1417320"/>
            <a:ext cx="5074920" cy="4892040"/>
          </a:xfrm>
          <a:prstGeom prst="roundRect">
            <a:avLst/>
          </a:prstGeom>
          <a:solidFill>
            <a:srgbClr val="394557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1">
                <a:solidFill>
                  <a:srgbClr val="F1F5FC"/>
                </a:solidFill>
              </a:defRPr>
            </a:pPr>
            <a:r>
              <a:t>应对措施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先进RAG方案攻击实验结果：PoisonedRAG构造的恶意文本因与目标问题高度相关，仍能被检索并误导模型输出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- 2100万条文本的维基百科知识库聊天机器人测试：PoisonedRAG攻击成功率保持高位</a:t>
            </a:r>
          </a:p>
          <a:p>
            <a:pPr algn="l">
              <a:defRPr sz="1800" b="0">
                <a:solidFill>
                  <a:srgbClr val="F1F5FC"/>
                </a:solidFill>
              </a:defRPr>
            </a:pPr>
            <a:r>
              <a:t>- 现有防御机制测试数据：释义防御后攻击成功率仍高、重复过滤无效果、困惑度检测误报率大、知识扩展（k=50）仍无法完全抵御攻击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3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228600"/>
            <a:ext cx="11338560" cy="868680"/>
          </a:xfrm>
          <a:prstGeom prst="roundRect">
            <a:avLst/>
          </a:prstGeom>
          <a:solidFill>
            <a:srgbClr val="2936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411480"/>
            <a:ext cx="10698480" cy="56692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>
              <a:defRPr sz="2600" b="1">
                <a:solidFill>
                  <a:srgbClr val="F5F8FC"/>
                </a:solidFill>
              </a:defRPr>
            </a:pPr>
            <a:r>
              <a:t>总结与下一步：PoisonedRAG研究成果回顾及防御策略优化计划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417320"/>
            <a:ext cx="10241280" cy="4892040"/>
          </a:xfrm>
          <a:prstGeom prst="roundRect">
            <a:avLst/>
          </a:prstGeom>
          <a:solidFill>
            <a:srgbClr val="313A49"/>
          </a:solidFill>
          <a:ln w="15240">
            <a:solidFill>
              <a:srgbClr val="5F72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>
            <a:normAutofit/>
          </a:bodyPr>
          <a:lstStyle/>
          <a:p>
            <a:pPr algn="l">
              <a:defRPr sz="1800" b="0">
                <a:solidFill>
                  <a:srgbClr val="D5E0EF"/>
                </a:solidFill>
              </a:defRPr>
            </a:pPr>
            <a:r>
              <a:t>- 1. 核心成果：PoisonedRAG作为首个针对RAG的知识投毒攻击，在黑/白盒场景、现实大规模知识库中均实现高攻击成功率，且对参数（如恶意文本长度V）不敏感</a:t>
            </a:r>
          </a:p>
          <a:p>
            <a:pPr algn="l">
              <a:defRPr sz="1800" b="0">
                <a:solidFill>
                  <a:srgbClr val="D5E0EF"/>
                </a:solidFill>
              </a:defRPr>
            </a:pPr>
            <a:r>
              <a:t>- 2. 防御现状：现有主流防御机制（释义、重复过滤、困惑度检测、知识扩展）难以有效抵御PoisonedRAG，需针对性优化</a:t>
            </a:r>
          </a:p>
          <a:p>
            <a:pPr algn="l">
              <a:defRPr sz="1800" b="0">
                <a:solidFill>
                  <a:srgbClr val="D5E0EF"/>
                </a:solidFill>
              </a:defRPr>
            </a:pPr>
            <a:r>
              <a:t>- 3. 下一步计划：聚焦RAG知识库层面防御（如恶意文本语义-检索相关性双维度检测）、扩展攻击场景覆盖、平衡防御精度与计算成本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