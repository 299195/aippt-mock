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05840"/>
            <a:ext cx="10607040" cy="475488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C2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828800"/>
            <a:ext cx="9784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72534"/>
                </a:solidFill>
              </a:defRPr>
            </a:pPr>
            <a:r>
              <a:t>RAG</a:t>
            </a:r>
          </a:p>
          <a:p>
            <a:pPr>
              <a:spcBef>
                <a:spcPts val="1200"/>
              </a:spcBef>
              <a:defRPr sz="2000">
                <a:solidFill>
                  <a:srgbClr val="364C62"/>
                </a:solidFill>
              </a:defRPr>
            </a:pPr>
            <a:r>
              <a:t>AI 自动生成汇报材料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5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3F8FF"/>
                </a:solidFill>
              </a:defRPr>
            </a:pPr>
            <a:r>
              <a:t>RAG | 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89920" cy="5212080"/>
          </a:xfrm>
          <a:prstGeom prst="roundRect">
            <a:avLst/>
          </a:prstGeom>
          <a:solidFill>
            <a:srgbClr val="F8FCFF"/>
          </a:solidFill>
          <a:ln w="15240">
            <a:solidFill>
              <a:srgbClr val="C2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691640"/>
            <a:ext cx="320040" cy="320040"/>
          </a:xfrm>
          <a:prstGeom prst="ellipse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0992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>
            <a:hlinkClick action="ppaction://hlinksldjump" r:id="rId3"/>
          </p:cNvPr>
          <p:cNvSpPr txBox="1"/>
          <p:nvPr/>
        </p:nvSpPr>
        <p:spPr>
          <a:xfrm>
            <a:off x="1463040" y="1645920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534"/>
                </a:solidFill>
              </a:defRPr>
            </a:pPr>
            <a:r>
              <a:t>RAG系统概述与安全挑战分析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2267712"/>
            <a:ext cx="320040" cy="320040"/>
          </a:xfrm>
          <a:prstGeom prst="ellipse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28600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>
            <a:hlinkClick action="ppaction://hlinksldjump" r:id="rId4"/>
          </p:cNvPr>
          <p:cNvSpPr txBox="1"/>
          <p:nvPr/>
        </p:nvSpPr>
        <p:spPr>
          <a:xfrm>
            <a:off x="1463040" y="2221992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534"/>
                </a:solidFill>
              </a:defRPr>
            </a:pPr>
            <a:r>
              <a:t>现有LLM攻击在RAG系统中的局限性剖析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2843784"/>
            <a:ext cx="320040" cy="320040"/>
          </a:xfrm>
          <a:prstGeom prst="ellipse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86207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>
            <a:hlinkClick action="ppaction://hlinksldjump" r:id="rId5"/>
          </p:cNvPr>
          <p:cNvSpPr txBox="1"/>
          <p:nvPr/>
        </p:nvSpPr>
        <p:spPr>
          <a:xfrm>
            <a:off x="1463040" y="2798064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534"/>
                </a:solidFill>
              </a:defRPr>
            </a:pPr>
            <a:r>
              <a:t>PoisonedRAG知识投毒攻击方案的核心设计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3419856"/>
            <a:ext cx="320040" cy="320040"/>
          </a:xfrm>
          <a:prstGeom prst="ellipse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438144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>
            <a:hlinkClick action="ppaction://hlinksldjump" r:id="rId6"/>
          </p:cNvPr>
          <p:cNvSpPr txBox="1"/>
          <p:nvPr/>
        </p:nvSpPr>
        <p:spPr>
          <a:xfrm>
            <a:off x="1463040" y="3374136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534"/>
                </a:solidFill>
              </a:defRPr>
            </a:pPr>
            <a:r>
              <a:t>PoisonedRAG攻击效果的关键实验结果展示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3995928"/>
            <a:ext cx="320040" cy="320040"/>
          </a:xfrm>
          <a:prstGeom prst="ellipse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014216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1463040" y="3950208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534"/>
                </a:solidFill>
              </a:defRPr>
            </a:pPr>
            <a:r>
              <a:t>超参数与场景变量对PoisonedRAG性能的影响评估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" y="4572000"/>
            <a:ext cx="320040" cy="320040"/>
          </a:xfrm>
          <a:prstGeom prst="ellipse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59028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>
            <a:hlinkClick action="ppaction://hlinksldjump" r:id="rId8"/>
          </p:cNvPr>
          <p:cNvSpPr txBox="1"/>
          <p:nvPr/>
        </p:nvSpPr>
        <p:spPr>
          <a:xfrm>
            <a:off x="1463040" y="4526280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534"/>
                </a:solidFill>
              </a:defRPr>
            </a:pPr>
            <a:r>
              <a:t>主流防御机制对PoisonedRAG攻击的抵御能力验证</a:t>
            </a:r>
          </a:p>
        </p:txBody>
      </p:sp>
      <p:sp>
        <p:nvSpPr>
          <p:cNvPr id="24" name="Oval 23"/>
          <p:cNvSpPr/>
          <p:nvPr/>
        </p:nvSpPr>
        <p:spPr>
          <a:xfrm>
            <a:off x="1051560" y="5148072"/>
            <a:ext cx="320040" cy="320040"/>
          </a:xfrm>
          <a:prstGeom prst="ellipse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51663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463040" y="5102352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534"/>
                </a:solidFill>
              </a:defRPr>
            </a:pPr>
            <a:r>
              <a:t>PoisonedRAG攻击的优势、局限性及未来研究方向</a:t>
            </a:r>
          </a:p>
        </p:txBody>
      </p:sp>
      <p:sp>
        <p:nvSpPr>
          <p:cNvPr id="27" name="Oval 26"/>
          <p:cNvSpPr/>
          <p:nvPr/>
        </p:nvSpPr>
        <p:spPr>
          <a:xfrm>
            <a:off x="1051560" y="5724144"/>
            <a:ext cx="320040" cy="320040"/>
          </a:xfrm>
          <a:prstGeom prst="ellipse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574243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9" name="TextBox 28">
            <a:hlinkClick action="ppaction://hlinksldjump" r:id="rId10"/>
          </p:cNvPr>
          <p:cNvSpPr txBox="1"/>
          <p:nvPr/>
        </p:nvSpPr>
        <p:spPr>
          <a:xfrm>
            <a:off x="1463040" y="5678424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534"/>
                </a:solidFill>
              </a:defRPr>
            </a:pPr>
            <a:r>
              <a:t>RAG系统安全防护的结论与管理实践建议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5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3F8FF"/>
                </a:solidFill>
              </a:defRPr>
            </a:pPr>
            <a:r>
              <a:t>RAG系统概述与核心安全挑战分析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8FCFF"/>
          </a:solidFill>
          <a:ln w="15240">
            <a:solidFill>
              <a:srgbClr val="C2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RAG通过检索外部知识缓解LLM的固有局限性（过时知识、幻觉、领域知识缺口）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RAG核心组件：知识数据库、检索器、LLM，流程分为知识检索与答案生成两步</a:t>
            </a:r>
          </a:p>
        </p:txBody>
      </p:sp>
      <p:sp>
        <p:nvSpPr>
          <p:cNvPr id="10" name="Diamond 9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知识库存在安全漏洞，提出PoisonedRAG——首个针对RAG的知识投毒攻击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5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3F8FF"/>
                </a:solidFill>
              </a:defRPr>
            </a:pPr>
            <a:r>
              <a:t>现有LLM攻击在RAG系统中的局限性剖析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5212080"/>
          </a:xfrm>
          <a:prstGeom prst="roundRect">
            <a:avLst/>
          </a:prstGeom>
          <a:solidFill>
            <a:srgbClr val="F8FCFF"/>
          </a:solidFill>
          <a:ln w="15240">
            <a:solidFill>
              <a:srgbClr val="C2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521208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C2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2534"/>
                </a:solidFill>
              </a:defRPr>
            </a:pPr>
            <a:r>
              <a:t>主要风险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2534"/>
                </a:solidFill>
              </a:defRPr>
            </a:pPr>
            <a:r>
              <a:t>应对措施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167128"/>
            <a:ext cx="201168" cy="201168"/>
          </a:xfrm>
          <a:prstGeom prst="rect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205740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提示注入攻击：未考虑RAG检索环节，恶意指令难进入上下文导致性能差，且隐蔽性弱易被防御</a:t>
            </a:r>
          </a:p>
        </p:txBody>
      </p:sp>
      <p:sp>
        <p:nvSpPr>
          <p:cNvPr id="11" name="Diamond 10"/>
          <p:cNvSpPr/>
          <p:nvPr/>
        </p:nvSpPr>
        <p:spPr>
          <a:xfrm>
            <a:off x="1005840" y="3035808"/>
            <a:ext cx="201168" cy="201168"/>
          </a:xfrm>
          <a:prstGeom prst="diamond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07592" y="292608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越狱攻击：目标为破坏LLM安全对齐机制，与PoisonedRAG操控输出的目标正交（无直接关联）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05840" y="3904488"/>
            <a:ext cx="201168" cy="201168"/>
          </a:xfrm>
          <a:prstGeom prst="rightArrow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7592" y="379476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生成对抗性文本：无语义随机字符虽易被检索，但无法误导LLM生成攻击者期望的答案</a:t>
            </a:r>
          </a:p>
        </p:txBody>
      </p:sp>
      <p:sp>
        <p:nvSpPr>
          <p:cNvPr id="15" name="Diamond 14"/>
          <p:cNvSpPr/>
          <p:nvPr/>
        </p:nvSpPr>
        <p:spPr>
          <a:xfrm>
            <a:off x="6492240" y="2167128"/>
            <a:ext cx="201168" cy="201168"/>
          </a:xfrm>
          <a:prstGeom prst="diamond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93992" y="205740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提示注入攻击扩展到RAG时，恶意指令与问题相关性低难进入上下文，且已有防御方法有效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492240" y="3035808"/>
            <a:ext cx="201168" cy="201168"/>
          </a:xfrm>
          <a:prstGeom prst="rightArrow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3992" y="292608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越狱攻击针对有害问题生成答案，与PoisonedRAG操控特定问题输出的目标不同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3904488"/>
            <a:ext cx="201168" cy="201168"/>
          </a:xfrm>
          <a:prstGeom prst="ellipse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93992" y="379476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随机字符对抗文本无法引导LLM生成期望结果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5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3F8FF"/>
                </a:solidFill>
              </a:defRPr>
            </a:pPr>
            <a:r>
              <a:t>PoisonedRAG知识投毒攻击方案核心设计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5212080"/>
          </a:xfrm>
          <a:prstGeom prst="roundRect">
            <a:avLst/>
          </a:prstGeom>
          <a:solidFill>
            <a:srgbClr val="F8FCFF"/>
          </a:solidFill>
          <a:ln w="15240">
            <a:solidFill>
              <a:srgbClr val="C2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521208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C2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2534"/>
                </a:solidFill>
              </a:defRPr>
            </a:pPr>
            <a:r>
              <a:t>主要风险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2534"/>
                </a:solidFill>
              </a:defRPr>
            </a:pPr>
            <a:r>
              <a:t>应对措施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167128"/>
            <a:ext cx="201168" cy="201168"/>
          </a:xfrm>
          <a:prstGeom prst="rect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205740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定位：首个针对RAG知识库的知识投毒攻击，不污染LLM/检索器训练数据，聚焦知识库漏洞</a:t>
            </a:r>
          </a:p>
        </p:txBody>
      </p:sp>
      <p:sp>
        <p:nvSpPr>
          <p:cNvPr id="11" name="Diamond 10"/>
          <p:cNvSpPr/>
          <p:nvPr/>
        </p:nvSpPr>
        <p:spPr>
          <a:xfrm>
            <a:off x="1005840" y="3035808"/>
            <a:ext cx="201168" cy="201168"/>
          </a:xfrm>
          <a:prstGeom prst="diamond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07592" y="292608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目标：构造满足双条件的恶意文本——检索时与目标问题高相关、生成时诱导LLM输出攻击者期望答案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05840" y="3904488"/>
            <a:ext cx="201168" cy="201168"/>
          </a:xfrm>
          <a:prstGeom prst="rightArrow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7592" y="379476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机制：通过带约束优化生成恶意文本，兼顾检索相关性（被目标问题检索到）与生成诱导性（引导LLM输出目标答案）</a:t>
            </a:r>
          </a:p>
        </p:txBody>
      </p:sp>
      <p:sp>
        <p:nvSpPr>
          <p:cNvPr id="15" name="Diamond 14"/>
          <p:cNvSpPr/>
          <p:nvPr/>
        </p:nvSpPr>
        <p:spPr>
          <a:xfrm>
            <a:off x="6492240" y="2167128"/>
            <a:ext cx="201168" cy="201168"/>
          </a:xfrm>
          <a:prstGeom prst="diamond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93992" y="205740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实验验证：注入5条恶意文本即可在黑盒/白盒场景下实现超90%攻击成功率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492240" y="3035808"/>
            <a:ext cx="201168" cy="201168"/>
          </a:xfrm>
          <a:prstGeom prst="rightArrow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3992" y="292608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双条件有效性：恶意文本F1分数&gt;90%（检索相关），子串匹配与人工评估一致（生成诱导有效）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3904488"/>
            <a:ext cx="201168" cy="201168"/>
          </a:xfrm>
          <a:prstGeom prst="ellipse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93992" y="379476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鲁棒性：对Self-RAG/CRAG等先进RAG变体、21M+文本的真实知识库均有效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5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3F8FF"/>
                </a:solidFill>
              </a:defRPr>
            </a:pPr>
            <a:r>
              <a:t>PoisonedRAG攻击效果关键实验结果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5212080"/>
          </a:xfrm>
          <a:prstGeom prst="roundRect">
            <a:avLst/>
          </a:prstGeom>
          <a:solidFill>
            <a:srgbClr val="F8FCFF"/>
          </a:solidFill>
          <a:ln w="15240">
            <a:solidFill>
              <a:srgbClr val="C2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521208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C2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2534"/>
                </a:solidFill>
              </a:defRPr>
            </a:pPr>
            <a:r>
              <a:t>主要风险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2534"/>
                </a:solidFill>
              </a:defRPr>
            </a:pPr>
            <a:r>
              <a:t>应对措施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167128"/>
            <a:ext cx="201168" cy="201168"/>
          </a:xfrm>
          <a:prstGeom prst="rect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205740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黑盒/白盒场景下，PoisonedRAG在多数据集与LLM上均实现高攻击成功率</a:t>
            </a:r>
          </a:p>
        </p:txBody>
      </p:sp>
      <p:sp>
        <p:nvSpPr>
          <p:cNvPr id="11" name="Diamond 10"/>
          <p:cNvSpPr/>
          <p:nvPr/>
        </p:nvSpPr>
        <p:spPr>
          <a:xfrm>
            <a:off x="1005840" y="3035808"/>
            <a:ext cx="201168" cy="201168"/>
          </a:xfrm>
          <a:prstGeom prst="diamond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07592" y="292608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恶意文本F1分数超90%（易被目标问题检索），且攻击对文本长度V值不敏感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05840" y="3904488"/>
            <a:ext cx="201168" cy="201168"/>
          </a:xfrm>
          <a:prstGeom prst="rightArrow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7592" y="379476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现有防御机制（释义、重复过滤、困惑度检测）难以有效抵御攻击</a:t>
            </a:r>
          </a:p>
        </p:txBody>
      </p:sp>
      <p:sp>
        <p:nvSpPr>
          <p:cNvPr id="15" name="Diamond 14"/>
          <p:cNvSpPr/>
          <p:nvPr/>
        </p:nvSpPr>
        <p:spPr>
          <a:xfrm>
            <a:off x="6492240" y="2167128"/>
            <a:ext cx="201168" cy="201168"/>
          </a:xfrm>
          <a:prstGeom prst="diamond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93992" y="205740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黑盒/白盒场景攻击成功率均超90%（覆盖NQ、HotpotQA、MS-MARCO数据集）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492240" y="3035808"/>
            <a:ext cx="201168" cy="201168"/>
          </a:xfrm>
          <a:prstGeom prst="rightArrow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3992" y="292608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恶意文本F1分数近90%，K&gt;N时召回率接近1（几乎所有恶意文本被检索）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3904488"/>
            <a:ext cx="201168" cy="201168"/>
          </a:xfrm>
          <a:prstGeom prst="ellipse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93992" y="379476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释义防御后攻击成功率仍超85%；重复过滤、困惑度检测无显著防御效果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5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3F8FF"/>
                </a:solidFill>
              </a:defRPr>
            </a:pPr>
            <a:r>
              <a:t>超参数与场景变量对PoisonedRAG攻击性能的关键影响评估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8FCFF"/>
          </a:solidFill>
          <a:ln w="15240">
            <a:solidFill>
              <a:srgbClr val="C2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核心超参数（k/N、V）与场景变量（黑盒/白盒）显著影响攻击效果：k≤N时成功率高，V值不敏感，白盒场景整体更优但黑盒也有例外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PoisonedRAG攻击具有强稳定性：在不同检索器、相似度指标及Self-RAG等先进RAG方案下均保持有效</a:t>
            </a:r>
          </a:p>
        </p:txBody>
      </p:sp>
      <p:sp>
        <p:nvSpPr>
          <p:cNvPr id="10" name="Diamond 9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现有防御机制抵御效果有限：释义、重复过滤、困惑度检测等手段难以显著降低攻击成功率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5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3F8FF"/>
                </a:solidFill>
              </a:defRPr>
            </a:pPr>
            <a:r>
              <a:t>主流防御机制对PoisonedRAG攻击的抵御能力验证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5212080"/>
          </a:xfrm>
          <a:prstGeom prst="roundRect">
            <a:avLst/>
          </a:prstGeom>
          <a:solidFill>
            <a:srgbClr val="F8FCFF"/>
          </a:solidFill>
          <a:ln w="15240">
            <a:solidFill>
              <a:srgbClr val="C2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521208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C2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2534"/>
                </a:solidFill>
              </a:defRPr>
            </a:pPr>
            <a:r>
              <a:t>主要风险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2534"/>
                </a:solidFill>
              </a:defRPr>
            </a:pPr>
            <a:r>
              <a:t>应对措施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167128"/>
            <a:ext cx="201168" cy="201168"/>
          </a:xfrm>
          <a:prstGeom prst="rect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205740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释义防御：对目标问题释义后，PoisonedRAG仍维持高攻击成功率与F1分数，防御失效</a:t>
            </a:r>
          </a:p>
        </p:txBody>
      </p:sp>
      <p:sp>
        <p:nvSpPr>
          <p:cNvPr id="11" name="Diamond 10"/>
          <p:cNvSpPr/>
          <p:nvPr/>
        </p:nvSpPr>
        <p:spPr>
          <a:xfrm>
            <a:off x="1005840" y="3035808"/>
            <a:ext cx="201168" cy="201168"/>
          </a:xfrm>
          <a:prstGeom prst="diamond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07592" y="292608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重复文本过滤：因恶意文本子部分I具有多样性，过滤后攻击成功率无变化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05840" y="3904488"/>
            <a:ext cx="201168" cy="201168"/>
          </a:xfrm>
          <a:prstGeom prst="rightArrow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7592" y="379476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知识扩展：增加检索文本数量（如k=50），攻击成功率仍达40%+，防御效果有限</a:t>
            </a:r>
          </a:p>
        </p:txBody>
      </p:sp>
      <p:sp>
        <p:nvSpPr>
          <p:cNvPr id="15" name="Diamond 14"/>
          <p:cNvSpPr/>
          <p:nvPr/>
        </p:nvSpPr>
        <p:spPr>
          <a:xfrm>
            <a:off x="6492240" y="2167128"/>
            <a:ext cx="201168" cy="201168"/>
          </a:xfrm>
          <a:prstGeom prst="diamond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93992" y="205740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释义防御后攻击成功率保持高位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492240" y="3035808"/>
            <a:ext cx="201168" cy="201168"/>
          </a:xfrm>
          <a:prstGeom prst="rightArrow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3992" y="292608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重复过滤未降低攻击效果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3904488"/>
            <a:ext cx="201168" cy="201168"/>
          </a:xfrm>
          <a:prstGeom prst="ellipse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93992" y="379476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k=50时攻击成功率超40%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5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3F8FF"/>
                </a:solidFill>
              </a:defRPr>
            </a:pPr>
            <a:r>
              <a:t>PoisonedRAG攻击：优势、局限性与未来研究方向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8FCFF"/>
          </a:solidFill>
          <a:ln w="15240">
            <a:solidFill>
              <a:srgbClr val="C2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**优势**：首个针对RAG的知识投毒攻击，填补领域空白；黑盒/白盒场景下均实现高攻击成功率；计算效率高（构造恶意文本平均仅需约2次查询）；隐蔽性强（恶意文本困惑度与干净...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**局限性**：当检索k值大于注入恶意文本数量N时，攻击成功率下降；部分场景下白盒攻击效果略低于黑盒（可能因对抗方法影响语义）；依赖RAG知识库的准入漏洞</a:t>
            </a:r>
          </a:p>
        </p:txBody>
      </p:sp>
      <p:sp>
        <p:nvSpPr>
          <p:cNvPr id="10" name="Diamond 9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**未来方向**：研发针对RAG知识库投毒的专用防御机制；探索跨不同RAG架构（如Self-RAG、CRAG）的攻击与防御策略；优化大规模真实场景下的攻击隐蔽性与防御效率平衡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5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3F8FF"/>
                </a:solidFill>
              </a:defRPr>
            </a:pPr>
            <a:r>
              <a:t>RAG系统安全防护：结论与管理实践建议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8FCFF"/>
          </a:solidFill>
          <a:ln w="15240">
            <a:solidFill>
              <a:srgbClr val="C2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RAG系统存在显著知识库安全漏洞，PoisonedRAG作为首个知识投毒攻击在多场景下（黑盒/白盒、先进方案、真实大型知识库）均实现高攻击成功率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传统防御机制（释义、重复过滤、困惑度检测、知识扩展）对PoisonedRAG效果有限，因恶意文本语义相关、质量高且多样性强</a:t>
            </a:r>
          </a:p>
        </p:txBody>
      </p:sp>
      <p:sp>
        <p:nvSpPr>
          <p:cNvPr id="10" name="Diamond 9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1E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64C62"/>
                </a:solidFill>
              </a:defRPr>
            </a:pPr>
            <a:r>
              <a:t>需针对性构建RAG安全防护体系：知识库准入审核、动态监控更新、检索上下文验证、对抗训练增强鲁棒性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